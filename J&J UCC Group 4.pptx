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oboto Thin"/>
      <p:regular r:id="rId40"/>
      <p:bold r:id="rId41"/>
      <p:italic r:id="rId42"/>
      <p:boldItalic r:id="rId43"/>
    </p:embeddedFont>
    <p:embeddedFont>
      <p:font typeface="Roboto"/>
      <p:regular r:id="rId44"/>
      <p:bold r:id="rId45"/>
      <p:italic r:id="rId46"/>
      <p:boldItalic r:id="rId47"/>
    </p:embeddedFont>
    <p:embeddedFont>
      <p:font typeface="Roboto Medium"/>
      <p:regular r:id="rId48"/>
      <p:bold r:id="rId49"/>
      <p:italic r:id="rId50"/>
      <p:boldItalic r:id="rId51"/>
    </p:embeddedFont>
    <p:embeddedFont>
      <p:font typeface="Source Code Pro"/>
      <p:regular r:id="rId52"/>
      <p:bold r:id="rId53"/>
      <p:italic r:id="rId54"/>
      <p:boldItalic r:id="rId55"/>
    </p:embeddedFont>
    <p:embeddedFont>
      <p:font typeface="Oswald"/>
      <p:regular r:id="rId56"/>
      <p:bold r:id="rId57"/>
    </p:embeddedFont>
    <p:embeddedFont>
      <p:font typeface="Open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47FC1A-E3AF-48AA-BB5C-ED35490BC3F3}">
  <a:tblStyle styleId="{8647FC1A-E3AF-48AA-BB5C-ED35490BC3F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Thin-regular.fntdata"/><Relationship Id="rId42" Type="http://schemas.openxmlformats.org/officeDocument/2006/relationships/font" Target="fonts/RobotoThin-italic.fntdata"/><Relationship Id="rId41" Type="http://schemas.openxmlformats.org/officeDocument/2006/relationships/font" Target="fonts/RobotoThin-bold.fntdata"/><Relationship Id="rId44" Type="http://schemas.openxmlformats.org/officeDocument/2006/relationships/font" Target="fonts/Roboto-regular.fntdata"/><Relationship Id="rId43" Type="http://schemas.openxmlformats.org/officeDocument/2006/relationships/font" Target="fonts/RobotoThin-boldItalic.fntdata"/><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Medium-regular.fntdata"/><Relationship Id="rId47" Type="http://schemas.openxmlformats.org/officeDocument/2006/relationships/font" Target="fonts/Roboto-boldItalic.fntdata"/><Relationship Id="rId49" Type="http://schemas.openxmlformats.org/officeDocument/2006/relationships/font" Target="fonts/Roboto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schemas.openxmlformats.org/officeDocument/2006/relationships/font" Target="fonts/Open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OpenSans-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edium-boldItalic.fntdata"/><Relationship Id="rId50" Type="http://schemas.openxmlformats.org/officeDocument/2006/relationships/font" Target="fonts/RobotoMedium-italic.fntdata"/><Relationship Id="rId53" Type="http://schemas.openxmlformats.org/officeDocument/2006/relationships/font" Target="fonts/SourceCodePro-bold.fntdata"/><Relationship Id="rId52" Type="http://schemas.openxmlformats.org/officeDocument/2006/relationships/font" Target="fonts/SourceCodePro-regular.fntdata"/><Relationship Id="rId11" Type="http://schemas.openxmlformats.org/officeDocument/2006/relationships/slide" Target="slides/slide5.xml"/><Relationship Id="rId55" Type="http://schemas.openxmlformats.org/officeDocument/2006/relationships/font" Target="fonts/SourceCodePro-boldItalic.fntdata"/><Relationship Id="rId10" Type="http://schemas.openxmlformats.org/officeDocument/2006/relationships/slide" Target="slides/slide4.xml"/><Relationship Id="rId54" Type="http://schemas.openxmlformats.org/officeDocument/2006/relationships/font" Target="fonts/SourceCodePro-italic.fntdata"/><Relationship Id="rId13" Type="http://schemas.openxmlformats.org/officeDocument/2006/relationships/slide" Target="slides/slide7.xml"/><Relationship Id="rId57" Type="http://schemas.openxmlformats.org/officeDocument/2006/relationships/font" Target="fonts/Oswald-bold.fntdata"/><Relationship Id="rId12" Type="http://schemas.openxmlformats.org/officeDocument/2006/relationships/slide" Target="slides/slide6.xml"/><Relationship Id="rId56" Type="http://schemas.openxmlformats.org/officeDocument/2006/relationships/font" Target="fonts/Oswald-regular.fntdata"/><Relationship Id="rId15" Type="http://schemas.openxmlformats.org/officeDocument/2006/relationships/slide" Target="slides/slide9.xml"/><Relationship Id="rId59" Type="http://schemas.openxmlformats.org/officeDocument/2006/relationships/font" Target="fonts/OpenSans-bold.fntdata"/><Relationship Id="rId14" Type="http://schemas.openxmlformats.org/officeDocument/2006/relationships/slide" Target="slides/slide8.xml"/><Relationship Id="rId58" Type="http://schemas.openxmlformats.org/officeDocument/2006/relationships/font" Target="fonts/OpenSans-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96ebe53a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96ebe53a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6ebe53a3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96ebe53a3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6ebe53a3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96ebe53a3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70d1b9aa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70d1b9aa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70d1b9aa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70d1b9aa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9616f1375c9aed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9616f1375c9aed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9616f1375c9aed6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9616f1375c9aed6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9616f1375c9aed6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9616f1375c9aed6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6df71df82_5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96df71df82_5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970d9f484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970d9f484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970d9f4844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970d9f4844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970d9f4844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970d9f4844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970d9f4844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970d9f4844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970d9f4844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970d9f4844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970d9f4844_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970d9f4844_2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970d9f4844_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970d9f4844_2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4d07db86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d4d07db86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6f97eae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96f97eae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96f97eae4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96f97eae4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96f97eae4a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96f97eae4a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970d1b9a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970d1b9a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96df71df82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96df71df82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96df71df82_6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96df71df82_6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NPV &gt; 0 then we should accept!</a:t>
            </a:r>
            <a:endParaRPr/>
          </a:p>
          <a:p>
            <a:pPr indent="0" lvl="0" marL="0" rtl="0" algn="l">
              <a:spcBef>
                <a:spcPts val="0"/>
              </a:spcBef>
              <a:spcAft>
                <a:spcPts val="0"/>
              </a:spcAft>
              <a:buNone/>
            </a:pPr>
            <a:r>
              <a:rPr lang="en"/>
              <a:t>Medium Price: NTS Yearly average: $10,541,449, Gross Profit Yearly average: $8,016,280</a:t>
            </a:r>
            <a:endParaRPr/>
          </a:p>
          <a:p>
            <a:pPr indent="0" lvl="0" marL="0" rtl="0" algn="l">
              <a:spcBef>
                <a:spcPts val="0"/>
              </a:spcBef>
              <a:spcAft>
                <a:spcPts val="0"/>
              </a:spcAft>
              <a:buClr>
                <a:schemeClr val="dk1"/>
              </a:buClr>
              <a:buSzPts val="1100"/>
              <a:buFont typeface="Arial"/>
              <a:buNone/>
            </a:pPr>
            <a:r>
              <a:rPr lang="en">
                <a:solidFill>
                  <a:schemeClr val="dk1"/>
                </a:solidFill>
              </a:rPr>
              <a:t>High</a:t>
            </a:r>
            <a:r>
              <a:rPr lang="en">
                <a:solidFill>
                  <a:schemeClr val="dk1"/>
                </a:solidFill>
              </a:rPr>
              <a:t> Price: NTS Yearly average: $10,834,050, Gross Profit Yearly average: $7,901,642</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96df71df82_6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96df71df82_6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NPV &gt; 0 then we should accept!</a:t>
            </a:r>
            <a:endParaRPr/>
          </a:p>
          <a:p>
            <a:pPr indent="0" lvl="0" marL="0" rtl="0" algn="l">
              <a:spcBef>
                <a:spcPts val="0"/>
              </a:spcBef>
              <a:spcAft>
                <a:spcPts val="0"/>
              </a:spcAft>
              <a:buNone/>
            </a:pPr>
            <a:r>
              <a:rPr lang="en"/>
              <a:t>Medium Price: NTS Yearly average: $10,541,449, Gross Profit Yearly average: $8,016,280</a:t>
            </a:r>
            <a:endParaRPr/>
          </a:p>
          <a:p>
            <a:pPr indent="0" lvl="0" marL="0" rtl="0" algn="l">
              <a:spcBef>
                <a:spcPts val="0"/>
              </a:spcBef>
              <a:spcAft>
                <a:spcPts val="0"/>
              </a:spcAft>
              <a:buNone/>
            </a:pPr>
            <a:r>
              <a:rPr lang="en">
                <a:solidFill>
                  <a:schemeClr val="dk1"/>
                </a:solidFill>
              </a:rPr>
              <a:t>High Price: NTS Yearly average: $10,834,050, Gross Profit Yearly average: $7,901,642</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96df71df82_5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96df71df82_5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NPV &gt; 0 then we </a:t>
            </a:r>
            <a:r>
              <a:rPr lang="en"/>
              <a:t>should</a:t>
            </a:r>
            <a:r>
              <a:rPr lang="en"/>
              <a:t> accept!</a:t>
            </a:r>
            <a:endParaRPr/>
          </a:p>
          <a:p>
            <a:pPr indent="0" lvl="0" marL="0" rtl="0" algn="l">
              <a:spcBef>
                <a:spcPts val="0"/>
              </a:spcBef>
              <a:spcAft>
                <a:spcPts val="0"/>
              </a:spcAft>
              <a:buNone/>
            </a:pPr>
            <a:r>
              <a:rPr lang="en"/>
              <a:t>Low Price: NTS Yearly average: $10,426,811, Gross Profit Yearly average: $7,901,642</a:t>
            </a:r>
            <a:endParaRPr/>
          </a:p>
          <a:p>
            <a:pPr indent="0" lvl="0" marL="0" rtl="0" algn="l">
              <a:spcBef>
                <a:spcPts val="0"/>
              </a:spcBef>
              <a:spcAft>
                <a:spcPts val="0"/>
              </a:spcAft>
              <a:buNone/>
            </a:pPr>
            <a:r>
              <a:rPr lang="en"/>
              <a:t>Medium Price: NTS </a:t>
            </a:r>
            <a:r>
              <a:rPr lang="en"/>
              <a:t>Yearly average: $10,541,449, Gross Profit Yearly average: $8,016,280</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86e17145d3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86e17145d3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96e0a2d9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96e0a2d9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NPV &gt; 0 then we should accept!</a:t>
            </a:r>
            <a:endParaRPr>
              <a:solidFill>
                <a:schemeClr val="dk1"/>
              </a:solidFill>
            </a:endParaRPr>
          </a:p>
          <a:p>
            <a:pPr indent="0" lvl="0" marL="0" rtl="0" algn="l">
              <a:spcBef>
                <a:spcPts val="0"/>
              </a:spcBef>
              <a:spcAft>
                <a:spcPts val="0"/>
              </a:spcAft>
              <a:buNone/>
            </a:pPr>
            <a:r>
              <a:rPr lang="en">
                <a:solidFill>
                  <a:schemeClr val="dk1"/>
                </a:solidFill>
              </a:rPr>
              <a:t>Bronze Marketing: NTS Yearly Average: $10,187,668, Gross Profit Yearly Average: $7,662,498</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Silver Marketing: NTS Yearly Average: $10,441,067, Gross Profit Yearly Average: $7,915,898</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96e0a2d90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96e0a2d90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NPV &gt; 0 then we should accept!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Bronze Marketing: NTS Yearly Average: $10,187,668, Gross Profit Yearly Average: $7,662,498</a:t>
            </a:r>
            <a:endParaRPr>
              <a:solidFill>
                <a:schemeClr val="dk1"/>
              </a:solidFill>
            </a:endParaRPr>
          </a:p>
          <a:p>
            <a:pPr indent="0" lvl="0" marL="0" rtl="0" algn="l">
              <a:spcBef>
                <a:spcPts val="0"/>
              </a:spcBef>
              <a:spcAft>
                <a:spcPts val="0"/>
              </a:spcAft>
              <a:buNone/>
            </a:pPr>
            <a:r>
              <a:rPr lang="en"/>
              <a:t>Gold Marketing: NTS Yearly Average: $10,541,449, Gross Profit Yearly Average: $8,016,280</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96e0a2d90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96e0a2d90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NPV &gt; 0 then we should accept!</a:t>
            </a:r>
            <a:endParaRPr>
              <a:solidFill>
                <a:schemeClr val="dk1"/>
              </a:solidFill>
            </a:endParaRPr>
          </a:p>
          <a:p>
            <a:pPr indent="0" lvl="0" marL="0" rtl="0" algn="l">
              <a:spcBef>
                <a:spcPts val="0"/>
              </a:spcBef>
              <a:spcAft>
                <a:spcPts val="0"/>
              </a:spcAft>
              <a:buNone/>
            </a:pPr>
            <a:r>
              <a:rPr lang="en">
                <a:solidFill>
                  <a:schemeClr val="dk1"/>
                </a:solidFill>
              </a:rPr>
              <a:t>Silver Marketing: NTS Yearly Average: $10,441,067, Gross Profit Yearly Average: $7,915,898</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Gold Marketing: NTS Yearly Average: $10,541,449, Gross Profit Yearly Average: $8,016,280</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96ebe53a3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96ebe53a3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96fd20ea90_0_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96fd20ea90_0_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96fe6734f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96fe6734f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rgbClr val="D71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rgbClr val="D71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rgbClr val="D71600"/>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8" name="Shape 58"/>
        <p:cNvGrpSpPr/>
        <p:nvPr/>
      </p:nvGrpSpPr>
      <p:grpSpPr>
        <a:xfrm>
          <a:off x="0" y="0"/>
          <a:ext cx="0" cy="0"/>
          <a:chOff x="0" y="0"/>
          <a:chExt cx="0" cy="0"/>
        </a:xfrm>
      </p:grpSpPr>
      <p:sp>
        <p:nvSpPr>
          <p:cNvPr id="59" name="Google Shape;59;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0" name="Google Shape;60;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1" name="Google Shape;6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14"/>
          <p:cNvSpPr/>
          <p:nvPr/>
        </p:nvSpPr>
        <p:spPr>
          <a:xfrm rot="-6777793">
            <a:off x="-500388" y="3908257"/>
            <a:ext cx="1936996" cy="1936996"/>
          </a:xfrm>
          <a:prstGeom prst="ellipse">
            <a:avLst/>
          </a:prstGeom>
          <a:gradFill>
            <a:gsLst>
              <a:gs pos="0">
                <a:schemeClr val="accent2">
                  <a:alpha val="20540"/>
                </a:schemeClr>
              </a:gs>
              <a:gs pos="100000">
                <a:srgbClr val="737373">
                  <a:alpha val="0"/>
                  <a:alpha val="2054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txBox="1"/>
          <p:nvPr>
            <p:ph type="title"/>
          </p:nvPr>
        </p:nvSpPr>
        <p:spPr>
          <a:xfrm>
            <a:off x="713075" y="539400"/>
            <a:ext cx="7717800" cy="572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5" name="Google Shape;65;p14"/>
          <p:cNvSpPr txBox="1"/>
          <p:nvPr>
            <p:ph idx="1" type="body"/>
          </p:nvPr>
        </p:nvSpPr>
        <p:spPr>
          <a:xfrm>
            <a:off x="713075" y="1161000"/>
            <a:ext cx="7717800" cy="3443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rgbClr val="434343"/>
              </a:buClr>
              <a:buSzPts val="1200"/>
              <a:buAutoNum type="arabicPeriod"/>
              <a:defRPr sz="1100"/>
            </a:lvl1pPr>
            <a:lvl2pPr indent="-304800" lvl="1" marL="914400">
              <a:spcBef>
                <a:spcPts val="0"/>
              </a:spcBef>
              <a:spcAft>
                <a:spcPts val="0"/>
              </a:spcAft>
              <a:buClr>
                <a:srgbClr val="434343"/>
              </a:buClr>
              <a:buSzPts val="1200"/>
              <a:buFont typeface="Roboto Condensed Light"/>
              <a:buAutoNum type="alphaLcPeriod"/>
              <a:defRPr/>
            </a:lvl2pPr>
            <a:lvl3pPr indent="-304800" lvl="2" marL="1371600">
              <a:spcBef>
                <a:spcPts val="0"/>
              </a:spcBef>
              <a:spcAft>
                <a:spcPts val="0"/>
              </a:spcAft>
              <a:buClr>
                <a:srgbClr val="434343"/>
              </a:buClr>
              <a:buSzPts val="1200"/>
              <a:buFont typeface="Roboto Condensed Light"/>
              <a:buAutoNum type="romanLcPeriod"/>
              <a:defRPr/>
            </a:lvl3pPr>
            <a:lvl4pPr indent="-304800" lvl="3" marL="1828800">
              <a:spcBef>
                <a:spcPts val="0"/>
              </a:spcBef>
              <a:spcAft>
                <a:spcPts val="0"/>
              </a:spcAft>
              <a:buClr>
                <a:srgbClr val="434343"/>
              </a:buClr>
              <a:buSzPts val="1200"/>
              <a:buFont typeface="Roboto Condensed Light"/>
              <a:buAutoNum type="arabicPeriod"/>
              <a:defRPr/>
            </a:lvl4pPr>
            <a:lvl5pPr indent="-304800" lvl="4" marL="2286000">
              <a:spcBef>
                <a:spcPts val="0"/>
              </a:spcBef>
              <a:spcAft>
                <a:spcPts val="0"/>
              </a:spcAft>
              <a:buClr>
                <a:srgbClr val="434343"/>
              </a:buClr>
              <a:buSzPts val="1200"/>
              <a:buFont typeface="Roboto Condensed Light"/>
              <a:buAutoNum type="alphaLcPeriod"/>
              <a:defRPr/>
            </a:lvl5pPr>
            <a:lvl6pPr indent="-304800" lvl="5" marL="2743200">
              <a:spcBef>
                <a:spcPts val="0"/>
              </a:spcBef>
              <a:spcAft>
                <a:spcPts val="0"/>
              </a:spcAft>
              <a:buClr>
                <a:srgbClr val="434343"/>
              </a:buClr>
              <a:buSzPts val="1200"/>
              <a:buFont typeface="Roboto Condensed Light"/>
              <a:buAutoNum type="romanLcPeriod"/>
              <a:defRPr/>
            </a:lvl6pPr>
            <a:lvl7pPr indent="-304800" lvl="6" marL="3200400">
              <a:spcBef>
                <a:spcPts val="0"/>
              </a:spcBef>
              <a:spcAft>
                <a:spcPts val="0"/>
              </a:spcAft>
              <a:buClr>
                <a:srgbClr val="434343"/>
              </a:buClr>
              <a:buSzPts val="1200"/>
              <a:buFont typeface="Roboto Condensed Light"/>
              <a:buAutoNum type="arabicPeriod"/>
              <a:defRPr/>
            </a:lvl7pPr>
            <a:lvl8pPr indent="-304800" lvl="7" marL="3657600">
              <a:spcBef>
                <a:spcPts val="0"/>
              </a:spcBef>
              <a:spcAft>
                <a:spcPts val="0"/>
              </a:spcAft>
              <a:buClr>
                <a:srgbClr val="434343"/>
              </a:buClr>
              <a:buSzPts val="1200"/>
              <a:buFont typeface="Roboto Condensed Light"/>
              <a:buAutoNum type="alphaLcPeriod"/>
              <a:defRPr/>
            </a:lvl8pPr>
            <a:lvl9pPr indent="-304800" lvl="8" marL="4114800">
              <a:spcBef>
                <a:spcPts val="0"/>
              </a:spcBef>
              <a:spcAft>
                <a:spcPts val="0"/>
              </a:spcAft>
              <a:buClr>
                <a:srgbClr val="434343"/>
              </a:buClr>
              <a:buSzPts val="1200"/>
              <a:buFont typeface="Roboto Condensed Light"/>
              <a:buAutoNum type="romanLcPeriod"/>
              <a:defRPr/>
            </a:lvl9pPr>
          </a:lstStyle>
          <a:p/>
        </p:txBody>
      </p:sp>
      <p:sp>
        <p:nvSpPr>
          <p:cNvPr id="66" name="Google Shape;66;p14"/>
          <p:cNvSpPr txBox="1"/>
          <p:nvPr>
            <p:ph idx="12" type="sldNum"/>
          </p:nvPr>
        </p:nvSpPr>
        <p:spPr>
          <a:xfrm>
            <a:off x="713075" y="4623852"/>
            <a:ext cx="548700" cy="307500"/>
          </a:xfrm>
          <a:prstGeom prst="rect">
            <a:avLst/>
          </a:prstGeom>
        </p:spPr>
        <p:txBody>
          <a:bodyPr anchorCtr="0" anchor="ctr" bIns="91425" lIns="91425" spcFirstLastPara="1" rIns="91425" wrap="square" tIns="91425">
            <a:normAutofit lnSpcReduction="20000"/>
          </a:bodyPr>
          <a:lstStyle>
            <a:lvl1pPr lvl="0">
              <a:buNone/>
              <a:defRPr b="0"/>
            </a:lvl1pPr>
            <a:lvl2pPr lvl="1">
              <a:buNone/>
              <a:defRPr b="0"/>
            </a:lvl2pPr>
            <a:lvl3pPr lvl="2">
              <a:buNone/>
              <a:defRPr b="0"/>
            </a:lvl3pPr>
            <a:lvl4pPr lvl="3">
              <a:buNone/>
              <a:defRPr b="0"/>
            </a:lvl4pPr>
            <a:lvl5pPr lvl="4">
              <a:buNone/>
              <a:defRPr b="0"/>
            </a:lvl5pPr>
            <a:lvl6pPr lvl="5">
              <a:buNone/>
              <a:defRPr b="0"/>
            </a:lvl6pPr>
            <a:lvl7pPr lvl="6">
              <a:buNone/>
              <a:defRPr b="0"/>
            </a:lvl7pPr>
            <a:lvl8pPr lvl="7">
              <a:buNone/>
              <a:defRPr b="0"/>
            </a:lvl8pPr>
            <a:lvl9pPr lvl="8">
              <a:buNone/>
              <a:defRPr b="0"/>
            </a:lvl9pPr>
          </a:lstStyle>
          <a:p>
            <a:pPr indent="0" lvl="0" marL="0" rtl="0" algn="r">
              <a:spcBef>
                <a:spcPts val="0"/>
              </a:spcBef>
              <a:spcAft>
                <a:spcPts val="0"/>
              </a:spcAft>
              <a:buNone/>
            </a:pPr>
            <a:fld id="{00000000-1234-1234-1234-123412341234}" type="slidenum">
              <a:rPr lang="en"/>
              <a:t>‹#›</a:t>
            </a:fld>
            <a:endParaRPr/>
          </a:p>
        </p:txBody>
      </p:sp>
      <p:sp>
        <p:nvSpPr>
          <p:cNvPr id="67" name="Google Shape;67;p14"/>
          <p:cNvSpPr txBox="1"/>
          <p:nvPr>
            <p:ph idx="2" type="subTitle"/>
          </p:nvPr>
        </p:nvSpPr>
        <p:spPr>
          <a:xfrm>
            <a:off x="3331775" y="4623854"/>
            <a:ext cx="2480400" cy="3075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1000"/>
              <a:buNone/>
              <a:defRPr sz="1000"/>
            </a:lvl1pPr>
            <a:lvl2pPr lvl="1" algn="ctr">
              <a:lnSpc>
                <a:spcPct val="100000"/>
              </a:lnSpc>
              <a:spcBef>
                <a:spcPts val="0"/>
              </a:spcBef>
              <a:spcAft>
                <a:spcPts val="0"/>
              </a:spcAft>
              <a:buSzPts val="1000"/>
              <a:buNone/>
              <a:defRPr sz="1000"/>
            </a:lvl2pPr>
            <a:lvl3pPr lvl="2" algn="ctr">
              <a:lnSpc>
                <a:spcPct val="100000"/>
              </a:lnSpc>
              <a:spcBef>
                <a:spcPts val="0"/>
              </a:spcBef>
              <a:spcAft>
                <a:spcPts val="0"/>
              </a:spcAft>
              <a:buSzPts val="1000"/>
              <a:buNone/>
              <a:defRPr sz="1000"/>
            </a:lvl3pPr>
            <a:lvl4pPr lvl="3" algn="ctr">
              <a:lnSpc>
                <a:spcPct val="100000"/>
              </a:lnSpc>
              <a:spcBef>
                <a:spcPts val="0"/>
              </a:spcBef>
              <a:spcAft>
                <a:spcPts val="0"/>
              </a:spcAft>
              <a:buSzPts val="1000"/>
              <a:buNone/>
              <a:defRPr sz="1000"/>
            </a:lvl4pPr>
            <a:lvl5pPr lvl="4" algn="ctr">
              <a:lnSpc>
                <a:spcPct val="100000"/>
              </a:lnSpc>
              <a:spcBef>
                <a:spcPts val="0"/>
              </a:spcBef>
              <a:spcAft>
                <a:spcPts val="0"/>
              </a:spcAft>
              <a:buSzPts val="1000"/>
              <a:buNone/>
              <a:defRPr sz="1000"/>
            </a:lvl5pPr>
            <a:lvl6pPr lvl="5" algn="ctr">
              <a:lnSpc>
                <a:spcPct val="100000"/>
              </a:lnSpc>
              <a:spcBef>
                <a:spcPts val="0"/>
              </a:spcBef>
              <a:spcAft>
                <a:spcPts val="0"/>
              </a:spcAft>
              <a:buSzPts val="1000"/>
              <a:buNone/>
              <a:defRPr sz="1000"/>
            </a:lvl6pPr>
            <a:lvl7pPr lvl="6" algn="ctr">
              <a:lnSpc>
                <a:spcPct val="100000"/>
              </a:lnSpc>
              <a:spcBef>
                <a:spcPts val="0"/>
              </a:spcBef>
              <a:spcAft>
                <a:spcPts val="0"/>
              </a:spcAft>
              <a:buSzPts val="1000"/>
              <a:buNone/>
              <a:defRPr sz="1000"/>
            </a:lvl7pPr>
            <a:lvl8pPr lvl="7" algn="ctr">
              <a:lnSpc>
                <a:spcPct val="100000"/>
              </a:lnSpc>
              <a:spcBef>
                <a:spcPts val="0"/>
              </a:spcBef>
              <a:spcAft>
                <a:spcPts val="0"/>
              </a:spcAft>
              <a:buSzPts val="1000"/>
              <a:buNone/>
              <a:defRPr sz="1000"/>
            </a:lvl8pPr>
            <a:lvl9pPr lvl="8" algn="ctr">
              <a:lnSpc>
                <a:spcPct val="100000"/>
              </a:lnSpc>
              <a:spcBef>
                <a:spcPts val="0"/>
              </a:spcBef>
              <a:spcAft>
                <a:spcPts val="0"/>
              </a:spcAft>
              <a:buSzPts val="1000"/>
              <a:buNone/>
              <a:defRPr sz="1000"/>
            </a:lvl9pPr>
          </a:lstStyle>
          <a:p/>
        </p:txBody>
      </p:sp>
      <p:sp>
        <p:nvSpPr>
          <p:cNvPr id="68" name="Google Shape;68;p14"/>
          <p:cNvSpPr txBox="1"/>
          <p:nvPr>
            <p:ph idx="3" type="subTitle"/>
          </p:nvPr>
        </p:nvSpPr>
        <p:spPr>
          <a:xfrm>
            <a:off x="7332925" y="4623854"/>
            <a:ext cx="1098000" cy="307500"/>
          </a:xfrm>
          <a:prstGeom prst="rect">
            <a:avLst/>
          </a:prstGeom>
        </p:spPr>
        <p:txBody>
          <a:bodyPr anchorCtr="0" anchor="ctr" bIns="91425" lIns="91425" spcFirstLastPara="1" rIns="91425" wrap="square" tIns="91425">
            <a:normAutofit/>
          </a:bodyPr>
          <a:lstStyle>
            <a:lvl1pPr lvl="0" algn="r">
              <a:lnSpc>
                <a:spcPct val="100000"/>
              </a:lnSpc>
              <a:spcBef>
                <a:spcPts val="0"/>
              </a:spcBef>
              <a:spcAft>
                <a:spcPts val="0"/>
              </a:spcAft>
              <a:buSzPts val="1000"/>
              <a:buNone/>
              <a:defRPr sz="1000"/>
            </a:lvl1pPr>
            <a:lvl2pPr lvl="1" algn="r">
              <a:lnSpc>
                <a:spcPct val="100000"/>
              </a:lnSpc>
              <a:spcBef>
                <a:spcPts val="0"/>
              </a:spcBef>
              <a:spcAft>
                <a:spcPts val="0"/>
              </a:spcAft>
              <a:buSzPts val="1000"/>
              <a:buNone/>
              <a:defRPr sz="1000"/>
            </a:lvl2pPr>
            <a:lvl3pPr lvl="2" algn="r">
              <a:lnSpc>
                <a:spcPct val="100000"/>
              </a:lnSpc>
              <a:spcBef>
                <a:spcPts val="0"/>
              </a:spcBef>
              <a:spcAft>
                <a:spcPts val="0"/>
              </a:spcAft>
              <a:buSzPts val="1000"/>
              <a:buNone/>
              <a:defRPr sz="1000"/>
            </a:lvl3pPr>
            <a:lvl4pPr lvl="3" algn="r">
              <a:lnSpc>
                <a:spcPct val="100000"/>
              </a:lnSpc>
              <a:spcBef>
                <a:spcPts val="0"/>
              </a:spcBef>
              <a:spcAft>
                <a:spcPts val="0"/>
              </a:spcAft>
              <a:buSzPts val="1000"/>
              <a:buNone/>
              <a:defRPr sz="1000"/>
            </a:lvl4pPr>
            <a:lvl5pPr lvl="4" algn="r">
              <a:lnSpc>
                <a:spcPct val="100000"/>
              </a:lnSpc>
              <a:spcBef>
                <a:spcPts val="0"/>
              </a:spcBef>
              <a:spcAft>
                <a:spcPts val="0"/>
              </a:spcAft>
              <a:buSzPts val="1000"/>
              <a:buNone/>
              <a:defRPr sz="1000"/>
            </a:lvl5pPr>
            <a:lvl6pPr lvl="5" algn="r">
              <a:lnSpc>
                <a:spcPct val="100000"/>
              </a:lnSpc>
              <a:spcBef>
                <a:spcPts val="0"/>
              </a:spcBef>
              <a:spcAft>
                <a:spcPts val="0"/>
              </a:spcAft>
              <a:buSzPts val="1000"/>
              <a:buNone/>
              <a:defRPr sz="1000"/>
            </a:lvl6pPr>
            <a:lvl7pPr lvl="6" algn="r">
              <a:lnSpc>
                <a:spcPct val="100000"/>
              </a:lnSpc>
              <a:spcBef>
                <a:spcPts val="0"/>
              </a:spcBef>
              <a:spcAft>
                <a:spcPts val="0"/>
              </a:spcAft>
              <a:buSzPts val="1000"/>
              <a:buNone/>
              <a:defRPr sz="1000"/>
            </a:lvl7pPr>
            <a:lvl8pPr lvl="7" algn="r">
              <a:lnSpc>
                <a:spcPct val="100000"/>
              </a:lnSpc>
              <a:spcBef>
                <a:spcPts val="0"/>
              </a:spcBef>
              <a:spcAft>
                <a:spcPts val="0"/>
              </a:spcAft>
              <a:buSzPts val="1000"/>
              <a:buNone/>
              <a:defRPr sz="1000"/>
            </a:lvl8pPr>
            <a:lvl9pPr lvl="8" algn="r">
              <a:lnSpc>
                <a:spcPct val="100000"/>
              </a:lnSpc>
              <a:spcBef>
                <a:spcPts val="0"/>
              </a:spcBef>
              <a:spcAft>
                <a:spcPts val="0"/>
              </a:spcAft>
              <a:buSzPts val="1000"/>
              <a:buNone/>
              <a:defRPr sz="1000"/>
            </a:lvl9pPr>
          </a:lstStyle>
          <a:p/>
        </p:txBody>
      </p:sp>
      <p:cxnSp>
        <p:nvCxnSpPr>
          <p:cNvPr id="69" name="Google Shape;69;p14"/>
          <p:cNvCxnSpPr/>
          <p:nvPr/>
        </p:nvCxnSpPr>
        <p:spPr>
          <a:xfrm>
            <a:off x="711850" y="4610125"/>
            <a:ext cx="77202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1" Type="http://schemas.openxmlformats.org/officeDocument/2006/relationships/hyperlink" Target="https://www.custommarketinsights.com/report/surgical-sutures-market/" TargetMode="External"/><Relationship Id="rId10" Type="http://schemas.openxmlformats.org/officeDocument/2006/relationships/hyperlink" Target="https://www.investopedia.com/terms/q/quality-control.asp" TargetMode="External"/><Relationship Id="rId13" Type="http://schemas.openxmlformats.org/officeDocument/2006/relationships/hyperlink" Target="https://www.grandviewresearch.com/industry-analysis/wound-closure-devices-market" TargetMode="External"/><Relationship Id="rId12" Type="http://schemas.openxmlformats.org/officeDocument/2006/relationships/hyperlink" Target="https://www.investopedia.com/terms/p/profitmargin.asp" TargetMode="External"/><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www.researchandmarkets.com/reports/6181721/surgical-suture-market-report-trends-forecast" TargetMode="External"/><Relationship Id="rId4" Type="http://schemas.openxmlformats.org/officeDocument/2006/relationships/hyperlink" Target="https://corporatefinanceinstitute.com/resources/management/first-mover-advantage/" TargetMode="External"/><Relationship Id="rId9" Type="http://schemas.openxmlformats.org/officeDocument/2006/relationships/hyperlink" Target="https://www.grandviewresearch.com/industry-analysis/wound-closure-devices-market" TargetMode="External"/><Relationship Id="rId5" Type="http://schemas.openxmlformats.org/officeDocument/2006/relationships/hyperlink" Target="https://www.transparencymarketresearch.com/surgical-sutures-market.html" TargetMode="External"/><Relationship Id="rId6" Type="http://schemas.openxmlformats.org/officeDocument/2006/relationships/hyperlink" Target="https://www.marketsandmarkets.com/Market-Reports/surgical-sutures-market-18374832.html" TargetMode="External"/><Relationship Id="rId7" Type="http://schemas.openxmlformats.org/officeDocument/2006/relationships/hyperlink" Target="https://my.clevelandclinic.org/health/treatments/17313-negative-pressure-wound-therapy" TargetMode="External"/><Relationship Id="rId8" Type="http://schemas.openxmlformats.org/officeDocument/2006/relationships/hyperlink" Target="https://www.custommarketinsights.com/report/surgical-sutures-marke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ctrTitle"/>
          </p:nvPr>
        </p:nvSpPr>
        <p:spPr>
          <a:xfrm>
            <a:off x="411175" y="644300"/>
            <a:ext cx="8282400" cy="2109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b="1" lang="en" sz="4200">
                <a:latin typeface="Roboto"/>
                <a:ea typeface="Roboto"/>
                <a:cs typeface="Roboto"/>
                <a:sym typeface="Roboto"/>
              </a:rPr>
              <a:t>Aegis &amp; Aegis </a:t>
            </a:r>
            <a:r>
              <a:rPr b="1" lang="en" sz="4200">
                <a:latin typeface="Roboto"/>
                <a:ea typeface="Roboto"/>
                <a:cs typeface="Roboto"/>
                <a:sym typeface="Roboto"/>
              </a:rPr>
              <a:t>Portfolio Optimization</a:t>
            </a:r>
            <a:r>
              <a:rPr b="1" lang="en" sz="4200">
                <a:latin typeface="Roboto"/>
                <a:ea typeface="Roboto"/>
                <a:cs typeface="Roboto"/>
                <a:sym typeface="Roboto"/>
              </a:rPr>
              <a:t>: Strategies for Future Growth</a:t>
            </a:r>
            <a:endParaRPr b="1" sz="4200">
              <a:latin typeface="Roboto"/>
              <a:ea typeface="Roboto"/>
              <a:cs typeface="Roboto"/>
              <a:sym typeface="Roboto"/>
            </a:endParaRPr>
          </a:p>
        </p:txBody>
      </p:sp>
      <p:sp>
        <p:nvSpPr>
          <p:cNvPr id="75" name="Google Shape;75;p15"/>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p>
            <a:pPr indent="0" lvl="0" marL="0" rtl="0" algn="ctr">
              <a:lnSpc>
                <a:spcPct val="90000"/>
              </a:lnSpc>
              <a:spcBef>
                <a:spcPts val="0"/>
              </a:spcBef>
              <a:spcAft>
                <a:spcPts val="0"/>
              </a:spcAft>
              <a:buNone/>
            </a:pPr>
            <a:r>
              <a:rPr lang="en" sz="1900" u="sng">
                <a:latin typeface="Roboto"/>
                <a:ea typeface="Roboto"/>
                <a:cs typeface="Roboto"/>
                <a:sym typeface="Roboto"/>
              </a:rPr>
              <a:t>GROUP 4</a:t>
            </a:r>
            <a:endParaRPr sz="1900" u="sng">
              <a:latin typeface="Roboto"/>
              <a:ea typeface="Roboto"/>
              <a:cs typeface="Roboto"/>
              <a:sym typeface="Roboto"/>
            </a:endParaRPr>
          </a:p>
          <a:p>
            <a:pPr indent="0" lvl="0" marL="0" rtl="0" algn="ctr">
              <a:lnSpc>
                <a:spcPct val="90000"/>
              </a:lnSpc>
              <a:spcBef>
                <a:spcPts val="0"/>
              </a:spcBef>
              <a:spcAft>
                <a:spcPts val="0"/>
              </a:spcAft>
              <a:buNone/>
            </a:pPr>
            <a:r>
              <a:t/>
            </a:r>
            <a:endParaRPr sz="1900" u="sng">
              <a:latin typeface="Roboto"/>
              <a:ea typeface="Roboto"/>
              <a:cs typeface="Roboto"/>
              <a:sym typeface="Roboto"/>
            </a:endParaRPr>
          </a:p>
          <a:p>
            <a:pPr indent="0" lvl="0" marL="0" rtl="0" algn="ctr">
              <a:lnSpc>
                <a:spcPct val="90000"/>
              </a:lnSpc>
              <a:spcBef>
                <a:spcPts val="0"/>
              </a:spcBef>
              <a:spcAft>
                <a:spcPts val="0"/>
              </a:spcAft>
              <a:buNone/>
            </a:pPr>
            <a:r>
              <a:rPr lang="en" sz="1900">
                <a:latin typeface="Roboto"/>
                <a:ea typeface="Roboto"/>
                <a:cs typeface="Roboto"/>
                <a:sym typeface="Roboto"/>
              </a:rPr>
              <a:t>Lizbeth Gutierrez, Maya Ljapo, </a:t>
            </a:r>
            <a:r>
              <a:rPr lang="en" sz="1900">
                <a:latin typeface="Roboto"/>
                <a:ea typeface="Roboto"/>
                <a:cs typeface="Roboto"/>
                <a:sym typeface="Roboto"/>
              </a:rPr>
              <a:t>Sarayu Mandavilli, </a:t>
            </a:r>
            <a:endParaRPr sz="1900">
              <a:latin typeface="Roboto"/>
              <a:ea typeface="Roboto"/>
              <a:cs typeface="Roboto"/>
              <a:sym typeface="Roboto"/>
            </a:endParaRPr>
          </a:p>
          <a:p>
            <a:pPr indent="0" lvl="0" marL="0" rtl="0" algn="ctr">
              <a:lnSpc>
                <a:spcPct val="90000"/>
              </a:lnSpc>
              <a:spcBef>
                <a:spcPts val="0"/>
              </a:spcBef>
              <a:spcAft>
                <a:spcPts val="0"/>
              </a:spcAft>
              <a:buNone/>
            </a:pPr>
            <a:r>
              <a:rPr lang="en" sz="1900">
                <a:latin typeface="Roboto"/>
                <a:ea typeface="Roboto"/>
                <a:cs typeface="Roboto"/>
                <a:sym typeface="Roboto"/>
              </a:rPr>
              <a:t>Meghna Parija, </a:t>
            </a:r>
            <a:r>
              <a:rPr lang="en" sz="1900">
                <a:latin typeface="Roboto"/>
                <a:ea typeface="Roboto"/>
                <a:cs typeface="Roboto"/>
                <a:sym typeface="Roboto"/>
              </a:rPr>
              <a:t>Venya Raghavan, </a:t>
            </a:r>
            <a:r>
              <a:rPr lang="en" sz="1900">
                <a:latin typeface="Roboto"/>
                <a:ea typeface="Roboto"/>
                <a:cs typeface="Roboto"/>
                <a:sym typeface="Roboto"/>
              </a:rPr>
              <a:t>Riddhi Sharma</a:t>
            </a:r>
            <a:endParaRPr sz="1900">
              <a:latin typeface="Roboto"/>
              <a:ea typeface="Roboto"/>
              <a:cs typeface="Roboto"/>
              <a:sym typeface="Roboto"/>
            </a:endParaRPr>
          </a:p>
        </p:txBody>
      </p:sp>
      <p:pic>
        <p:nvPicPr>
          <p:cNvPr id="76" name="Google Shape;76;p15"/>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latin typeface="Roboto"/>
                <a:ea typeface="Roboto"/>
                <a:cs typeface="Roboto"/>
                <a:sym typeface="Roboto"/>
              </a:rPr>
              <a:t>Decision Points</a:t>
            </a:r>
            <a:endParaRPr b="1">
              <a:latin typeface="Roboto"/>
              <a:ea typeface="Roboto"/>
              <a:cs typeface="Roboto"/>
              <a:sym typeface="Roboto"/>
            </a:endParaRPr>
          </a:p>
        </p:txBody>
      </p:sp>
      <p:pic>
        <p:nvPicPr>
          <p:cNvPr id="82" name="Google Shape;82;p16"/>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grpSp>
        <p:nvGrpSpPr>
          <p:cNvPr id="87" name="Google Shape;87;p17"/>
          <p:cNvGrpSpPr/>
          <p:nvPr/>
        </p:nvGrpSpPr>
        <p:grpSpPr>
          <a:xfrm>
            <a:off x="99923" y="3792679"/>
            <a:ext cx="8943516" cy="1197618"/>
            <a:chOff x="1593000" y="2322568"/>
            <a:chExt cx="5957975" cy="643500"/>
          </a:xfrm>
        </p:grpSpPr>
        <p:sp>
          <p:nvSpPr>
            <p:cNvPr id="88" name="Google Shape;88;p17"/>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89" name="Google Shape;89;p17"/>
            <p:cNvSpPr/>
            <p:nvPr/>
          </p:nvSpPr>
          <p:spPr>
            <a:xfrm flipH="1">
              <a:off x="2282975" y="2322579"/>
              <a:ext cx="9567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90" name="Google Shape;90;p17"/>
            <p:cNvSpPr/>
            <p:nvPr/>
          </p:nvSpPr>
          <p:spPr>
            <a:xfrm rot="-5400000">
              <a:off x="3013749"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91" name="Google Shape;91;p17"/>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0">
                  <a:solidFill>
                    <a:srgbClr val="FFFFFF"/>
                  </a:solidFill>
                  <a:latin typeface="Roboto Medium"/>
                  <a:ea typeface="Roboto Medium"/>
                  <a:cs typeface="Roboto Medium"/>
                  <a:sym typeface="Roboto Medium"/>
                </a:rPr>
                <a:t>Gold</a:t>
              </a:r>
              <a:endParaRPr sz="2000">
                <a:solidFill>
                  <a:srgbClr val="FFFFFF"/>
                </a:solidFill>
                <a:latin typeface="Roboto"/>
                <a:ea typeface="Roboto"/>
                <a:cs typeface="Roboto"/>
                <a:sym typeface="Roboto"/>
              </a:endParaRPr>
            </a:p>
          </p:txBody>
        </p:sp>
        <p:sp>
          <p:nvSpPr>
            <p:cNvPr id="92" name="Google Shape;92;p17"/>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93" name="Google Shape;93;p17"/>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b="1" lang="en" sz="1303">
                  <a:solidFill>
                    <a:schemeClr val="lt1"/>
                  </a:solidFill>
                  <a:latin typeface="Roboto"/>
                  <a:ea typeface="Roboto"/>
                  <a:cs typeface="Roboto"/>
                  <a:sym typeface="Roboto"/>
                </a:rPr>
                <a:t>Marketing</a:t>
              </a:r>
              <a:endParaRPr sz="3703">
                <a:solidFill>
                  <a:srgbClr val="FFFFFF"/>
                </a:solidFill>
                <a:latin typeface="Roboto Thin"/>
                <a:ea typeface="Roboto Thin"/>
                <a:cs typeface="Roboto Thin"/>
                <a:sym typeface="Roboto Thin"/>
              </a:endParaRPr>
            </a:p>
          </p:txBody>
        </p:sp>
      </p:grpSp>
      <p:grpSp>
        <p:nvGrpSpPr>
          <p:cNvPr id="94" name="Google Shape;94;p17"/>
          <p:cNvGrpSpPr/>
          <p:nvPr/>
        </p:nvGrpSpPr>
        <p:grpSpPr>
          <a:xfrm>
            <a:off x="99923" y="2573913"/>
            <a:ext cx="8943516" cy="1197618"/>
            <a:chOff x="1593000" y="2322568"/>
            <a:chExt cx="5957975" cy="643500"/>
          </a:xfrm>
        </p:grpSpPr>
        <p:sp>
          <p:nvSpPr>
            <p:cNvPr id="95" name="Google Shape;95;p17"/>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96" name="Google Shape;96;p17"/>
            <p:cNvSpPr/>
            <p:nvPr/>
          </p:nvSpPr>
          <p:spPr>
            <a:xfrm flipH="1">
              <a:off x="2283134" y="2322575"/>
              <a:ext cx="9225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97" name="Google Shape;97;p17"/>
            <p:cNvSpPr/>
            <p:nvPr/>
          </p:nvSpPr>
          <p:spPr>
            <a:xfrm rot="-5400000">
              <a:off x="3013749"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98" name="Google Shape;98;p17"/>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0">
                  <a:solidFill>
                    <a:srgbClr val="FFFFFF"/>
                  </a:solidFill>
                  <a:latin typeface="Roboto Medium"/>
                  <a:ea typeface="Roboto Medium"/>
                  <a:cs typeface="Roboto Medium"/>
                  <a:sym typeface="Roboto Medium"/>
                </a:rPr>
                <a:t>Medium</a:t>
              </a:r>
              <a:endParaRPr sz="2000">
                <a:solidFill>
                  <a:srgbClr val="FFFFFF"/>
                </a:solidFill>
                <a:latin typeface="Roboto"/>
                <a:ea typeface="Roboto"/>
                <a:cs typeface="Roboto"/>
                <a:sym typeface="Roboto"/>
              </a:endParaRPr>
            </a:p>
          </p:txBody>
        </p:sp>
        <p:sp>
          <p:nvSpPr>
            <p:cNvPr id="99" name="Google Shape;99;p17"/>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00" name="Google Shape;100;p17"/>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b="1" lang="en" sz="1503">
                  <a:solidFill>
                    <a:srgbClr val="FFFFFF"/>
                  </a:solidFill>
                  <a:latin typeface="Roboto"/>
                  <a:ea typeface="Roboto"/>
                  <a:cs typeface="Roboto"/>
                  <a:sym typeface="Roboto"/>
                </a:rPr>
                <a:t>Pricing Strategy</a:t>
              </a:r>
              <a:endParaRPr b="1" sz="1503">
                <a:solidFill>
                  <a:srgbClr val="FFFFFF"/>
                </a:solidFill>
                <a:latin typeface="Roboto"/>
                <a:ea typeface="Roboto"/>
                <a:cs typeface="Roboto"/>
                <a:sym typeface="Roboto"/>
              </a:endParaRPr>
            </a:p>
          </p:txBody>
        </p:sp>
      </p:grpSp>
      <p:grpSp>
        <p:nvGrpSpPr>
          <p:cNvPr id="101" name="Google Shape;101;p17"/>
          <p:cNvGrpSpPr/>
          <p:nvPr/>
        </p:nvGrpSpPr>
        <p:grpSpPr>
          <a:xfrm>
            <a:off x="99923" y="1355097"/>
            <a:ext cx="8943516" cy="1197618"/>
            <a:chOff x="1593000" y="2322568"/>
            <a:chExt cx="5957975" cy="643500"/>
          </a:xfrm>
        </p:grpSpPr>
        <p:sp>
          <p:nvSpPr>
            <p:cNvPr id="102" name="Google Shape;102;p17"/>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03" name="Google Shape;103;p17"/>
            <p:cNvSpPr/>
            <p:nvPr/>
          </p:nvSpPr>
          <p:spPr>
            <a:xfrm flipH="1">
              <a:off x="2282901" y="2322569"/>
              <a:ext cx="10362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04" name="Google Shape;104;p17"/>
            <p:cNvSpPr/>
            <p:nvPr/>
          </p:nvSpPr>
          <p:spPr>
            <a:xfrm rot="-5400000">
              <a:off x="3013749"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05" name="Google Shape;105;p17"/>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0">
                  <a:solidFill>
                    <a:srgbClr val="FFFFFF"/>
                  </a:solidFill>
                  <a:latin typeface="Roboto Medium"/>
                  <a:ea typeface="Roboto Medium"/>
                  <a:cs typeface="Roboto Medium"/>
                  <a:sym typeface="Roboto Medium"/>
                </a:rPr>
                <a:t>Spiral: Internal </a:t>
              </a:r>
              <a:endParaRPr sz="2000">
                <a:solidFill>
                  <a:srgbClr val="FFFFFF"/>
                </a:solidFill>
                <a:latin typeface="Roboto"/>
                <a:ea typeface="Roboto"/>
                <a:cs typeface="Roboto"/>
                <a:sym typeface="Roboto"/>
              </a:endParaRPr>
            </a:p>
          </p:txBody>
        </p:sp>
        <p:sp>
          <p:nvSpPr>
            <p:cNvPr id="106" name="Google Shape;106;p17"/>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07" name="Google Shape;107;p17"/>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lang="en" sz="3903">
                  <a:solidFill>
                    <a:srgbClr val="FFFFFF"/>
                  </a:solidFill>
                  <a:latin typeface="Roboto Thin"/>
                  <a:ea typeface="Roboto Thin"/>
                  <a:cs typeface="Roboto Thin"/>
                  <a:sym typeface="Roboto Thin"/>
                </a:rPr>
                <a:t>02</a:t>
              </a:r>
              <a:endParaRPr sz="3903">
                <a:solidFill>
                  <a:srgbClr val="FFFFFF"/>
                </a:solidFill>
                <a:latin typeface="Roboto Thin"/>
                <a:ea typeface="Roboto Thin"/>
                <a:cs typeface="Roboto Thin"/>
                <a:sym typeface="Roboto Thin"/>
              </a:endParaRPr>
            </a:p>
          </p:txBody>
        </p:sp>
      </p:grpSp>
      <p:grpSp>
        <p:nvGrpSpPr>
          <p:cNvPr id="108" name="Google Shape;108;p17"/>
          <p:cNvGrpSpPr/>
          <p:nvPr/>
        </p:nvGrpSpPr>
        <p:grpSpPr>
          <a:xfrm>
            <a:off x="99923" y="136341"/>
            <a:ext cx="8943516" cy="2416452"/>
            <a:chOff x="1593000" y="2322566"/>
            <a:chExt cx="5957975" cy="1298400"/>
          </a:xfrm>
        </p:grpSpPr>
        <p:sp>
          <p:nvSpPr>
            <p:cNvPr id="109" name="Google Shape;109;p17"/>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10" name="Google Shape;110;p17"/>
            <p:cNvSpPr/>
            <p:nvPr/>
          </p:nvSpPr>
          <p:spPr>
            <a:xfrm flipH="1">
              <a:off x="2283075" y="2322570"/>
              <a:ext cx="9339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11" name="Google Shape;111;p17"/>
            <p:cNvSpPr/>
            <p:nvPr/>
          </p:nvSpPr>
          <p:spPr>
            <a:xfrm rot="-5400000">
              <a:off x="3013750"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12" name="Google Shape;112;p17"/>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1">
                  <a:solidFill>
                    <a:srgbClr val="FFFFFF"/>
                  </a:solidFill>
                  <a:latin typeface="Roboto Medium"/>
                  <a:ea typeface="Roboto Medium"/>
                  <a:cs typeface="Roboto Medium"/>
                  <a:sym typeface="Roboto Medium"/>
                </a:rPr>
                <a:t>Symmetric: IP</a:t>
              </a:r>
              <a:endParaRPr sz="2001">
                <a:solidFill>
                  <a:srgbClr val="FFFFFF"/>
                </a:solidFill>
                <a:latin typeface="Roboto"/>
                <a:ea typeface="Roboto"/>
                <a:cs typeface="Roboto"/>
                <a:sym typeface="Roboto"/>
              </a:endParaRPr>
            </a:p>
          </p:txBody>
        </p:sp>
        <p:sp>
          <p:nvSpPr>
            <p:cNvPr id="113" name="Google Shape;113;p17"/>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14" name="Google Shape;114;p17"/>
            <p:cNvSpPr/>
            <p:nvPr/>
          </p:nvSpPr>
          <p:spPr>
            <a:xfrm>
              <a:off x="1593002" y="2322566"/>
              <a:ext cx="690000" cy="12984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b="1" lang="en" sz="1500">
                  <a:solidFill>
                    <a:srgbClr val="FFFFFF"/>
                  </a:solidFill>
                  <a:latin typeface="Roboto"/>
                  <a:ea typeface="Roboto"/>
                  <a:cs typeface="Roboto"/>
                  <a:sym typeface="Roboto"/>
                </a:rPr>
                <a:t>R &amp; D</a:t>
              </a:r>
              <a:endParaRPr b="1" sz="1500">
                <a:solidFill>
                  <a:srgbClr val="FFFFFF"/>
                </a:solidFill>
                <a:latin typeface="Roboto"/>
                <a:ea typeface="Roboto"/>
                <a:cs typeface="Roboto"/>
                <a:sym typeface="Roboto"/>
              </a:endParaRPr>
            </a:p>
          </p:txBody>
        </p:sp>
        <p:sp>
          <p:nvSpPr>
            <p:cNvPr id="115" name="Google Shape;115;p17"/>
            <p:cNvSpPr/>
            <p:nvPr/>
          </p:nvSpPr>
          <p:spPr>
            <a:xfrm>
              <a:off x="4110289" y="2323753"/>
              <a:ext cx="1743000" cy="6423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1001">
                  <a:solidFill>
                    <a:srgbClr val="A7291E"/>
                  </a:solidFill>
                  <a:latin typeface="Roboto"/>
                  <a:ea typeface="Roboto"/>
                  <a:cs typeface="Roboto"/>
                  <a:sym typeface="Roboto"/>
                </a:rPr>
                <a:t>Reasons for choice:</a:t>
              </a:r>
              <a:endParaRPr sz="1001">
                <a:solidFill>
                  <a:srgbClr val="A7291E"/>
                </a:solidFill>
                <a:latin typeface="Roboto"/>
                <a:ea typeface="Roboto"/>
                <a:cs typeface="Roboto"/>
                <a:sym typeface="Roboto"/>
              </a:endParaRPr>
            </a:p>
            <a:p>
              <a:pPr indent="-292157" lvl="0" marL="457200"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Symmetric sutures are already patented by competitor so we need IP to enter the popular market</a:t>
              </a:r>
              <a:endParaRPr sz="1001">
                <a:solidFill>
                  <a:srgbClr val="A7291E"/>
                </a:solidFill>
                <a:latin typeface="Roboto"/>
                <a:ea typeface="Roboto"/>
                <a:cs typeface="Roboto"/>
                <a:sym typeface="Roboto"/>
              </a:endParaRPr>
            </a:p>
          </p:txBody>
        </p:sp>
      </p:grpSp>
      <p:sp>
        <p:nvSpPr>
          <p:cNvPr id="116" name="Google Shape;116;p17"/>
          <p:cNvSpPr/>
          <p:nvPr/>
        </p:nvSpPr>
        <p:spPr>
          <a:xfrm>
            <a:off x="6427150" y="138400"/>
            <a:ext cx="2616300" cy="11955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1001">
                <a:solidFill>
                  <a:srgbClr val="A7291E"/>
                </a:solidFill>
                <a:latin typeface="Roboto"/>
                <a:ea typeface="Roboto"/>
                <a:cs typeface="Roboto"/>
                <a:sym typeface="Roboto"/>
              </a:rPr>
              <a:t>Reasons for not choosing other options</a:t>
            </a:r>
            <a:r>
              <a:rPr lang="en" sz="1001">
                <a:solidFill>
                  <a:srgbClr val="A7291E"/>
                </a:solidFill>
                <a:latin typeface="Roboto"/>
                <a:ea typeface="Roboto"/>
                <a:cs typeface="Roboto"/>
                <a:sym typeface="Roboto"/>
              </a:rPr>
              <a:t>:</a:t>
            </a:r>
            <a:endParaRPr sz="1001">
              <a:solidFill>
                <a:srgbClr val="A7291E"/>
              </a:solidFill>
              <a:latin typeface="Roboto"/>
              <a:ea typeface="Roboto"/>
              <a:cs typeface="Roboto"/>
              <a:sym typeface="Roboto"/>
            </a:endParaRPr>
          </a:p>
          <a:p>
            <a:pPr indent="-292157" lvl="0" marL="457200"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We did not choose internal because we are not the </a:t>
            </a:r>
            <a:r>
              <a:rPr lang="en" sz="1001">
                <a:solidFill>
                  <a:srgbClr val="A7291E"/>
                </a:solidFill>
                <a:latin typeface="Roboto"/>
                <a:ea typeface="Roboto"/>
                <a:cs typeface="Roboto"/>
                <a:sym typeface="Roboto"/>
              </a:rPr>
              <a:t>first</a:t>
            </a:r>
            <a:r>
              <a:rPr lang="en" sz="1001">
                <a:solidFill>
                  <a:srgbClr val="A7291E"/>
                </a:solidFill>
                <a:latin typeface="Roboto"/>
                <a:ea typeface="Roboto"/>
                <a:cs typeface="Roboto"/>
                <a:sym typeface="Roboto"/>
              </a:rPr>
              <a:t> to enter the product market</a:t>
            </a:r>
            <a:endParaRPr sz="1001">
              <a:solidFill>
                <a:srgbClr val="A7291E"/>
              </a:solidFill>
              <a:latin typeface="Roboto"/>
              <a:ea typeface="Roboto"/>
              <a:cs typeface="Roboto"/>
              <a:sym typeface="Roboto"/>
            </a:endParaRPr>
          </a:p>
        </p:txBody>
      </p:sp>
      <p:sp>
        <p:nvSpPr>
          <p:cNvPr id="117" name="Google Shape;117;p17"/>
          <p:cNvSpPr/>
          <p:nvPr/>
        </p:nvSpPr>
        <p:spPr>
          <a:xfrm>
            <a:off x="3884765" y="1356163"/>
            <a:ext cx="2616300" cy="11955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1001">
                <a:solidFill>
                  <a:srgbClr val="A7291E"/>
                </a:solidFill>
                <a:latin typeface="Roboto"/>
                <a:ea typeface="Roboto"/>
                <a:cs typeface="Roboto"/>
                <a:sym typeface="Roboto"/>
              </a:rPr>
              <a:t>Reasons for choice:</a:t>
            </a:r>
            <a:endParaRPr sz="1001">
              <a:solidFill>
                <a:srgbClr val="A7291E"/>
              </a:solidFill>
              <a:latin typeface="Roboto"/>
              <a:ea typeface="Roboto"/>
              <a:cs typeface="Roboto"/>
              <a:sym typeface="Roboto"/>
            </a:endParaRPr>
          </a:p>
          <a:p>
            <a:pPr indent="-292157" lvl="0" marL="457200"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We chose to produce it internally so we can enter the new market fast instead of relying on another company.</a:t>
            </a:r>
            <a:endParaRPr sz="1001">
              <a:solidFill>
                <a:srgbClr val="A7291E"/>
              </a:solidFill>
              <a:latin typeface="Roboto"/>
              <a:ea typeface="Roboto"/>
              <a:cs typeface="Roboto"/>
              <a:sym typeface="Roboto"/>
            </a:endParaRPr>
          </a:p>
        </p:txBody>
      </p:sp>
      <p:sp>
        <p:nvSpPr>
          <p:cNvPr id="118" name="Google Shape;118;p17"/>
          <p:cNvSpPr/>
          <p:nvPr/>
        </p:nvSpPr>
        <p:spPr>
          <a:xfrm>
            <a:off x="6427150" y="1356688"/>
            <a:ext cx="2616300" cy="11955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1001">
                <a:solidFill>
                  <a:srgbClr val="A7291E"/>
                </a:solidFill>
                <a:latin typeface="Roboto"/>
                <a:ea typeface="Roboto"/>
                <a:cs typeface="Roboto"/>
                <a:sym typeface="Roboto"/>
              </a:rPr>
              <a:t>Reasons for not choosing other options:</a:t>
            </a:r>
            <a:endParaRPr sz="1001">
              <a:solidFill>
                <a:srgbClr val="A7291E"/>
              </a:solidFill>
              <a:latin typeface="Roboto"/>
              <a:ea typeface="Roboto"/>
              <a:cs typeface="Roboto"/>
              <a:sym typeface="Roboto"/>
            </a:endParaRPr>
          </a:p>
          <a:p>
            <a:pPr indent="-292157" lvl="0" marL="457200"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I</a:t>
            </a:r>
            <a:r>
              <a:rPr lang="en" sz="1001">
                <a:solidFill>
                  <a:srgbClr val="A7291E"/>
                </a:solidFill>
                <a:latin typeface="Roboto"/>
                <a:ea typeface="Roboto"/>
                <a:cs typeface="Roboto"/>
                <a:sym typeface="Roboto"/>
              </a:rPr>
              <a:t>P would slow us down and reduce control</a:t>
            </a:r>
            <a:endParaRPr sz="1001">
              <a:solidFill>
                <a:srgbClr val="A7291E"/>
              </a:solidFill>
              <a:latin typeface="Roboto"/>
              <a:ea typeface="Roboto"/>
              <a:cs typeface="Roboto"/>
              <a:sym typeface="Roboto"/>
            </a:endParaRPr>
          </a:p>
        </p:txBody>
      </p:sp>
      <p:sp>
        <p:nvSpPr>
          <p:cNvPr id="119" name="Google Shape;119;p17"/>
          <p:cNvSpPr/>
          <p:nvPr/>
        </p:nvSpPr>
        <p:spPr>
          <a:xfrm>
            <a:off x="3884765" y="2574975"/>
            <a:ext cx="2616300" cy="11955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1001">
                <a:solidFill>
                  <a:srgbClr val="A7291E"/>
                </a:solidFill>
                <a:latin typeface="Roboto"/>
                <a:ea typeface="Roboto"/>
                <a:cs typeface="Roboto"/>
                <a:sym typeface="Roboto"/>
              </a:rPr>
              <a:t>Reasons for choice:</a:t>
            </a:r>
            <a:endParaRPr sz="1001">
              <a:solidFill>
                <a:srgbClr val="A7291E"/>
              </a:solidFill>
              <a:latin typeface="Roboto"/>
              <a:ea typeface="Roboto"/>
              <a:cs typeface="Roboto"/>
              <a:sym typeface="Roboto"/>
            </a:endParaRPr>
          </a:p>
          <a:p>
            <a:pPr indent="-292157" lvl="0" marL="457200"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F</a:t>
            </a:r>
            <a:r>
              <a:rPr lang="en" sz="1001">
                <a:solidFill>
                  <a:srgbClr val="A7291E"/>
                </a:solidFill>
                <a:latin typeface="Roboto"/>
                <a:ea typeface="Roboto"/>
                <a:cs typeface="Roboto"/>
                <a:sym typeface="Roboto"/>
              </a:rPr>
              <a:t>und operations while staying affordable to most customers and maintaining strong profit potential→80% of consumers can afford</a:t>
            </a:r>
            <a:endParaRPr sz="1001">
              <a:solidFill>
                <a:srgbClr val="A7291E"/>
              </a:solidFill>
              <a:latin typeface="Roboto"/>
              <a:ea typeface="Roboto"/>
              <a:cs typeface="Roboto"/>
              <a:sym typeface="Roboto"/>
            </a:endParaRPr>
          </a:p>
        </p:txBody>
      </p:sp>
      <p:sp>
        <p:nvSpPr>
          <p:cNvPr id="120" name="Google Shape;120;p17"/>
          <p:cNvSpPr/>
          <p:nvPr/>
        </p:nvSpPr>
        <p:spPr>
          <a:xfrm>
            <a:off x="6427150" y="2597163"/>
            <a:ext cx="2616300" cy="11955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1001">
                <a:solidFill>
                  <a:srgbClr val="A7291E"/>
                </a:solidFill>
                <a:latin typeface="Roboto"/>
                <a:ea typeface="Roboto"/>
                <a:cs typeface="Roboto"/>
                <a:sym typeface="Roboto"/>
              </a:rPr>
              <a:t>Reasons for not choosing other options:</a:t>
            </a:r>
            <a:endParaRPr sz="1001">
              <a:solidFill>
                <a:srgbClr val="A7291E"/>
              </a:solidFill>
              <a:latin typeface="Roboto"/>
              <a:ea typeface="Roboto"/>
              <a:cs typeface="Roboto"/>
              <a:sym typeface="Roboto"/>
            </a:endParaRPr>
          </a:p>
          <a:p>
            <a:pPr indent="-292157" lvl="0" marL="457200"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Higher prices may increase revenue, but they can reduce profits by driving customers to competitors and costing us market share.</a:t>
            </a:r>
            <a:endParaRPr sz="1001">
              <a:solidFill>
                <a:srgbClr val="A7291E"/>
              </a:solidFill>
              <a:latin typeface="Roboto"/>
              <a:ea typeface="Roboto"/>
              <a:cs typeface="Roboto"/>
              <a:sym typeface="Roboto"/>
            </a:endParaRPr>
          </a:p>
        </p:txBody>
      </p:sp>
      <p:sp>
        <p:nvSpPr>
          <p:cNvPr id="121" name="Google Shape;121;p17"/>
          <p:cNvSpPr/>
          <p:nvPr/>
        </p:nvSpPr>
        <p:spPr>
          <a:xfrm>
            <a:off x="3884765" y="3726825"/>
            <a:ext cx="2616300" cy="11955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1001">
                <a:solidFill>
                  <a:srgbClr val="A7291E"/>
                </a:solidFill>
                <a:latin typeface="Roboto"/>
                <a:ea typeface="Roboto"/>
                <a:cs typeface="Roboto"/>
                <a:sym typeface="Roboto"/>
              </a:rPr>
              <a:t>Reasons for choice:</a:t>
            </a:r>
            <a:endParaRPr sz="1001">
              <a:solidFill>
                <a:srgbClr val="A7291E"/>
              </a:solidFill>
              <a:latin typeface="Roboto"/>
              <a:ea typeface="Roboto"/>
              <a:cs typeface="Roboto"/>
              <a:sym typeface="Roboto"/>
            </a:endParaRPr>
          </a:p>
          <a:p>
            <a:pPr indent="-292157" lvl="0" marL="457200"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S</a:t>
            </a:r>
            <a:r>
              <a:rPr lang="en" sz="1001">
                <a:solidFill>
                  <a:srgbClr val="A7291E"/>
                </a:solidFill>
                <a:latin typeface="Roboto"/>
                <a:ea typeface="Roboto"/>
                <a:cs typeface="Roboto"/>
                <a:sym typeface="Roboto"/>
              </a:rPr>
              <a:t>tronger marketing is required for spiral since it’s a newer market and customers need convincing for entry</a:t>
            </a:r>
            <a:endParaRPr sz="1001">
              <a:solidFill>
                <a:srgbClr val="A7291E"/>
              </a:solidFill>
              <a:latin typeface="Roboto"/>
              <a:ea typeface="Roboto"/>
              <a:cs typeface="Roboto"/>
              <a:sym typeface="Roboto"/>
            </a:endParaRPr>
          </a:p>
        </p:txBody>
      </p:sp>
      <p:sp>
        <p:nvSpPr>
          <p:cNvPr id="122" name="Google Shape;122;p17"/>
          <p:cNvSpPr/>
          <p:nvPr/>
        </p:nvSpPr>
        <p:spPr>
          <a:xfrm>
            <a:off x="6427150" y="3792638"/>
            <a:ext cx="2616300" cy="11955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1001">
                <a:solidFill>
                  <a:srgbClr val="A7291E"/>
                </a:solidFill>
                <a:latin typeface="Roboto"/>
                <a:ea typeface="Roboto"/>
                <a:cs typeface="Roboto"/>
                <a:sym typeface="Roboto"/>
              </a:rPr>
              <a:t>Reasons for not choosing other options:</a:t>
            </a:r>
            <a:endParaRPr sz="1001">
              <a:solidFill>
                <a:srgbClr val="A7291E"/>
              </a:solidFill>
              <a:latin typeface="Roboto"/>
              <a:ea typeface="Roboto"/>
              <a:cs typeface="Roboto"/>
              <a:sym typeface="Roboto"/>
            </a:endParaRPr>
          </a:p>
          <a:p>
            <a:pPr indent="-292157" lvl="0" marL="457200"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We chose Gold over Bronze or Silver to focus on spiral sutures, as strong marketing is needed to build awareness in this new market</a:t>
            </a:r>
            <a:endParaRPr sz="1001">
              <a:solidFill>
                <a:srgbClr val="A7291E"/>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grpSp>
        <p:nvGrpSpPr>
          <p:cNvPr id="127" name="Google Shape;127;p18"/>
          <p:cNvGrpSpPr/>
          <p:nvPr/>
        </p:nvGrpSpPr>
        <p:grpSpPr>
          <a:xfrm>
            <a:off x="100235" y="2492581"/>
            <a:ext cx="8943516" cy="1197618"/>
            <a:chOff x="1593000" y="2322568"/>
            <a:chExt cx="5957975" cy="643500"/>
          </a:xfrm>
        </p:grpSpPr>
        <p:sp>
          <p:nvSpPr>
            <p:cNvPr id="128" name="Google Shape;128;p18"/>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29" name="Google Shape;129;p18"/>
            <p:cNvSpPr/>
            <p:nvPr/>
          </p:nvSpPr>
          <p:spPr>
            <a:xfrm flipH="1">
              <a:off x="2282975" y="2322579"/>
              <a:ext cx="9567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30" name="Google Shape;130;p18"/>
            <p:cNvSpPr/>
            <p:nvPr/>
          </p:nvSpPr>
          <p:spPr>
            <a:xfrm rot="-5400000">
              <a:off x="3013749"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31" name="Google Shape;131;p18"/>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0">
                  <a:solidFill>
                    <a:srgbClr val="FFFFFF"/>
                  </a:solidFill>
                  <a:latin typeface="Roboto Medium"/>
                  <a:ea typeface="Roboto Medium"/>
                  <a:cs typeface="Roboto Medium"/>
                  <a:sym typeface="Roboto Medium"/>
                </a:rPr>
                <a:t>Base</a:t>
              </a:r>
              <a:endParaRPr sz="2000">
                <a:solidFill>
                  <a:srgbClr val="FFFFFF"/>
                </a:solidFill>
                <a:latin typeface="Roboto"/>
                <a:ea typeface="Roboto"/>
                <a:cs typeface="Roboto"/>
                <a:sym typeface="Roboto"/>
              </a:endParaRPr>
            </a:p>
          </p:txBody>
        </p:sp>
        <p:sp>
          <p:nvSpPr>
            <p:cNvPr id="132" name="Google Shape;132;p18"/>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33" name="Google Shape;133;p18"/>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b="1" lang="en" sz="1503">
                  <a:solidFill>
                    <a:schemeClr val="lt1"/>
                  </a:solidFill>
                  <a:latin typeface="Roboto"/>
                  <a:ea typeface="Roboto"/>
                  <a:cs typeface="Roboto"/>
                  <a:sym typeface="Roboto"/>
                </a:rPr>
                <a:t>Human Capital</a:t>
              </a:r>
              <a:endParaRPr sz="3903">
                <a:solidFill>
                  <a:srgbClr val="FFFFFF"/>
                </a:solidFill>
                <a:latin typeface="Roboto Thin"/>
                <a:ea typeface="Roboto Thin"/>
                <a:cs typeface="Roboto Thin"/>
                <a:sym typeface="Roboto Thin"/>
              </a:endParaRPr>
            </a:p>
          </p:txBody>
        </p:sp>
      </p:grpSp>
      <p:grpSp>
        <p:nvGrpSpPr>
          <p:cNvPr id="134" name="Google Shape;134;p18"/>
          <p:cNvGrpSpPr/>
          <p:nvPr/>
        </p:nvGrpSpPr>
        <p:grpSpPr>
          <a:xfrm>
            <a:off x="100235" y="1273814"/>
            <a:ext cx="8943516" cy="1197618"/>
            <a:chOff x="1593000" y="2322568"/>
            <a:chExt cx="5957975" cy="643500"/>
          </a:xfrm>
        </p:grpSpPr>
        <p:sp>
          <p:nvSpPr>
            <p:cNvPr id="135" name="Google Shape;135;p18"/>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36" name="Google Shape;136;p18"/>
            <p:cNvSpPr/>
            <p:nvPr/>
          </p:nvSpPr>
          <p:spPr>
            <a:xfrm flipH="1">
              <a:off x="2283134" y="2322575"/>
              <a:ext cx="9225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37" name="Google Shape;137;p18"/>
            <p:cNvSpPr/>
            <p:nvPr/>
          </p:nvSpPr>
          <p:spPr>
            <a:xfrm rot="-5400000">
              <a:off x="3013749"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38" name="Google Shape;138;p18"/>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0">
                  <a:solidFill>
                    <a:srgbClr val="FFFFFF"/>
                  </a:solidFill>
                  <a:latin typeface="Roboto Medium"/>
                  <a:ea typeface="Roboto Medium"/>
                  <a:cs typeface="Roboto Medium"/>
                  <a:sym typeface="Roboto Medium"/>
                </a:rPr>
                <a:t>Outsource</a:t>
              </a:r>
              <a:endParaRPr sz="2000">
                <a:solidFill>
                  <a:srgbClr val="FFFFFF"/>
                </a:solidFill>
                <a:latin typeface="Roboto"/>
                <a:ea typeface="Roboto"/>
                <a:cs typeface="Roboto"/>
                <a:sym typeface="Roboto"/>
              </a:endParaRPr>
            </a:p>
          </p:txBody>
        </p:sp>
        <p:sp>
          <p:nvSpPr>
            <p:cNvPr id="139" name="Google Shape;139;p18"/>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40" name="Google Shape;140;p18"/>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b="1" lang="en" sz="1503">
                  <a:solidFill>
                    <a:srgbClr val="FFFFFF"/>
                  </a:solidFill>
                  <a:latin typeface="Roboto"/>
                  <a:ea typeface="Roboto"/>
                  <a:cs typeface="Roboto"/>
                  <a:sym typeface="Roboto"/>
                </a:rPr>
                <a:t>Supply Chain </a:t>
              </a:r>
              <a:endParaRPr b="1" sz="1503">
                <a:solidFill>
                  <a:srgbClr val="FFFFFF"/>
                </a:solidFill>
                <a:latin typeface="Roboto"/>
                <a:ea typeface="Roboto"/>
                <a:cs typeface="Roboto"/>
                <a:sym typeface="Roboto"/>
              </a:endParaRPr>
            </a:p>
          </p:txBody>
        </p:sp>
      </p:grpSp>
      <p:sp>
        <p:nvSpPr>
          <p:cNvPr id="141" name="Google Shape;141;p18"/>
          <p:cNvSpPr/>
          <p:nvPr/>
        </p:nvSpPr>
        <p:spPr>
          <a:xfrm>
            <a:off x="3795390" y="1226125"/>
            <a:ext cx="2616300" cy="11955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1001">
                <a:solidFill>
                  <a:srgbClr val="A7291E"/>
                </a:solidFill>
                <a:latin typeface="Roboto"/>
                <a:ea typeface="Roboto"/>
                <a:cs typeface="Roboto"/>
                <a:sym typeface="Roboto"/>
              </a:rPr>
              <a:t>Reasons for choice:</a:t>
            </a:r>
            <a:endParaRPr sz="1001">
              <a:solidFill>
                <a:srgbClr val="A7291E"/>
              </a:solidFill>
              <a:latin typeface="Roboto"/>
              <a:ea typeface="Roboto"/>
              <a:cs typeface="Roboto"/>
              <a:sym typeface="Roboto"/>
            </a:endParaRPr>
          </a:p>
          <a:p>
            <a:pPr indent="-292157" lvl="0" marL="457200"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more cost efficient and allow us to enter the market easier and faster</a:t>
            </a:r>
            <a:endParaRPr sz="1001">
              <a:solidFill>
                <a:srgbClr val="A7291E"/>
              </a:solidFill>
              <a:latin typeface="Roboto"/>
              <a:ea typeface="Roboto"/>
              <a:cs typeface="Roboto"/>
              <a:sym typeface="Roboto"/>
            </a:endParaRPr>
          </a:p>
        </p:txBody>
      </p:sp>
      <p:sp>
        <p:nvSpPr>
          <p:cNvPr id="142" name="Google Shape;142;p18"/>
          <p:cNvSpPr/>
          <p:nvPr/>
        </p:nvSpPr>
        <p:spPr>
          <a:xfrm>
            <a:off x="6362150" y="1161108"/>
            <a:ext cx="2616300" cy="11955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1001">
                <a:solidFill>
                  <a:srgbClr val="A7291E"/>
                </a:solidFill>
                <a:latin typeface="Roboto"/>
                <a:ea typeface="Roboto"/>
                <a:cs typeface="Roboto"/>
                <a:sym typeface="Roboto"/>
              </a:rPr>
              <a:t>Reasons for not choosing other options:</a:t>
            </a:r>
            <a:endParaRPr sz="1001">
              <a:solidFill>
                <a:srgbClr val="A7291E"/>
              </a:solidFill>
              <a:latin typeface="Roboto"/>
              <a:ea typeface="Roboto"/>
              <a:cs typeface="Roboto"/>
              <a:sym typeface="Roboto"/>
            </a:endParaRPr>
          </a:p>
          <a:p>
            <a:pPr indent="-292157" lvl="0" marL="457200"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more time-consuming and costly, slowing down market entry</a:t>
            </a:r>
            <a:endParaRPr sz="1001">
              <a:solidFill>
                <a:srgbClr val="A7291E"/>
              </a:solidFill>
              <a:latin typeface="Roboto"/>
              <a:ea typeface="Roboto"/>
              <a:cs typeface="Roboto"/>
              <a:sym typeface="Roboto"/>
            </a:endParaRPr>
          </a:p>
        </p:txBody>
      </p:sp>
      <p:sp>
        <p:nvSpPr>
          <p:cNvPr id="143" name="Google Shape;143;p18"/>
          <p:cNvSpPr/>
          <p:nvPr/>
        </p:nvSpPr>
        <p:spPr>
          <a:xfrm>
            <a:off x="3819767" y="2493638"/>
            <a:ext cx="2616300" cy="11955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1001">
                <a:solidFill>
                  <a:srgbClr val="A7291E"/>
                </a:solidFill>
                <a:latin typeface="Roboto"/>
                <a:ea typeface="Roboto"/>
                <a:cs typeface="Roboto"/>
                <a:sym typeface="Roboto"/>
              </a:rPr>
              <a:t>Reasons for choice:</a:t>
            </a:r>
            <a:endParaRPr sz="1001">
              <a:solidFill>
                <a:srgbClr val="A7291E"/>
              </a:solidFill>
              <a:latin typeface="Roboto"/>
              <a:ea typeface="Roboto"/>
              <a:cs typeface="Roboto"/>
              <a:sym typeface="Roboto"/>
            </a:endParaRPr>
          </a:p>
          <a:p>
            <a:pPr indent="-292157" lvl="0" marL="457200"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most production is outsourced, requiring only essential staff for daily operations</a:t>
            </a:r>
            <a:endParaRPr sz="1001">
              <a:solidFill>
                <a:srgbClr val="A7291E"/>
              </a:solidFill>
              <a:latin typeface="Roboto"/>
              <a:ea typeface="Roboto"/>
              <a:cs typeface="Roboto"/>
              <a:sym typeface="Roboto"/>
            </a:endParaRPr>
          </a:p>
        </p:txBody>
      </p:sp>
      <p:sp>
        <p:nvSpPr>
          <p:cNvPr id="144" name="Google Shape;144;p18"/>
          <p:cNvSpPr/>
          <p:nvPr/>
        </p:nvSpPr>
        <p:spPr>
          <a:xfrm>
            <a:off x="6327650" y="2438930"/>
            <a:ext cx="2616300" cy="11955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1001">
                <a:solidFill>
                  <a:srgbClr val="A7291E"/>
                </a:solidFill>
                <a:latin typeface="Roboto"/>
                <a:ea typeface="Roboto"/>
                <a:cs typeface="Roboto"/>
                <a:sym typeface="Roboto"/>
              </a:rPr>
              <a:t>Reasons for not choosing other options:</a:t>
            </a:r>
            <a:endParaRPr sz="1001">
              <a:solidFill>
                <a:srgbClr val="A7291E"/>
              </a:solidFill>
              <a:latin typeface="Roboto"/>
              <a:ea typeface="Roboto"/>
              <a:cs typeface="Roboto"/>
              <a:sym typeface="Roboto"/>
            </a:endParaRPr>
          </a:p>
          <a:p>
            <a:pPr indent="-292157" lvl="0" marL="457200"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outsourcing covers most work, and extra staff would unnecessarily raise labor costs</a:t>
            </a:r>
            <a:endParaRPr sz="1001">
              <a:solidFill>
                <a:srgbClr val="A7291E"/>
              </a:solidFill>
              <a:latin typeface="Roboto"/>
              <a:ea typeface="Roboto"/>
              <a:cs typeface="Roboto"/>
              <a:sym typeface="Roboto"/>
            </a:endParaRPr>
          </a:p>
        </p:txBody>
      </p:sp>
      <p:pic>
        <p:nvPicPr>
          <p:cNvPr id="145" name="Google Shape;145;p18"/>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Supply Chain Strategies: Outsourcing</a:t>
            </a:r>
            <a:endParaRPr b="1">
              <a:solidFill>
                <a:srgbClr val="D71600"/>
              </a:solidFill>
              <a:latin typeface="Roboto"/>
              <a:ea typeface="Roboto"/>
              <a:cs typeface="Roboto"/>
              <a:sym typeface="Roboto"/>
            </a:endParaRPr>
          </a:p>
        </p:txBody>
      </p:sp>
      <p:sp>
        <p:nvSpPr>
          <p:cNvPr id="151" name="Google Shape;151;p19"/>
          <p:cNvSpPr txBox="1"/>
          <p:nvPr>
            <p:ph idx="1" type="body"/>
          </p:nvPr>
        </p:nvSpPr>
        <p:spPr>
          <a:xfrm>
            <a:off x="311700" y="1621225"/>
            <a:ext cx="39999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rgbClr val="D71600"/>
                </a:solidFill>
                <a:latin typeface="Roboto"/>
                <a:ea typeface="Roboto"/>
                <a:cs typeface="Roboto"/>
                <a:sym typeface="Roboto"/>
              </a:rPr>
              <a:t>WHY?</a:t>
            </a:r>
            <a:endParaRPr u="sng">
              <a:solidFill>
                <a:srgbClr val="D71600"/>
              </a:solidFill>
              <a:latin typeface="Roboto"/>
              <a:ea typeface="Roboto"/>
              <a:cs typeface="Roboto"/>
              <a:sym typeface="Roboto"/>
            </a:endParaRPr>
          </a:p>
          <a:p>
            <a:pPr indent="-317500" lvl="0" marL="457200" rtl="0" algn="l">
              <a:spcBef>
                <a:spcPts val="1200"/>
              </a:spcBef>
              <a:spcAft>
                <a:spcPts val="0"/>
              </a:spcAft>
              <a:buClr>
                <a:srgbClr val="D71600"/>
              </a:buClr>
              <a:buSzPts val="1400"/>
              <a:buFont typeface="Roboto"/>
              <a:buChar char="●"/>
            </a:pPr>
            <a:r>
              <a:rPr lang="en">
                <a:solidFill>
                  <a:srgbClr val="D71600"/>
                </a:solidFill>
                <a:latin typeface="Roboto"/>
                <a:ea typeface="Roboto"/>
                <a:cs typeface="Roboto"/>
                <a:sym typeface="Roboto"/>
              </a:rPr>
              <a:t>Fast lead time→ quick market entry</a:t>
            </a:r>
            <a:endParaRPr>
              <a:solidFill>
                <a:srgbClr val="D71600"/>
              </a:solidFill>
              <a:latin typeface="Roboto"/>
              <a:ea typeface="Roboto"/>
              <a:cs typeface="Roboto"/>
              <a:sym typeface="Roboto"/>
            </a:endParaRPr>
          </a:p>
          <a:p>
            <a:pPr indent="-317500" lvl="0" marL="457200" rtl="0" algn="l">
              <a:spcBef>
                <a:spcPts val="1000"/>
              </a:spcBef>
              <a:spcAft>
                <a:spcPts val="0"/>
              </a:spcAft>
              <a:buClr>
                <a:srgbClr val="D71600"/>
              </a:buClr>
              <a:buSzPts val="1400"/>
              <a:buFont typeface="Roboto"/>
              <a:buChar char="●"/>
            </a:pPr>
            <a:r>
              <a:rPr lang="en">
                <a:solidFill>
                  <a:srgbClr val="D71600"/>
                </a:solidFill>
                <a:latin typeface="Roboto"/>
                <a:ea typeface="Roboto"/>
                <a:cs typeface="Roboto"/>
                <a:sym typeface="Roboto"/>
              </a:rPr>
              <a:t>Increase flexibility</a:t>
            </a:r>
            <a:endParaRPr>
              <a:solidFill>
                <a:srgbClr val="D71600"/>
              </a:solidFill>
              <a:latin typeface="Roboto"/>
              <a:ea typeface="Roboto"/>
              <a:cs typeface="Roboto"/>
              <a:sym typeface="Roboto"/>
            </a:endParaRPr>
          </a:p>
          <a:p>
            <a:pPr indent="-317500" lvl="0" marL="457200" rtl="0" algn="l">
              <a:spcBef>
                <a:spcPts val="1000"/>
              </a:spcBef>
              <a:spcAft>
                <a:spcPts val="0"/>
              </a:spcAft>
              <a:buClr>
                <a:srgbClr val="D71600"/>
              </a:buClr>
              <a:buSzPts val="1400"/>
              <a:buFont typeface="Roboto"/>
              <a:buChar char="●"/>
            </a:pPr>
            <a:r>
              <a:rPr lang="en">
                <a:solidFill>
                  <a:srgbClr val="D71600"/>
                </a:solidFill>
                <a:latin typeface="Roboto"/>
                <a:ea typeface="Roboto"/>
                <a:cs typeface="Roboto"/>
                <a:sym typeface="Roboto"/>
              </a:rPr>
              <a:t>Produce the sutures at a lower cost</a:t>
            </a:r>
            <a:endParaRPr>
              <a:solidFill>
                <a:srgbClr val="D71600"/>
              </a:solidFill>
              <a:latin typeface="Roboto"/>
              <a:ea typeface="Roboto"/>
              <a:cs typeface="Roboto"/>
              <a:sym typeface="Roboto"/>
            </a:endParaRPr>
          </a:p>
          <a:p>
            <a:pPr indent="-304800" lvl="1" marL="914400" rtl="0" algn="l">
              <a:spcBef>
                <a:spcPts val="1000"/>
              </a:spcBef>
              <a:spcAft>
                <a:spcPts val="0"/>
              </a:spcAft>
              <a:buClr>
                <a:srgbClr val="D71600"/>
              </a:buClr>
              <a:buSzPts val="1200"/>
              <a:buFont typeface="Roboto"/>
              <a:buChar char="○"/>
            </a:pPr>
            <a:r>
              <a:rPr lang="en">
                <a:solidFill>
                  <a:srgbClr val="D71600"/>
                </a:solidFill>
                <a:latin typeface="Roboto"/>
                <a:ea typeface="Roboto"/>
                <a:cs typeface="Roboto"/>
                <a:sym typeface="Roboto"/>
              </a:rPr>
              <a:t>Decrease the amount of investment on manufacturing capacity</a:t>
            </a:r>
            <a:endParaRPr>
              <a:solidFill>
                <a:srgbClr val="D71600"/>
              </a:solidFill>
              <a:latin typeface="Roboto"/>
              <a:ea typeface="Roboto"/>
              <a:cs typeface="Roboto"/>
              <a:sym typeface="Roboto"/>
            </a:endParaRPr>
          </a:p>
          <a:p>
            <a:pPr indent="-304800" lvl="1" marL="914400" rtl="0" algn="l">
              <a:spcBef>
                <a:spcPts val="1000"/>
              </a:spcBef>
              <a:spcAft>
                <a:spcPts val="1000"/>
              </a:spcAft>
              <a:buClr>
                <a:srgbClr val="D71600"/>
              </a:buClr>
              <a:buSzPts val="1200"/>
              <a:buFont typeface="Roboto"/>
              <a:buChar char="○"/>
            </a:pPr>
            <a:r>
              <a:rPr lang="en">
                <a:solidFill>
                  <a:srgbClr val="D71600"/>
                </a:solidFill>
                <a:latin typeface="Roboto"/>
                <a:ea typeface="Roboto"/>
                <a:cs typeface="Roboto"/>
                <a:sym typeface="Roboto"/>
              </a:rPr>
              <a:t>Suppliers can achieve economies of scale</a:t>
            </a:r>
            <a:endParaRPr>
              <a:solidFill>
                <a:srgbClr val="D71600"/>
              </a:solidFill>
              <a:latin typeface="Roboto"/>
              <a:ea typeface="Roboto"/>
              <a:cs typeface="Roboto"/>
              <a:sym typeface="Roboto"/>
            </a:endParaRPr>
          </a:p>
        </p:txBody>
      </p:sp>
      <p:sp>
        <p:nvSpPr>
          <p:cNvPr id="152" name="Google Shape;152;p19"/>
          <p:cNvSpPr txBox="1"/>
          <p:nvPr>
            <p:ph idx="2" type="body"/>
          </p:nvPr>
        </p:nvSpPr>
        <p:spPr>
          <a:xfrm>
            <a:off x="4832400" y="1621225"/>
            <a:ext cx="39999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rgbClr val="D71600"/>
                </a:solidFill>
                <a:latin typeface="Roboto"/>
                <a:ea typeface="Roboto"/>
                <a:cs typeface="Roboto"/>
                <a:sym typeface="Roboto"/>
              </a:rPr>
              <a:t>HOW?</a:t>
            </a:r>
            <a:endParaRPr u="sng">
              <a:solidFill>
                <a:srgbClr val="D71600"/>
              </a:solidFill>
              <a:latin typeface="Roboto"/>
              <a:ea typeface="Roboto"/>
              <a:cs typeface="Roboto"/>
              <a:sym typeface="Roboto"/>
            </a:endParaRPr>
          </a:p>
          <a:p>
            <a:pPr indent="-317500" lvl="0" marL="457200" rtl="0" algn="l">
              <a:spcBef>
                <a:spcPts val="1200"/>
              </a:spcBef>
              <a:spcAft>
                <a:spcPts val="0"/>
              </a:spcAft>
              <a:buClr>
                <a:srgbClr val="D71600"/>
              </a:buClr>
              <a:buSzPts val="1400"/>
              <a:buFont typeface="Roboto"/>
              <a:buChar char="●"/>
            </a:pPr>
            <a:r>
              <a:rPr lang="en">
                <a:solidFill>
                  <a:srgbClr val="D71600"/>
                </a:solidFill>
                <a:latin typeface="Roboto"/>
                <a:ea typeface="Roboto"/>
                <a:cs typeface="Roboto"/>
                <a:sym typeface="Roboto"/>
              </a:rPr>
              <a:t>Spiral sutures: outsource raw materials</a:t>
            </a:r>
            <a:endParaRPr>
              <a:solidFill>
                <a:srgbClr val="D71600"/>
              </a:solidFill>
              <a:latin typeface="Roboto"/>
              <a:ea typeface="Roboto"/>
              <a:cs typeface="Roboto"/>
              <a:sym typeface="Roboto"/>
            </a:endParaRPr>
          </a:p>
          <a:p>
            <a:pPr indent="-317500" lvl="0" marL="457200" rtl="0" algn="l">
              <a:spcBef>
                <a:spcPts val="1000"/>
              </a:spcBef>
              <a:spcAft>
                <a:spcPts val="0"/>
              </a:spcAft>
              <a:buClr>
                <a:srgbClr val="D71600"/>
              </a:buClr>
              <a:buSzPts val="1400"/>
              <a:buFont typeface="Roboto"/>
              <a:buChar char="●"/>
            </a:pPr>
            <a:r>
              <a:rPr lang="en">
                <a:solidFill>
                  <a:srgbClr val="D71600"/>
                </a:solidFill>
                <a:latin typeface="Roboto"/>
                <a:ea typeface="Roboto"/>
                <a:cs typeface="Roboto"/>
                <a:sym typeface="Roboto"/>
              </a:rPr>
              <a:t>Symmetric sutures: outsource standard production</a:t>
            </a:r>
            <a:endParaRPr>
              <a:solidFill>
                <a:srgbClr val="D71600"/>
              </a:solidFill>
              <a:latin typeface="Roboto"/>
              <a:ea typeface="Roboto"/>
              <a:cs typeface="Roboto"/>
              <a:sym typeface="Roboto"/>
            </a:endParaRPr>
          </a:p>
          <a:p>
            <a:pPr indent="-317500" lvl="0" marL="457200" rtl="0" algn="l">
              <a:spcBef>
                <a:spcPts val="1000"/>
              </a:spcBef>
              <a:spcAft>
                <a:spcPts val="0"/>
              </a:spcAft>
              <a:buClr>
                <a:srgbClr val="D71600"/>
              </a:buClr>
              <a:buSzPts val="1400"/>
              <a:buFont typeface="Roboto"/>
              <a:buChar char="●"/>
            </a:pPr>
            <a:r>
              <a:rPr lang="en">
                <a:solidFill>
                  <a:srgbClr val="D71600"/>
                </a:solidFill>
                <a:latin typeface="Roboto"/>
                <a:ea typeface="Roboto"/>
                <a:cs typeface="Roboto"/>
                <a:sym typeface="Roboto"/>
              </a:rPr>
              <a:t>Maintain relationship with suppliers</a:t>
            </a:r>
            <a:endParaRPr>
              <a:solidFill>
                <a:srgbClr val="D71600"/>
              </a:solidFill>
              <a:latin typeface="Roboto"/>
              <a:ea typeface="Roboto"/>
              <a:cs typeface="Roboto"/>
              <a:sym typeface="Roboto"/>
            </a:endParaRPr>
          </a:p>
          <a:p>
            <a:pPr indent="-304800" lvl="1" marL="914400" rtl="0" algn="l">
              <a:spcBef>
                <a:spcPts val="1000"/>
              </a:spcBef>
              <a:spcAft>
                <a:spcPts val="1000"/>
              </a:spcAft>
              <a:buClr>
                <a:srgbClr val="D71600"/>
              </a:buClr>
              <a:buSzPts val="1200"/>
              <a:buFont typeface="Roboto"/>
              <a:buChar char="○"/>
            </a:pPr>
            <a:r>
              <a:rPr lang="en">
                <a:solidFill>
                  <a:srgbClr val="D71600"/>
                </a:solidFill>
                <a:latin typeface="Roboto"/>
                <a:ea typeface="Roboto"/>
                <a:cs typeface="Roboto"/>
                <a:sym typeface="Roboto"/>
              </a:rPr>
              <a:t>Multi supplier strategy</a:t>
            </a:r>
            <a:endParaRPr>
              <a:solidFill>
                <a:srgbClr val="D716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Human Capital: BASE</a:t>
            </a:r>
            <a:endParaRPr b="1">
              <a:solidFill>
                <a:srgbClr val="D71600"/>
              </a:solidFill>
              <a:latin typeface="Roboto"/>
              <a:ea typeface="Roboto"/>
              <a:cs typeface="Roboto"/>
              <a:sym typeface="Roboto"/>
            </a:endParaRPr>
          </a:p>
        </p:txBody>
      </p:sp>
      <p:sp>
        <p:nvSpPr>
          <p:cNvPr id="158" name="Google Shape;158;p20"/>
          <p:cNvSpPr txBox="1"/>
          <p:nvPr>
            <p:ph idx="1" type="body"/>
          </p:nvPr>
        </p:nvSpPr>
        <p:spPr>
          <a:xfrm>
            <a:off x="262950" y="1468825"/>
            <a:ext cx="41844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rgbClr val="D71600"/>
                </a:solidFill>
                <a:latin typeface="Roboto"/>
                <a:ea typeface="Roboto"/>
                <a:cs typeface="Roboto"/>
                <a:sym typeface="Roboto"/>
              </a:rPr>
              <a:t>WHY?</a:t>
            </a:r>
            <a:endParaRPr u="sng">
              <a:solidFill>
                <a:srgbClr val="D71600"/>
              </a:solidFill>
              <a:latin typeface="Roboto"/>
              <a:ea typeface="Roboto"/>
              <a:cs typeface="Roboto"/>
              <a:sym typeface="Roboto"/>
            </a:endParaRPr>
          </a:p>
          <a:p>
            <a:pPr indent="-317500" lvl="0" marL="457200" rtl="0" algn="l">
              <a:spcBef>
                <a:spcPts val="1200"/>
              </a:spcBef>
              <a:spcAft>
                <a:spcPts val="0"/>
              </a:spcAft>
              <a:buClr>
                <a:srgbClr val="D71600"/>
              </a:buClr>
              <a:buSzPts val="1400"/>
              <a:buFont typeface="Roboto"/>
              <a:buChar char="●"/>
            </a:pPr>
            <a:r>
              <a:rPr lang="en">
                <a:solidFill>
                  <a:srgbClr val="D71600"/>
                </a:solidFill>
                <a:latin typeface="Roboto"/>
                <a:ea typeface="Roboto"/>
                <a:cs typeface="Roboto"/>
                <a:sym typeface="Roboto"/>
              </a:rPr>
              <a:t>We do not need specialized workers because most production will be outsourced</a:t>
            </a:r>
            <a:endParaRPr>
              <a:solidFill>
                <a:srgbClr val="D71600"/>
              </a:solidFill>
              <a:latin typeface="Roboto"/>
              <a:ea typeface="Roboto"/>
              <a:cs typeface="Roboto"/>
              <a:sym typeface="Roboto"/>
            </a:endParaRPr>
          </a:p>
          <a:p>
            <a:pPr indent="-317500" lvl="0" marL="457200" rtl="0" algn="l">
              <a:spcBef>
                <a:spcPts val="1000"/>
              </a:spcBef>
              <a:spcAft>
                <a:spcPts val="0"/>
              </a:spcAft>
              <a:buClr>
                <a:srgbClr val="D71600"/>
              </a:buClr>
              <a:buSzPts val="1400"/>
              <a:buFont typeface="Roboto"/>
              <a:buChar char="●"/>
            </a:pPr>
            <a:r>
              <a:rPr lang="en">
                <a:solidFill>
                  <a:srgbClr val="D71600"/>
                </a:solidFill>
                <a:latin typeface="Roboto"/>
                <a:ea typeface="Roboto"/>
                <a:cs typeface="Roboto"/>
                <a:sym typeface="Roboto"/>
              </a:rPr>
              <a:t>Can perform multiple operational tasks</a:t>
            </a:r>
            <a:endParaRPr>
              <a:solidFill>
                <a:srgbClr val="D71600"/>
              </a:solidFill>
              <a:latin typeface="Roboto"/>
              <a:ea typeface="Roboto"/>
              <a:cs typeface="Roboto"/>
              <a:sym typeface="Roboto"/>
            </a:endParaRPr>
          </a:p>
          <a:p>
            <a:pPr indent="-317500" lvl="0" marL="457200" rtl="0" algn="l">
              <a:spcBef>
                <a:spcPts val="1000"/>
              </a:spcBef>
              <a:spcAft>
                <a:spcPts val="0"/>
              </a:spcAft>
              <a:buClr>
                <a:srgbClr val="D71600"/>
              </a:buClr>
              <a:buSzPts val="1400"/>
              <a:buFont typeface="Roboto"/>
              <a:buChar char="●"/>
            </a:pPr>
            <a:r>
              <a:rPr lang="en">
                <a:solidFill>
                  <a:srgbClr val="D71600"/>
                </a:solidFill>
                <a:latin typeface="Roboto"/>
                <a:ea typeface="Roboto"/>
                <a:cs typeface="Roboto"/>
                <a:sym typeface="Roboto"/>
              </a:rPr>
              <a:t>Cost efficient compared to contracting/full time</a:t>
            </a:r>
            <a:endParaRPr>
              <a:solidFill>
                <a:srgbClr val="D71600"/>
              </a:solidFill>
              <a:latin typeface="Roboto"/>
              <a:ea typeface="Roboto"/>
              <a:cs typeface="Roboto"/>
              <a:sym typeface="Roboto"/>
            </a:endParaRPr>
          </a:p>
          <a:p>
            <a:pPr indent="-317500" lvl="0" marL="457200" rtl="0" algn="l">
              <a:spcBef>
                <a:spcPts val="1000"/>
              </a:spcBef>
              <a:spcAft>
                <a:spcPts val="1000"/>
              </a:spcAft>
              <a:buClr>
                <a:srgbClr val="D71600"/>
              </a:buClr>
              <a:buSzPts val="1400"/>
              <a:buFont typeface="Roboto"/>
              <a:buChar char="●"/>
            </a:pPr>
            <a:r>
              <a:rPr lang="en">
                <a:solidFill>
                  <a:srgbClr val="D71600"/>
                </a:solidFill>
                <a:latin typeface="Roboto"/>
                <a:ea typeface="Roboto"/>
                <a:cs typeface="Roboto"/>
                <a:sym typeface="Roboto"/>
              </a:rPr>
              <a:t>Easier to adjust with changes in demand</a:t>
            </a:r>
            <a:endParaRPr>
              <a:solidFill>
                <a:srgbClr val="D71600"/>
              </a:solidFill>
              <a:latin typeface="Roboto"/>
              <a:ea typeface="Roboto"/>
              <a:cs typeface="Roboto"/>
              <a:sym typeface="Roboto"/>
            </a:endParaRPr>
          </a:p>
        </p:txBody>
      </p:sp>
      <p:sp>
        <p:nvSpPr>
          <p:cNvPr id="159" name="Google Shape;159;p20"/>
          <p:cNvSpPr txBox="1"/>
          <p:nvPr>
            <p:ph idx="1" type="body"/>
          </p:nvPr>
        </p:nvSpPr>
        <p:spPr>
          <a:xfrm>
            <a:off x="4647900" y="1564350"/>
            <a:ext cx="4184400" cy="309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rgbClr val="D71600"/>
                </a:solidFill>
                <a:latin typeface="Roboto"/>
                <a:ea typeface="Roboto"/>
                <a:cs typeface="Roboto"/>
                <a:sym typeface="Roboto"/>
              </a:rPr>
              <a:t>HOW?</a:t>
            </a:r>
            <a:endParaRPr u="sng">
              <a:solidFill>
                <a:srgbClr val="D71600"/>
              </a:solidFill>
              <a:latin typeface="Roboto"/>
              <a:ea typeface="Roboto"/>
              <a:cs typeface="Roboto"/>
              <a:sym typeface="Roboto"/>
            </a:endParaRPr>
          </a:p>
          <a:p>
            <a:pPr indent="-317500" lvl="0" marL="457200" rtl="0" algn="l">
              <a:spcBef>
                <a:spcPts val="1200"/>
              </a:spcBef>
              <a:spcAft>
                <a:spcPts val="0"/>
              </a:spcAft>
              <a:buClr>
                <a:srgbClr val="D71600"/>
              </a:buClr>
              <a:buSzPts val="1400"/>
              <a:buFont typeface="Roboto"/>
              <a:buChar char="●"/>
            </a:pPr>
            <a:r>
              <a:rPr lang="en">
                <a:solidFill>
                  <a:srgbClr val="D71600"/>
                </a:solidFill>
                <a:latin typeface="Roboto"/>
                <a:ea typeface="Roboto"/>
                <a:cs typeface="Roboto"/>
                <a:sym typeface="Roboto"/>
              </a:rPr>
              <a:t>Provide basic training for operations</a:t>
            </a:r>
            <a:endParaRPr>
              <a:solidFill>
                <a:srgbClr val="D71600"/>
              </a:solidFill>
              <a:latin typeface="Roboto"/>
              <a:ea typeface="Roboto"/>
              <a:cs typeface="Roboto"/>
              <a:sym typeface="Roboto"/>
            </a:endParaRPr>
          </a:p>
          <a:p>
            <a:pPr indent="-317500" lvl="0" marL="457200" rtl="0" algn="l">
              <a:spcBef>
                <a:spcPts val="1000"/>
              </a:spcBef>
              <a:spcAft>
                <a:spcPts val="1000"/>
              </a:spcAft>
              <a:buClr>
                <a:srgbClr val="D71600"/>
              </a:buClr>
              <a:buSzPts val="1400"/>
              <a:buFont typeface="Roboto"/>
              <a:buChar char="●"/>
            </a:pPr>
            <a:r>
              <a:rPr lang="en">
                <a:solidFill>
                  <a:srgbClr val="D71600"/>
                </a:solidFill>
                <a:latin typeface="Roboto"/>
                <a:ea typeface="Roboto"/>
                <a:cs typeface="Roboto"/>
                <a:sym typeface="Roboto"/>
              </a:rPr>
              <a:t>Assign routine tasks that help benefit the outsourcing initiative</a:t>
            </a:r>
            <a:endParaRPr>
              <a:solidFill>
                <a:srgbClr val="D71600"/>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latin typeface="Roboto"/>
                <a:ea typeface="Roboto"/>
                <a:cs typeface="Roboto"/>
                <a:sym typeface="Roboto"/>
              </a:rPr>
              <a:t>SWOT/Risk Analysis</a:t>
            </a:r>
            <a:endParaRPr b="1">
              <a:latin typeface="Roboto"/>
              <a:ea typeface="Roboto"/>
              <a:cs typeface="Roboto"/>
              <a:sym typeface="Roboto"/>
            </a:endParaRPr>
          </a:p>
        </p:txBody>
      </p:sp>
      <p:pic>
        <p:nvPicPr>
          <p:cNvPr id="165" name="Google Shape;165;p21"/>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22"/>
          <p:cNvGrpSpPr/>
          <p:nvPr/>
        </p:nvGrpSpPr>
        <p:grpSpPr>
          <a:xfrm>
            <a:off x="221471" y="75750"/>
            <a:ext cx="4389702" cy="4186517"/>
            <a:chOff x="2744034" y="1146343"/>
            <a:chExt cx="1827900" cy="2399700"/>
          </a:xfrm>
        </p:grpSpPr>
        <p:sp>
          <p:nvSpPr>
            <p:cNvPr id="171" name="Google Shape;171;p22"/>
            <p:cNvSpPr/>
            <p:nvPr/>
          </p:nvSpPr>
          <p:spPr>
            <a:xfrm rot="-5400000">
              <a:off x="2458134" y="1432243"/>
              <a:ext cx="2399700" cy="1827900"/>
            </a:xfrm>
            <a:prstGeom prst="rightArrowCallout">
              <a:avLst>
                <a:gd fmla="val 9283" name="adj1"/>
                <a:gd fmla="val 13570" name="adj2"/>
                <a:gd fmla="val 16082" name="adj3"/>
                <a:gd fmla="val 81236" name="adj4"/>
              </a:avLst>
            </a:prstGeom>
            <a:solidFill>
              <a:srgbClr val="EDA29B"/>
            </a:solidFill>
            <a:ln>
              <a:noFill/>
            </a:ln>
          </p:spPr>
          <p:txBody>
            <a:bodyPr anchorCtr="0" anchor="ctr" bIns="159475" lIns="159475" spcFirstLastPara="1" rIns="159475" wrap="square" tIns="159475">
              <a:noAutofit/>
            </a:bodyPr>
            <a:lstStyle/>
            <a:p>
              <a:pPr indent="0" lvl="0" marL="0" rtl="0" algn="l">
                <a:spcBef>
                  <a:spcPts val="0"/>
                </a:spcBef>
                <a:spcAft>
                  <a:spcPts val="0"/>
                </a:spcAft>
                <a:buNone/>
              </a:pPr>
              <a:r>
                <a:t/>
              </a:r>
              <a:endParaRPr/>
            </a:p>
          </p:txBody>
        </p:sp>
        <p:sp>
          <p:nvSpPr>
            <p:cNvPr id="172" name="Google Shape;172;p22"/>
            <p:cNvSpPr/>
            <p:nvPr/>
          </p:nvSpPr>
          <p:spPr>
            <a:xfrm flipH="1">
              <a:off x="2832600" y="1686400"/>
              <a:ext cx="1649400" cy="1769700"/>
            </a:xfrm>
            <a:prstGeom prst="snip1Rect">
              <a:avLst>
                <a:gd fmla="val 0" name="adj"/>
              </a:avLst>
            </a:prstGeom>
            <a:solidFill>
              <a:srgbClr val="A7291E"/>
            </a:solidFill>
            <a:ln>
              <a:noFill/>
            </a:ln>
          </p:spPr>
          <p:txBody>
            <a:bodyPr anchorCtr="0" anchor="ctr" bIns="159475" lIns="159475" spcFirstLastPara="1" rIns="159475" wrap="square" tIns="159475">
              <a:noAutofit/>
            </a:bodyPr>
            <a:lstStyle/>
            <a:p>
              <a:pPr indent="0" lvl="0" marL="0" rtl="0" algn="l">
                <a:spcBef>
                  <a:spcPts val="0"/>
                </a:spcBef>
                <a:spcAft>
                  <a:spcPts val="0"/>
                </a:spcAft>
                <a:buNone/>
              </a:pPr>
              <a:r>
                <a:t/>
              </a:r>
              <a:endParaRPr/>
            </a:p>
          </p:txBody>
        </p:sp>
        <p:sp>
          <p:nvSpPr>
            <p:cNvPr id="173" name="Google Shape;173;p22"/>
            <p:cNvSpPr txBox="1"/>
            <p:nvPr/>
          </p:nvSpPr>
          <p:spPr>
            <a:xfrm>
              <a:off x="2965799" y="1738394"/>
              <a:ext cx="1383000" cy="1677300"/>
            </a:xfrm>
            <a:prstGeom prst="rect">
              <a:avLst/>
            </a:prstGeom>
            <a:noFill/>
            <a:ln>
              <a:noFill/>
            </a:ln>
          </p:spPr>
          <p:txBody>
            <a:bodyPr anchorCtr="0" anchor="t" bIns="159475" lIns="159475" spcFirstLastPara="1" rIns="159475" wrap="square" tIns="159475">
              <a:spAutoFit/>
            </a:bodyPr>
            <a:lstStyle/>
            <a:p>
              <a:pPr indent="0" lvl="0" marL="0" rtl="0" algn="ctr">
                <a:lnSpc>
                  <a:spcPct val="115000"/>
                </a:lnSpc>
                <a:spcBef>
                  <a:spcPts val="0"/>
                </a:spcBef>
                <a:spcAft>
                  <a:spcPts val="0"/>
                </a:spcAft>
                <a:buNone/>
              </a:pPr>
              <a:r>
                <a:rPr b="1" lang="en" sz="1900">
                  <a:solidFill>
                    <a:schemeClr val="lt1"/>
                  </a:solidFill>
                  <a:latin typeface="Roboto"/>
                  <a:ea typeface="Roboto"/>
                  <a:cs typeface="Roboto"/>
                  <a:sym typeface="Roboto"/>
                </a:rPr>
                <a:t>Strengths</a:t>
              </a:r>
              <a:endParaRPr b="1" sz="1900">
                <a:solidFill>
                  <a:schemeClr val="lt1"/>
                </a:solidFill>
                <a:latin typeface="Roboto"/>
                <a:ea typeface="Roboto"/>
                <a:cs typeface="Roboto"/>
                <a:sym typeface="Roboto"/>
              </a:endParaRPr>
            </a:p>
            <a:p>
              <a:pPr indent="0" lvl="0" marL="0" rtl="0" algn="ctr">
                <a:lnSpc>
                  <a:spcPct val="115000"/>
                </a:lnSpc>
                <a:spcBef>
                  <a:spcPts val="0"/>
                </a:spcBef>
                <a:spcAft>
                  <a:spcPts val="0"/>
                </a:spcAft>
                <a:buNone/>
              </a:pPr>
              <a:r>
                <a:t/>
              </a:r>
              <a:endParaRPr sz="968">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#1 position in non-barbed suture market</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128K+ employees &amp; global reach (250+ operating companies)</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Existing plant in Cornelia, GA</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Strong hospital relationships &amp; trusted brand (since 1886)</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$67.2B in revenue</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Deep MedTech R&amp;D infrastructure</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Credo-driven culture builds trust</a:t>
              </a:r>
              <a:endParaRPr b="1" sz="1200">
                <a:solidFill>
                  <a:srgbClr val="FFFFFF"/>
                </a:solidFill>
                <a:latin typeface="Roboto"/>
                <a:ea typeface="Roboto"/>
                <a:cs typeface="Roboto"/>
                <a:sym typeface="Roboto"/>
              </a:endParaRPr>
            </a:p>
          </p:txBody>
        </p:sp>
      </p:grpSp>
      <p:grpSp>
        <p:nvGrpSpPr>
          <p:cNvPr id="174" name="Google Shape;174;p22"/>
          <p:cNvGrpSpPr/>
          <p:nvPr/>
        </p:nvGrpSpPr>
        <p:grpSpPr>
          <a:xfrm>
            <a:off x="4611532" y="862785"/>
            <a:ext cx="4389702" cy="4186517"/>
            <a:chOff x="4572084" y="1597469"/>
            <a:chExt cx="1827900" cy="2399700"/>
          </a:xfrm>
        </p:grpSpPr>
        <p:sp>
          <p:nvSpPr>
            <p:cNvPr id="175" name="Google Shape;175;p22"/>
            <p:cNvSpPr/>
            <p:nvPr/>
          </p:nvSpPr>
          <p:spPr>
            <a:xfrm rot="5400000">
              <a:off x="4286184" y="1883369"/>
              <a:ext cx="2399700" cy="1827900"/>
            </a:xfrm>
            <a:prstGeom prst="rightArrowCallout">
              <a:avLst>
                <a:gd fmla="val 9283" name="adj1"/>
                <a:gd fmla="val 13570" name="adj2"/>
                <a:gd fmla="val 16082" name="adj3"/>
                <a:gd fmla="val 81236" name="adj4"/>
              </a:avLst>
            </a:prstGeom>
            <a:solidFill>
              <a:srgbClr val="801F17"/>
            </a:solidFill>
            <a:ln>
              <a:noFill/>
            </a:ln>
          </p:spPr>
          <p:txBody>
            <a:bodyPr anchorCtr="0" anchor="ctr" bIns="159475" lIns="159475" spcFirstLastPara="1" rIns="159475" wrap="square" tIns="159475">
              <a:noAutofit/>
            </a:bodyPr>
            <a:lstStyle/>
            <a:p>
              <a:pPr indent="0" lvl="0" marL="0" rtl="0" algn="l">
                <a:spcBef>
                  <a:spcPts val="0"/>
                </a:spcBef>
                <a:spcAft>
                  <a:spcPts val="0"/>
                </a:spcAft>
                <a:buNone/>
              </a:pPr>
              <a:r>
                <a:t/>
              </a:r>
              <a:endParaRPr/>
            </a:p>
          </p:txBody>
        </p:sp>
        <p:sp>
          <p:nvSpPr>
            <p:cNvPr id="176" name="Google Shape;176;p22"/>
            <p:cNvSpPr/>
            <p:nvPr/>
          </p:nvSpPr>
          <p:spPr>
            <a:xfrm flipH="1" rot="10800000">
              <a:off x="4662018" y="1687411"/>
              <a:ext cx="1649400" cy="1769700"/>
            </a:xfrm>
            <a:prstGeom prst="snip1Rect">
              <a:avLst>
                <a:gd fmla="val 0" name="adj"/>
              </a:avLst>
            </a:prstGeom>
            <a:solidFill>
              <a:srgbClr val="A7291E"/>
            </a:solidFill>
            <a:ln>
              <a:noFill/>
            </a:ln>
          </p:spPr>
          <p:txBody>
            <a:bodyPr anchorCtr="0" anchor="ctr" bIns="159475" lIns="159475" spcFirstLastPara="1" rIns="159475" wrap="square" tIns="159475">
              <a:noAutofit/>
            </a:bodyPr>
            <a:lstStyle/>
            <a:p>
              <a:pPr indent="0" lvl="0" marL="0" rtl="0" algn="l">
                <a:spcBef>
                  <a:spcPts val="0"/>
                </a:spcBef>
                <a:spcAft>
                  <a:spcPts val="0"/>
                </a:spcAft>
                <a:buNone/>
              </a:pPr>
              <a:r>
                <a:t/>
              </a:r>
              <a:endParaRPr/>
            </a:p>
          </p:txBody>
        </p:sp>
        <p:sp>
          <p:nvSpPr>
            <p:cNvPr id="177" name="Google Shape;177;p22"/>
            <p:cNvSpPr txBox="1"/>
            <p:nvPr/>
          </p:nvSpPr>
          <p:spPr>
            <a:xfrm>
              <a:off x="4767620" y="1738391"/>
              <a:ext cx="1438200" cy="1677300"/>
            </a:xfrm>
            <a:prstGeom prst="rect">
              <a:avLst/>
            </a:prstGeom>
            <a:noFill/>
            <a:ln>
              <a:noFill/>
            </a:ln>
          </p:spPr>
          <p:txBody>
            <a:bodyPr anchorCtr="0" anchor="t" bIns="159475" lIns="159475" spcFirstLastPara="1" rIns="159475" wrap="square" tIns="159475">
              <a:spAutoFit/>
            </a:bodyPr>
            <a:lstStyle/>
            <a:p>
              <a:pPr indent="0" lvl="0" marL="0" rtl="0" algn="ctr">
                <a:lnSpc>
                  <a:spcPct val="115000"/>
                </a:lnSpc>
                <a:spcBef>
                  <a:spcPts val="0"/>
                </a:spcBef>
                <a:spcAft>
                  <a:spcPts val="0"/>
                </a:spcAft>
                <a:buNone/>
              </a:pPr>
              <a:r>
                <a:rPr b="1" lang="en" sz="1900">
                  <a:solidFill>
                    <a:schemeClr val="lt1"/>
                  </a:solidFill>
                  <a:latin typeface="Roboto"/>
                  <a:ea typeface="Roboto"/>
                  <a:cs typeface="Roboto"/>
                  <a:sym typeface="Roboto"/>
                </a:rPr>
                <a:t>Weaknesses</a:t>
              </a:r>
              <a:endParaRPr b="1" sz="1900">
                <a:solidFill>
                  <a:schemeClr val="lt1"/>
                </a:solidFill>
                <a:latin typeface="Roboto"/>
                <a:ea typeface="Roboto"/>
                <a:cs typeface="Roboto"/>
                <a:sym typeface="Roboto"/>
              </a:endParaRPr>
            </a:p>
            <a:p>
              <a:pPr indent="0" lvl="0" marL="0" rtl="0" algn="ctr">
                <a:lnSpc>
                  <a:spcPct val="115000"/>
                </a:lnSpc>
                <a:spcBef>
                  <a:spcPts val="0"/>
                </a:spcBef>
                <a:spcAft>
                  <a:spcPts val="0"/>
                </a:spcAft>
                <a:buNone/>
              </a:pPr>
              <a:r>
                <a:t/>
              </a:r>
              <a:endParaRPr sz="968">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No barbed suture product yet</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Late to a shifting market</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Existing plant at full capacity</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Long build times (3-5 yrs) for new plant</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Regulatory approval is costly &amp; slow</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High fixed operating costs</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Building spiral suture IP from scratch requires R&amp;D investment &amp; time</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Surgical staples/adhesives compete with sutures broadly</a:t>
              </a:r>
              <a:endParaRPr sz="1200">
                <a:solidFill>
                  <a:schemeClr val="lt1"/>
                </a:solidFill>
                <a:latin typeface="Roboto"/>
                <a:ea typeface="Roboto"/>
                <a:cs typeface="Roboto"/>
                <a:sym typeface="Roboto"/>
              </a:endParaRPr>
            </a:p>
          </p:txBody>
        </p:sp>
      </p:grpSp>
      <p:pic>
        <p:nvPicPr>
          <p:cNvPr id="178" name="Google Shape;178;p22"/>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grpSp>
        <p:nvGrpSpPr>
          <p:cNvPr id="183" name="Google Shape;183;p23"/>
          <p:cNvGrpSpPr/>
          <p:nvPr/>
        </p:nvGrpSpPr>
        <p:grpSpPr>
          <a:xfrm>
            <a:off x="221471" y="75750"/>
            <a:ext cx="4389702" cy="4186517"/>
            <a:chOff x="2744034" y="1146343"/>
            <a:chExt cx="1827900" cy="2399700"/>
          </a:xfrm>
        </p:grpSpPr>
        <p:sp>
          <p:nvSpPr>
            <p:cNvPr id="184" name="Google Shape;184;p23"/>
            <p:cNvSpPr/>
            <p:nvPr/>
          </p:nvSpPr>
          <p:spPr>
            <a:xfrm rot="-5400000">
              <a:off x="2458134" y="1432243"/>
              <a:ext cx="2399700" cy="1827900"/>
            </a:xfrm>
            <a:prstGeom prst="rightArrowCallout">
              <a:avLst>
                <a:gd fmla="val 9283" name="adj1"/>
                <a:gd fmla="val 13570" name="adj2"/>
                <a:gd fmla="val 16082" name="adj3"/>
                <a:gd fmla="val 81236" name="adj4"/>
              </a:avLst>
            </a:prstGeom>
            <a:solidFill>
              <a:srgbClr val="EDA29B"/>
            </a:solidFill>
            <a:ln>
              <a:noFill/>
            </a:ln>
          </p:spPr>
          <p:txBody>
            <a:bodyPr anchorCtr="0" anchor="ctr" bIns="159475" lIns="159475" spcFirstLastPara="1" rIns="159475" wrap="square" tIns="159475">
              <a:noAutofit/>
            </a:bodyPr>
            <a:lstStyle/>
            <a:p>
              <a:pPr indent="0" lvl="0" marL="0" rtl="0" algn="l">
                <a:spcBef>
                  <a:spcPts val="0"/>
                </a:spcBef>
                <a:spcAft>
                  <a:spcPts val="0"/>
                </a:spcAft>
                <a:buNone/>
              </a:pPr>
              <a:r>
                <a:t/>
              </a:r>
              <a:endParaRPr/>
            </a:p>
          </p:txBody>
        </p:sp>
        <p:sp>
          <p:nvSpPr>
            <p:cNvPr id="185" name="Google Shape;185;p23"/>
            <p:cNvSpPr/>
            <p:nvPr/>
          </p:nvSpPr>
          <p:spPr>
            <a:xfrm flipH="1">
              <a:off x="2832600" y="1686400"/>
              <a:ext cx="1649400" cy="1769700"/>
            </a:xfrm>
            <a:prstGeom prst="snip1Rect">
              <a:avLst>
                <a:gd fmla="val 0" name="adj"/>
              </a:avLst>
            </a:prstGeom>
            <a:solidFill>
              <a:srgbClr val="A7291E"/>
            </a:solidFill>
            <a:ln>
              <a:noFill/>
            </a:ln>
          </p:spPr>
          <p:txBody>
            <a:bodyPr anchorCtr="0" anchor="ctr" bIns="159475" lIns="159475" spcFirstLastPara="1" rIns="159475" wrap="square" tIns="159475">
              <a:noAutofit/>
            </a:bodyPr>
            <a:lstStyle/>
            <a:p>
              <a:pPr indent="0" lvl="0" marL="0" rtl="0" algn="l">
                <a:spcBef>
                  <a:spcPts val="0"/>
                </a:spcBef>
                <a:spcAft>
                  <a:spcPts val="0"/>
                </a:spcAft>
                <a:buNone/>
              </a:pPr>
              <a:r>
                <a:t/>
              </a:r>
              <a:endParaRPr/>
            </a:p>
          </p:txBody>
        </p:sp>
        <p:sp>
          <p:nvSpPr>
            <p:cNvPr id="186" name="Google Shape;186;p23"/>
            <p:cNvSpPr txBox="1"/>
            <p:nvPr/>
          </p:nvSpPr>
          <p:spPr>
            <a:xfrm>
              <a:off x="2873996" y="1738391"/>
              <a:ext cx="1566600" cy="1677300"/>
            </a:xfrm>
            <a:prstGeom prst="rect">
              <a:avLst/>
            </a:prstGeom>
            <a:noFill/>
            <a:ln>
              <a:noFill/>
            </a:ln>
          </p:spPr>
          <p:txBody>
            <a:bodyPr anchorCtr="0" anchor="t" bIns="159475" lIns="159475" spcFirstLastPara="1" rIns="159475" wrap="square" tIns="159475">
              <a:spAutoFit/>
            </a:bodyPr>
            <a:lstStyle/>
            <a:p>
              <a:pPr indent="0" lvl="0" marL="0" rtl="0" algn="ctr">
                <a:lnSpc>
                  <a:spcPct val="115000"/>
                </a:lnSpc>
                <a:spcBef>
                  <a:spcPts val="0"/>
                </a:spcBef>
                <a:spcAft>
                  <a:spcPts val="0"/>
                </a:spcAft>
                <a:buNone/>
              </a:pPr>
              <a:r>
                <a:rPr b="1" lang="en" sz="1900">
                  <a:solidFill>
                    <a:schemeClr val="lt1"/>
                  </a:solidFill>
                  <a:latin typeface="Roboto"/>
                  <a:ea typeface="Roboto"/>
                  <a:cs typeface="Roboto"/>
                  <a:sym typeface="Roboto"/>
                </a:rPr>
                <a:t>Opportunities</a:t>
              </a:r>
              <a:endParaRPr b="1" sz="1900">
                <a:solidFill>
                  <a:schemeClr val="lt1"/>
                </a:solidFill>
                <a:latin typeface="Roboto"/>
                <a:ea typeface="Roboto"/>
                <a:cs typeface="Roboto"/>
                <a:sym typeface="Roboto"/>
              </a:endParaRPr>
            </a:p>
            <a:p>
              <a:pPr indent="0" lvl="0" marL="0" rtl="0" algn="ctr">
                <a:lnSpc>
                  <a:spcPct val="115000"/>
                </a:lnSpc>
                <a:spcBef>
                  <a:spcPts val="0"/>
                </a:spcBef>
                <a:spcAft>
                  <a:spcPts val="0"/>
                </a:spcAft>
                <a:buNone/>
              </a:pPr>
              <a:r>
                <a:t/>
              </a:r>
              <a:endParaRPr sz="968">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Robotic surgery boom driving barbed suture demand</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Spiral suture relatively new to market</a:t>
              </a:r>
              <a:endParaRPr sz="1200">
                <a:solidFill>
                  <a:schemeClr val="lt1"/>
                </a:solidFill>
                <a:latin typeface="Roboto"/>
                <a:ea typeface="Roboto"/>
                <a:cs typeface="Roboto"/>
                <a:sym typeface="Roboto"/>
              </a:endParaRPr>
            </a:p>
            <a:p>
              <a:pPr indent="-304800" lvl="1" marL="9144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First-mover advantage available</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Aging global population = more surgeries</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Emerging markets expanding access</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Minimally invasive surgery trend</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Barbed sutures cut OR time &amp; infection risk</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Competitors are smaller (Athena: $221M revenue)</a:t>
              </a:r>
              <a:endParaRPr sz="1200">
                <a:solidFill>
                  <a:schemeClr val="lt1"/>
                </a:solidFill>
                <a:latin typeface="Roboto"/>
                <a:ea typeface="Roboto"/>
                <a:cs typeface="Roboto"/>
                <a:sym typeface="Roboto"/>
              </a:endParaRPr>
            </a:p>
          </p:txBody>
        </p:sp>
      </p:grpSp>
      <p:grpSp>
        <p:nvGrpSpPr>
          <p:cNvPr id="187" name="Google Shape;187;p23"/>
          <p:cNvGrpSpPr/>
          <p:nvPr/>
        </p:nvGrpSpPr>
        <p:grpSpPr>
          <a:xfrm>
            <a:off x="4611532" y="862785"/>
            <a:ext cx="4389702" cy="4186517"/>
            <a:chOff x="4572084" y="1597469"/>
            <a:chExt cx="1827900" cy="2399700"/>
          </a:xfrm>
        </p:grpSpPr>
        <p:sp>
          <p:nvSpPr>
            <p:cNvPr id="188" name="Google Shape;188;p23"/>
            <p:cNvSpPr/>
            <p:nvPr/>
          </p:nvSpPr>
          <p:spPr>
            <a:xfrm rot="5400000">
              <a:off x="4286184" y="1883369"/>
              <a:ext cx="2399700" cy="1827900"/>
            </a:xfrm>
            <a:prstGeom prst="rightArrowCallout">
              <a:avLst>
                <a:gd fmla="val 9283" name="adj1"/>
                <a:gd fmla="val 13570" name="adj2"/>
                <a:gd fmla="val 16082" name="adj3"/>
                <a:gd fmla="val 81236" name="adj4"/>
              </a:avLst>
            </a:prstGeom>
            <a:solidFill>
              <a:srgbClr val="801F17"/>
            </a:solidFill>
            <a:ln>
              <a:noFill/>
            </a:ln>
          </p:spPr>
          <p:txBody>
            <a:bodyPr anchorCtr="0" anchor="ctr" bIns="159475" lIns="159475" spcFirstLastPara="1" rIns="159475" wrap="square" tIns="159475">
              <a:noAutofit/>
            </a:bodyPr>
            <a:lstStyle/>
            <a:p>
              <a:pPr indent="0" lvl="0" marL="0" rtl="0" algn="l">
                <a:spcBef>
                  <a:spcPts val="0"/>
                </a:spcBef>
                <a:spcAft>
                  <a:spcPts val="0"/>
                </a:spcAft>
                <a:buNone/>
              </a:pPr>
              <a:r>
                <a:t/>
              </a:r>
              <a:endParaRPr/>
            </a:p>
          </p:txBody>
        </p:sp>
        <p:sp>
          <p:nvSpPr>
            <p:cNvPr id="189" name="Google Shape;189;p23"/>
            <p:cNvSpPr/>
            <p:nvPr/>
          </p:nvSpPr>
          <p:spPr>
            <a:xfrm flipH="1" rot="10800000">
              <a:off x="4662018" y="1687411"/>
              <a:ext cx="1649400" cy="1769700"/>
            </a:xfrm>
            <a:prstGeom prst="snip1Rect">
              <a:avLst>
                <a:gd fmla="val 0" name="adj"/>
              </a:avLst>
            </a:prstGeom>
            <a:solidFill>
              <a:srgbClr val="A7291E"/>
            </a:solidFill>
            <a:ln>
              <a:noFill/>
            </a:ln>
          </p:spPr>
          <p:txBody>
            <a:bodyPr anchorCtr="0" anchor="ctr" bIns="159475" lIns="159475" spcFirstLastPara="1" rIns="159475" wrap="square" tIns="159475">
              <a:noAutofit/>
            </a:bodyPr>
            <a:lstStyle/>
            <a:p>
              <a:pPr indent="0" lvl="0" marL="0" rtl="0" algn="l">
                <a:spcBef>
                  <a:spcPts val="0"/>
                </a:spcBef>
                <a:spcAft>
                  <a:spcPts val="0"/>
                </a:spcAft>
                <a:buNone/>
              </a:pPr>
              <a:r>
                <a:t/>
              </a:r>
              <a:endParaRPr/>
            </a:p>
          </p:txBody>
        </p:sp>
        <p:sp>
          <p:nvSpPr>
            <p:cNvPr id="190" name="Google Shape;190;p23"/>
            <p:cNvSpPr txBox="1"/>
            <p:nvPr/>
          </p:nvSpPr>
          <p:spPr>
            <a:xfrm>
              <a:off x="4695472" y="1677496"/>
              <a:ext cx="1582500" cy="1799100"/>
            </a:xfrm>
            <a:prstGeom prst="rect">
              <a:avLst/>
            </a:prstGeom>
            <a:noFill/>
            <a:ln>
              <a:noFill/>
            </a:ln>
          </p:spPr>
          <p:txBody>
            <a:bodyPr anchorCtr="0" anchor="t" bIns="159475" lIns="159475" spcFirstLastPara="1" rIns="159475" wrap="square" tIns="159475">
              <a:spAutoFit/>
            </a:bodyPr>
            <a:lstStyle/>
            <a:p>
              <a:pPr indent="0" lvl="0" marL="0" rtl="0" algn="ctr">
                <a:lnSpc>
                  <a:spcPct val="115000"/>
                </a:lnSpc>
                <a:spcBef>
                  <a:spcPts val="0"/>
                </a:spcBef>
                <a:spcAft>
                  <a:spcPts val="0"/>
                </a:spcAft>
                <a:buNone/>
              </a:pPr>
              <a:r>
                <a:rPr b="1" lang="en" sz="1900">
                  <a:solidFill>
                    <a:schemeClr val="lt1"/>
                  </a:solidFill>
                  <a:latin typeface="Roboto"/>
                  <a:ea typeface="Roboto"/>
                  <a:cs typeface="Roboto"/>
                  <a:sym typeface="Roboto"/>
                </a:rPr>
                <a:t>Threats</a:t>
              </a:r>
              <a:endParaRPr b="1" sz="1900">
                <a:solidFill>
                  <a:schemeClr val="lt1"/>
                </a:solidFill>
                <a:latin typeface="Roboto"/>
                <a:ea typeface="Roboto"/>
                <a:cs typeface="Roboto"/>
                <a:sym typeface="Roboto"/>
              </a:endParaRPr>
            </a:p>
            <a:p>
              <a:pPr indent="0" lvl="0" marL="0" rtl="0" algn="ctr">
                <a:lnSpc>
                  <a:spcPct val="115000"/>
                </a:lnSpc>
                <a:spcBef>
                  <a:spcPts val="0"/>
                </a:spcBef>
                <a:spcAft>
                  <a:spcPts val="0"/>
                </a:spcAft>
                <a:buNone/>
              </a:pPr>
              <a:r>
                <a:t/>
              </a:r>
              <a:endParaRPr sz="968">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Crius (Poseidon) already FDA-approved with dual-angle barbed suture</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Athena (Kronos) has 2005 patent &amp; established symmetrical design</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Competitors are developing spiral sutures window is closing</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Alternative closure: tissue adhesives, staples, negative pressure therapy</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Pricing pressure from hospitals &amp; insurance payers</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 sz="1200">
                  <a:solidFill>
                    <a:schemeClr val="lt1"/>
                  </a:solidFill>
                  <a:latin typeface="Roboto"/>
                  <a:ea typeface="Roboto"/>
                  <a:cs typeface="Roboto"/>
                  <a:sym typeface="Roboto"/>
                </a:rPr>
                <a:t>Raw material cost volatility</a:t>
              </a:r>
              <a:endParaRPr sz="1200">
                <a:solidFill>
                  <a:schemeClr val="lt1"/>
                </a:solidFill>
                <a:latin typeface="Roboto"/>
                <a:ea typeface="Roboto"/>
                <a:cs typeface="Roboto"/>
                <a:sym typeface="Roboto"/>
              </a:endParaRPr>
            </a:p>
          </p:txBody>
        </p:sp>
      </p:grpSp>
      <p:pic>
        <p:nvPicPr>
          <p:cNvPr id="191" name="Google Shape;191;p23"/>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grpSp>
        <p:nvGrpSpPr>
          <p:cNvPr id="196" name="Google Shape;196;p24"/>
          <p:cNvGrpSpPr/>
          <p:nvPr/>
        </p:nvGrpSpPr>
        <p:grpSpPr>
          <a:xfrm>
            <a:off x="99923" y="3792679"/>
            <a:ext cx="8943516" cy="1197618"/>
            <a:chOff x="1593000" y="2322568"/>
            <a:chExt cx="5957975" cy="643500"/>
          </a:xfrm>
        </p:grpSpPr>
        <p:sp>
          <p:nvSpPr>
            <p:cNvPr id="197" name="Google Shape;197;p24"/>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98" name="Google Shape;198;p24"/>
            <p:cNvSpPr/>
            <p:nvPr/>
          </p:nvSpPr>
          <p:spPr>
            <a:xfrm flipH="1">
              <a:off x="2282975" y="2322579"/>
              <a:ext cx="9567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199" name="Google Shape;199;p24"/>
            <p:cNvSpPr/>
            <p:nvPr/>
          </p:nvSpPr>
          <p:spPr>
            <a:xfrm rot="-5400000">
              <a:off x="3013749"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00" name="Google Shape;200;p24"/>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0">
                  <a:solidFill>
                    <a:srgbClr val="FFFFFF"/>
                  </a:solidFill>
                  <a:latin typeface="Roboto Medium"/>
                  <a:ea typeface="Roboto Medium"/>
                  <a:cs typeface="Roboto Medium"/>
                  <a:sym typeface="Roboto Medium"/>
                </a:rPr>
                <a:t>Low Risk</a:t>
              </a:r>
              <a:endParaRPr sz="2000">
                <a:solidFill>
                  <a:srgbClr val="FFFFFF"/>
                </a:solidFill>
                <a:latin typeface="Roboto"/>
                <a:ea typeface="Roboto"/>
                <a:cs typeface="Roboto"/>
                <a:sym typeface="Roboto"/>
              </a:endParaRPr>
            </a:p>
          </p:txBody>
        </p:sp>
        <p:sp>
          <p:nvSpPr>
            <p:cNvPr id="201" name="Google Shape;201;p24"/>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02" name="Google Shape;202;p24"/>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lang="en" sz="3903">
                  <a:solidFill>
                    <a:srgbClr val="FFFFFF"/>
                  </a:solidFill>
                  <a:latin typeface="Roboto Thin"/>
                  <a:ea typeface="Roboto Thin"/>
                  <a:cs typeface="Roboto Thin"/>
                  <a:sym typeface="Roboto Thin"/>
                </a:rPr>
                <a:t>04</a:t>
              </a:r>
              <a:endParaRPr sz="3903">
                <a:solidFill>
                  <a:srgbClr val="FFFFFF"/>
                </a:solidFill>
                <a:latin typeface="Roboto Thin"/>
                <a:ea typeface="Roboto Thin"/>
                <a:cs typeface="Roboto Thin"/>
                <a:sym typeface="Roboto Thin"/>
              </a:endParaRPr>
            </a:p>
          </p:txBody>
        </p:sp>
        <p:sp>
          <p:nvSpPr>
            <p:cNvPr id="203" name="Google Shape;203;p24"/>
            <p:cNvSpPr/>
            <p:nvPr/>
          </p:nvSpPr>
          <p:spPr>
            <a:xfrm>
              <a:off x="3916980" y="2323748"/>
              <a:ext cx="3560400" cy="642300"/>
            </a:xfrm>
            <a:prstGeom prst="rect">
              <a:avLst/>
            </a:prstGeom>
            <a:noFill/>
            <a:ln>
              <a:noFill/>
            </a:ln>
          </p:spPr>
          <p:txBody>
            <a:bodyPr anchorCtr="0" anchor="ctr" bIns="137225" lIns="137225" spcFirstLastPara="1" rIns="137225" wrap="square" tIns="137225">
              <a:noAutofit/>
            </a:bodyPr>
            <a:lstStyle/>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Alternative Wound Closure Products</a:t>
              </a:r>
              <a:endParaRPr sz="1001">
                <a:solidFill>
                  <a:srgbClr val="A7291E"/>
                </a:solidFill>
                <a:latin typeface="Roboto"/>
                <a:ea typeface="Roboto"/>
                <a:cs typeface="Roboto"/>
                <a:sym typeface="Roboto"/>
              </a:endParaRPr>
            </a:p>
            <a:p>
              <a:pPr indent="-406709" lvl="1" marL="1372612"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Emphasize barbed suture's unique benefits (knotless, watertight) vs. alternatives.</a:t>
              </a:r>
              <a:endParaRPr sz="1001">
                <a:solidFill>
                  <a:srgbClr val="A7291E"/>
                </a:solidFill>
                <a:latin typeface="Roboto"/>
                <a:ea typeface="Roboto"/>
                <a:cs typeface="Roboto"/>
                <a:sym typeface="Roboto"/>
              </a:endParaRPr>
            </a:p>
            <a:p>
              <a:pPr indent="-406709" lvl="1" marL="1372612"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Track market shifts annually.</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IP Failure / Infringement</a:t>
              </a:r>
              <a:endParaRPr sz="1001">
                <a:solidFill>
                  <a:srgbClr val="A7291E"/>
                </a:solidFill>
                <a:latin typeface="Roboto"/>
                <a:ea typeface="Roboto"/>
                <a:cs typeface="Roboto"/>
                <a:sym typeface="Roboto"/>
              </a:endParaRPr>
            </a:p>
            <a:p>
              <a:pPr indent="-406709" lvl="1" marL="1372612"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Conduct patent landscape review before R&amp;D begins.</a:t>
              </a:r>
              <a:endParaRPr sz="1001">
                <a:solidFill>
                  <a:srgbClr val="A7291E"/>
                </a:solidFill>
                <a:latin typeface="Roboto"/>
                <a:ea typeface="Roboto"/>
                <a:cs typeface="Roboto"/>
                <a:sym typeface="Roboto"/>
              </a:endParaRPr>
            </a:p>
          </p:txBody>
        </p:sp>
      </p:grpSp>
      <p:grpSp>
        <p:nvGrpSpPr>
          <p:cNvPr id="204" name="Google Shape;204;p24"/>
          <p:cNvGrpSpPr/>
          <p:nvPr/>
        </p:nvGrpSpPr>
        <p:grpSpPr>
          <a:xfrm>
            <a:off x="99923" y="2573913"/>
            <a:ext cx="8943516" cy="1197618"/>
            <a:chOff x="1593000" y="2322568"/>
            <a:chExt cx="5957975" cy="643500"/>
          </a:xfrm>
        </p:grpSpPr>
        <p:sp>
          <p:nvSpPr>
            <p:cNvPr id="205" name="Google Shape;205;p24"/>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06" name="Google Shape;206;p24"/>
            <p:cNvSpPr/>
            <p:nvPr/>
          </p:nvSpPr>
          <p:spPr>
            <a:xfrm flipH="1">
              <a:off x="2283134" y="2322575"/>
              <a:ext cx="9225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07" name="Google Shape;207;p24"/>
            <p:cNvSpPr/>
            <p:nvPr/>
          </p:nvSpPr>
          <p:spPr>
            <a:xfrm rot="-5400000">
              <a:off x="3013749"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08" name="Google Shape;208;p24"/>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0">
                  <a:solidFill>
                    <a:srgbClr val="FFFFFF"/>
                  </a:solidFill>
                  <a:latin typeface="Roboto Medium"/>
                  <a:ea typeface="Roboto Medium"/>
                  <a:cs typeface="Roboto Medium"/>
                  <a:sym typeface="Roboto Medium"/>
                </a:rPr>
                <a:t>Moderate Risk</a:t>
              </a:r>
              <a:endParaRPr sz="2000">
                <a:solidFill>
                  <a:srgbClr val="FFFFFF"/>
                </a:solidFill>
                <a:latin typeface="Roboto"/>
                <a:ea typeface="Roboto"/>
                <a:cs typeface="Roboto"/>
                <a:sym typeface="Roboto"/>
              </a:endParaRPr>
            </a:p>
          </p:txBody>
        </p:sp>
        <p:sp>
          <p:nvSpPr>
            <p:cNvPr id="209" name="Google Shape;209;p24"/>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10" name="Google Shape;210;p24"/>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lang="en" sz="3903">
                  <a:solidFill>
                    <a:srgbClr val="FFFFFF"/>
                  </a:solidFill>
                  <a:latin typeface="Roboto Thin"/>
                  <a:ea typeface="Roboto Thin"/>
                  <a:cs typeface="Roboto Thin"/>
                  <a:sym typeface="Roboto Thin"/>
                </a:rPr>
                <a:t>03</a:t>
              </a:r>
              <a:endParaRPr sz="3903">
                <a:solidFill>
                  <a:srgbClr val="FFFFFF"/>
                </a:solidFill>
                <a:latin typeface="Roboto Thin"/>
                <a:ea typeface="Roboto Thin"/>
                <a:cs typeface="Roboto Thin"/>
                <a:sym typeface="Roboto Thin"/>
              </a:endParaRPr>
            </a:p>
          </p:txBody>
        </p:sp>
        <p:sp>
          <p:nvSpPr>
            <p:cNvPr id="211" name="Google Shape;211;p24"/>
            <p:cNvSpPr/>
            <p:nvPr/>
          </p:nvSpPr>
          <p:spPr>
            <a:xfrm>
              <a:off x="3916999" y="2323757"/>
              <a:ext cx="3554700" cy="642300"/>
            </a:xfrm>
            <a:prstGeom prst="rect">
              <a:avLst/>
            </a:prstGeom>
            <a:noFill/>
            <a:ln>
              <a:noFill/>
            </a:ln>
          </p:spPr>
          <p:txBody>
            <a:bodyPr anchorCtr="0" anchor="ctr" bIns="137225" lIns="137225" spcFirstLastPara="1" rIns="137225" wrap="square" tIns="137225">
              <a:noAutofit/>
            </a:bodyPr>
            <a:lstStyle/>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Pricing Pressure</a:t>
              </a:r>
              <a:endParaRPr sz="1001">
                <a:solidFill>
                  <a:srgbClr val="A7291E"/>
                </a:solidFill>
                <a:latin typeface="Roboto"/>
                <a:ea typeface="Roboto"/>
                <a:cs typeface="Roboto"/>
                <a:sym typeface="Roboto"/>
              </a:endParaRPr>
            </a:p>
            <a:p>
              <a:pPr indent="-406709" lvl="1" marL="1372612"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Choose medium pricing to balance margin and access</a:t>
              </a:r>
              <a:endParaRPr sz="1001">
                <a:solidFill>
                  <a:srgbClr val="A7291E"/>
                </a:solidFill>
                <a:latin typeface="Roboto"/>
                <a:ea typeface="Roboto"/>
                <a:cs typeface="Roboto"/>
                <a:sym typeface="Roboto"/>
              </a:endParaRPr>
            </a:p>
            <a:p>
              <a:pPr indent="-406709" lvl="1" marL="1372612"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Use Gold marketing to justify premium via clinical outcomes</a:t>
              </a:r>
              <a:endParaRPr sz="1001">
                <a:solidFill>
                  <a:srgbClr val="A7291E"/>
                </a:solidFill>
                <a:latin typeface="Roboto"/>
                <a:ea typeface="Roboto"/>
                <a:cs typeface="Roboto"/>
                <a:sym typeface="Roboto"/>
              </a:endParaRPr>
            </a:p>
          </p:txBody>
        </p:sp>
      </p:grpSp>
      <p:grpSp>
        <p:nvGrpSpPr>
          <p:cNvPr id="212" name="Google Shape;212;p24"/>
          <p:cNvGrpSpPr/>
          <p:nvPr/>
        </p:nvGrpSpPr>
        <p:grpSpPr>
          <a:xfrm>
            <a:off x="99923" y="1355097"/>
            <a:ext cx="8943516" cy="1197618"/>
            <a:chOff x="1593000" y="2322568"/>
            <a:chExt cx="5957975" cy="643500"/>
          </a:xfrm>
        </p:grpSpPr>
        <p:sp>
          <p:nvSpPr>
            <p:cNvPr id="213" name="Google Shape;213;p24"/>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14" name="Google Shape;214;p24"/>
            <p:cNvSpPr/>
            <p:nvPr/>
          </p:nvSpPr>
          <p:spPr>
            <a:xfrm flipH="1">
              <a:off x="2282901" y="2322569"/>
              <a:ext cx="10362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15" name="Google Shape;215;p24"/>
            <p:cNvSpPr/>
            <p:nvPr/>
          </p:nvSpPr>
          <p:spPr>
            <a:xfrm rot="-5400000">
              <a:off x="3013749"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16" name="Google Shape;216;p24"/>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0">
                  <a:solidFill>
                    <a:srgbClr val="FFFFFF"/>
                  </a:solidFill>
                  <a:latin typeface="Roboto Medium"/>
                  <a:ea typeface="Roboto Medium"/>
                  <a:cs typeface="Roboto Medium"/>
                  <a:sym typeface="Roboto Medium"/>
                </a:rPr>
                <a:t>High Risk</a:t>
              </a:r>
              <a:endParaRPr sz="2000">
                <a:solidFill>
                  <a:srgbClr val="FFFFFF"/>
                </a:solidFill>
                <a:latin typeface="Roboto"/>
                <a:ea typeface="Roboto"/>
                <a:cs typeface="Roboto"/>
                <a:sym typeface="Roboto"/>
              </a:endParaRPr>
            </a:p>
          </p:txBody>
        </p:sp>
        <p:sp>
          <p:nvSpPr>
            <p:cNvPr id="217" name="Google Shape;217;p24"/>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18" name="Google Shape;218;p24"/>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lang="en" sz="3903">
                  <a:solidFill>
                    <a:srgbClr val="FFFFFF"/>
                  </a:solidFill>
                  <a:latin typeface="Roboto Thin"/>
                  <a:ea typeface="Roboto Thin"/>
                  <a:cs typeface="Roboto Thin"/>
                  <a:sym typeface="Roboto Thin"/>
                </a:rPr>
                <a:t>02</a:t>
              </a:r>
              <a:endParaRPr sz="3903">
                <a:solidFill>
                  <a:srgbClr val="FFFFFF"/>
                </a:solidFill>
                <a:latin typeface="Roboto Thin"/>
                <a:ea typeface="Roboto Thin"/>
                <a:cs typeface="Roboto Thin"/>
                <a:sym typeface="Roboto Thin"/>
              </a:endParaRPr>
            </a:p>
          </p:txBody>
        </p:sp>
        <p:sp>
          <p:nvSpPr>
            <p:cNvPr id="219" name="Google Shape;219;p24"/>
            <p:cNvSpPr/>
            <p:nvPr/>
          </p:nvSpPr>
          <p:spPr>
            <a:xfrm>
              <a:off x="3921243" y="2323752"/>
              <a:ext cx="3578700" cy="642300"/>
            </a:xfrm>
            <a:prstGeom prst="rect">
              <a:avLst/>
            </a:prstGeom>
            <a:noFill/>
            <a:ln>
              <a:noFill/>
            </a:ln>
          </p:spPr>
          <p:txBody>
            <a:bodyPr anchorCtr="0" anchor="ctr" bIns="137225" lIns="137225" spcFirstLastPara="1" rIns="137225" wrap="square" tIns="137225">
              <a:noAutofit/>
            </a:bodyPr>
            <a:lstStyle/>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FDA Regulatory Delays</a:t>
              </a:r>
              <a:endParaRPr sz="1001">
                <a:solidFill>
                  <a:srgbClr val="A7291E"/>
                </a:solidFill>
                <a:latin typeface="Roboto"/>
                <a:ea typeface="Roboto"/>
                <a:cs typeface="Roboto"/>
                <a:sym typeface="Roboto"/>
              </a:endParaRPr>
            </a:p>
            <a:p>
              <a:pPr indent="-406709" lvl="1" marL="1372612"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Purchase IP with existing FDA clearance</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Supply Chain Risk</a:t>
              </a:r>
              <a:endParaRPr sz="1001">
                <a:solidFill>
                  <a:srgbClr val="A7291E"/>
                </a:solidFill>
                <a:latin typeface="Roboto"/>
                <a:ea typeface="Roboto"/>
                <a:cs typeface="Roboto"/>
                <a:sym typeface="Roboto"/>
              </a:endParaRPr>
            </a:p>
            <a:p>
              <a:pPr indent="-406709" lvl="1" marL="1372612"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Negotiate strict Quality Control contracts with outsource partner. </a:t>
              </a:r>
              <a:endParaRPr sz="1001">
                <a:solidFill>
                  <a:srgbClr val="A7291E"/>
                </a:solidFill>
                <a:latin typeface="Roboto"/>
                <a:ea typeface="Roboto"/>
                <a:cs typeface="Roboto"/>
                <a:sym typeface="Roboto"/>
              </a:endParaRPr>
            </a:p>
            <a:p>
              <a:pPr indent="-406709" lvl="1" marL="1372612"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Hire full-time employees if building in-house for long-term culture</a:t>
              </a:r>
              <a:endParaRPr sz="1001">
                <a:solidFill>
                  <a:srgbClr val="A7291E"/>
                </a:solidFill>
                <a:latin typeface="Roboto"/>
                <a:ea typeface="Roboto"/>
                <a:cs typeface="Roboto"/>
                <a:sym typeface="Roboto"/>
              </a:endParaRPr>
            </a:p>
          </p:txBody>
        </p:sp>
      </p:grpSp>
      <p:grpSp>
        <p:nvGrpSpPr>
          <p:cNvPr id="220" name="Google Shape;220;p24"/>
          <p:cNvGrpSpPr/>
          <p:nvPr/>
        </p:nvGrpSpPr>
        <p:grpSpPr>
          <a:xfrm>
            <a:off x="99923" y="136345"/>
            <a:ext cx="8943516" cy="1197618"/>
            <a:chOff x="1593000" y="2322568"/>
            <a:chExt cx="5957975" cy="643500"/>
          </a:xfrm>
        </p:grpSpPr>
        <p:sp>
          <p:nvSpPr>
            <p:cNvPr id="221" name="Google Shape;221;p24"/>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22" name="Google Shape;222;p24"/>
            <p:cNvSpPr/>
            <p:nvPr/>
          </p:nvSpPr>
          <p:spPr>
            <a:xfrm flipH="1">
              <a:off x="2283075" y="2322570"/>
              <a:ext cx="9339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23" name="Google Shape;223;p24"/>
            <p:cNvSpPr/>
            <p:nvPr/>
          </p:nvSpPr>
          <p:spPr>
            <a:xfrm rot="-5400000">
              <a:off x="3013750"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24" name="Google Shape;224;p24"/>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1">
                  <a:solidFill>
                    <a:srgbClr val="FFFFFF"/>
                  </a:solidFill>
                  <a:latin typeface="Roboto Medium"/>
                  <a:ea typeface="Roboto Medium"/>
                  <a:cs typeface="Roboto Medium"/>
                  <a:sym typeface="Roboto Medium"/>
                </a:rPr>
                <a:t>Highest Risk</a:t>
              </a:r>
              <a:endParaRPr sz="2001">
                <a:solidFill>
                  <a:srgbClr val="FFFFFF"/>
                </a:solidFill>
                <a:latin typeface="Roboto"/>
                <a:ea typeface="Roboto"/>
                <a:cs typeface="Roboto"/>
                <a:sym typeface="Roboto"/>
              </a:endParaRPr>
            </a:p>
          </p:txBody>
        </p:sp>
        <p:sp>
          <p:nvSpPr>
            <p:cNvPr id="225" name="Google Shape;225;p24"/>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26" name="Google Shape;226;p24"/>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lang="en" sz="3903">
                  <a:solidFill>
                    <a:srgbClr val="FFFFFF"/>
                  </a:solidFill>
                  <a:latin typeface="Roboto Thin"/>
                  <a:ea typeface="Roboto Thin"/>
                  <a:cs typeface="Roboto Thin"/>
                  <a:sym typeface="Roboto Thin"/>
                </a:rPr>
                <a:t>01</a:t>
              </a:r>
              <a:endParaRPr sz="3903">
                <a:solidFill>
                  <a:srgbClr val="FFFFFF"/>
                </a:solidFill>
                <a:latin typeface="Roboto Thin"/>
                <a:ea typeface="Roboto Thin"/>
                <a:cs typeface="Roboto Thin"/>
                <a:sym typeface="Roboto Thin"/>
              </a:endParaRPr>
            </a:p>
          </p:txBody>
        </p:sp>
        <p:sp>
          <p:nvSpPr>
            <p:cNvPr id="227" name="Google Shape;227;p24"/>
            <p:cNvSpPr/>
            <p:nvPr/>
          </p:nvSpPr>
          <p:spPr>
            <a:xfrm>
              <a:off x="3925875" y="2323753"/>
              <a:ext cx="3574200" cy="642300"/>
            </a:xfrm>
            <a:prstGeom prst="rect">
              <a:avLst/>
            </a:prstGeom>
            <a:noFill/>
            <a:ln>
              <a:noFill/>
            </a:ln>
          </p:spPr>
          <p:txBody>
            <a:bodyPr anchorCtr="0" anchor="ctr" bIns="137225" lIns="137225" spcFirstLastPara="1" rIns="137225" wrap="square" tIns="137225">
              <a:noAutofit/>
            </a:bodyPr>
            <a:lstStyle/>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Competitor Dominance:</a:t>
              </a:r>
              <a:endParaRPr sz="1001">
                <a:solidFill>
                  <a:srgbClr val="A7291E"/>
                </a:solidFill>
                <a:latin typeface="Roboto"/>
                <a:ea typeface="Roboto"/>
                <a:cs typeface="Roboto"/>
                <a:sym typeface="Roboto"/>
              </a:endParaRPr>
            </a:p>
            <a:p>
              <a:pPr indent="-406709" lvl="1" marL="1372612"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Purchase Intellectual Property now for instant market entry</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Slow Time-to-Market</a:t>
              </a:r>
              <a:endParaRPr sz="1001">
                <a:solidFill>
                  <a:srgbClr val="A7291E"/>
                </a:solidFill>
                <a:latin typeface="Roboto"/>
                <a:ea typeface="Roboto"/>
                <a:cs typeface="Roboto"/>
                <a:sym typeface="Roboto"/>
              </a:endParaRPr>
            </a:p>
            <a:p>
              <a:pPr indent="-406709" lvl="1" marL="1372612"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Outsource manufacturing to generate revenue immediately </a:t>
              </a:r>
              <a:endParaRPr sz="1001">
                <a:solidFill>
                  <a:srgbClr val="A7291E"/>
                </a:solidFill>
                <a:latin typeface="Roboto"/>
                <a:ea typeface="Roboto"/>
                <a:cs typeface="Roboto"/>
                <a:sym typeface="Robot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latin typeface="Roboto"/>
                <a:ea typeface="Roboto"/>
                <a:cs typeface="Roboto"/>
                <a:sym typeface="Roboto"/>
              </a:rPr>
              <a:t>Competitive Analysis</a:t>
            </a:r>
            <a:endParaRPr b="1">
              <a:latin typeface="Roboto"/>
              <a:ea typeface="Roboto"/>
              <a:cs typeface="Roboto"/>
              <a:sym typeface="Roboto"/>
            </a:endParaRPr>
          </a:p>
        </p:txBody>
      </p:sp>
      <p:pic>
        <p:nvPicPr>
          <p:cNvPr id="233" name="Google Shape;233;p25"/>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grpSp>
        <p:nvGrpSpPr>
          <p:cNvPr id="238" name="Google Shape;238;p26"/>
          <p:cNvGrpSpPr/>
          <p:nvPr/>
        </p:nvGrpSpPr>
        <p:grpSpPr>
          <a:xfrm>
            <a:off x="4104383" y="252296"/>
            <a:ext cx="4638893" cy="4638893"/>
            <a:chOff x="4303290" y="1676962"/>
            <a:chExt cx="1854000" cy="1854000"/>
          </a:xfrm>
        </p:grpSpPr>
        <p:sp>
          <p:nvSpPr>
            <p:cNvPr id="239" name="Google Shape;239;p26"/>
            <p:cNvSpPr/>
            <p:nvPr/>
          </p:nvSpPr>
          <p:spPr>
            <a:xfrm>
              <a:off x="4303290" y="1676962"/>
              <a:ext cx="1854000" cy="1854000"/>
            </a:xfrm>
            <a:prstGeom prst="ellipse">
              <a:avLst/>
            </a:prstGeom>
            <a:solidFill>
              <a:srgbClr val="801F17"/>
            </a:solidFill>
            <a:ln cap="flat" cmpd="sng" w="71475">
              <a:solidFill>
                <a:srgbClr val="B02B20"/>
              </a:solidFill>
              <a:prstDash val="solid"/>
              <a:round/>
              <a:headEnd len="sm" w="sm" type="none"/>
              <a:tailEnd len="sm" w="sm" type="none"/>
            </a:ln>
          </p:spPr>
          <p:txBody>
            <a:bodyPr anchorCtr="0" anchor="ctr" bIns="228775" lIns="228775" spcFirstLastPara="1" rIns="228775" wrap="square" tIns="228775">
              <a:noAutofit/>
            </a:bodyPr>
            <a:lstStyle/>
            <a:p>
              <a:pPr indent="0" lvl="0" marL="0" rtl="0" algn="l">
                <a:spcBef>
                  <a:spcPts val="0"/>
                </a:spcBef>
                <a:spcAft>
                  <a:spcPts val="0"/>
                </a:spcAft>
                <a:buNone/>
              </a:pPr>
              <a:r>
                <a:t/>
              </a:r>
              <a:endParaRPr/>
            </a:p>
          </p:txBody>
        </p:sp>
        <p:sp>
          <p:nvSpPr>
            <p:cNvPr id="240" name="Google Shape;240;p26"/>
            <p:cNvSpPr txBox="1"/>
            <p:nvPr/>
          </p:nvSpPr>
          <p:spPr>
            <a:xfrm>
              <a:off x="4677073" y="1978220"/>
              <a:ext cx="1480200" cy="1188300"/>
            </a:xfrm>
            <a:prstGeom prst="rect">
              <a:avLst/>
            </a:prstGeom>
            <a:noFill/>
            <a:ln>
              <a:noFill/>
            </a:ln>
          </p:spPr>
          <p:txBody>
            <a:bodyPr anchorCtr="0" anchor="ctr" bIns="228775" lIns="228775" spcFirstLastPara="1" rIns="228775" wrap="square" tIns="228775">
              <a:noAutofit/>
            </a:bodyPr>
            <a:lstStyle/>
            <a:p>
              <a:pPr indent="0" lvl="0" marL="0" rtl="0" algn="l">
                <a:lnSpc>
                  <a:spcPct val="115000"/>
                </a:lnSpc>
                <a:spcBef>
                  <a:spcPts val="0"/>
                </a:spcBef>
                <a:spcAft>
                  <a:spcPts val="0"/>
                </a:spcAft>
                <a:buNone/>
              </a:pPr>
              <a:r>
                <a:rPr b="1" lang="en" sz="2752">
                  <a:solidFill>
                    <a:srgbClr val="FFFFFF"/>
                  </a:solidFill>
                  <a:latin typeface="Roboto"/>
                  <a:ea typeface="Roboto"/>
                  <a:cs typeface="Roboto"/>
                  <a:sym typeface="Roboto"/>
                </a:rPr>
                <a:t>Barbed Sutures</a:t>
              </a:r>
              <a:endParaRPr b="1" sz="2752">
                <a:solidFill>
                  <a:srgbClr val="FFFFFF"/>
                </a:solidFill>
                <a:latin typeface="Roboto"/>
                <a:ea typeface="Roboto"/>
                <a:cs typeface="Roboto"/>
                <a:sym typeface="Roboto"/>
              </a:endParaRPr>
            </a:p>
            <a:p>
              <a:pPr indent="0" lvl="0" marL="457200" rtl="0" algn="l">
                <a:lnSpc>
                  <a:spcPct val="115000"/>
                </a:lnSpc>
                <a:spcBef>
                  <a:spcPts val="0"/>
                </a:spcBef>
                <a:spcAft>
                  <a:spcPts val="0"/>
                </a:spcAft>
                <a:buNone/>
              </a:pPr>
              <a:r>
                <a:t/>
              </a:r>
              <a:endParaRPr sz="2752">
                <a:solidFill>
                  <a:srgbClr val="FFFFFF"/>
                </a:solidFill>
                <a:latin typeface="Roboto"/>
                <a:ea typeface="Roboto"/>
                <a:cs typeface="Roboto"/>
                <a:sym typeface="Roboto"/>
              </a:endParaRPr>
            </a:p>
            <a:p>
              <a:pPr indent="-403367" lvl="0" marL="457200" rtl="0" algn="l">
                <a:lnSpc>
                  <a:spcPct val="115000"/>
                </a:lnSpc>
                <a:spcBef>
                  <a:spcPts val="0"/>
                </a:spcBef>
                <a:spcAft>
                  <a:spcPts val="0"/>
                </a:spcAft>
                <a:buClr>
                  <a:srgbClr val="FFFFFF"/>
                </a:buClr>
                <a:buSzPts val="2752"/>
                <a:buFont typeface="Roboto"/>
                <a:buChar char="●"/>
              </a:pPr>
              <a:r>
                <a:rPr lang="en" sz="2752">
                  <a:solidFill>
                    <a:srgbClr val="FFFFFF"/>
                  </a:solidFill>
                  <a:latin typeface="Roboto"/>
                  <a:ea typeface="Roboto"/>
                  <a:cs typeface="Roboto"/>
                  <a:sym typeface="Roboto"/>
                </a:rPr>
                <a:t>Knotless sutures with tiny barbs</a:t>
              </a:r>
              <a:endParaRPr sz="2752">
                <a:solidFill>
                  <a:srgbClr val="FFFFFF"/>
                </a:solidFill>
                <a:latin typeface="Roboto"/>
                <a:ea typeface="Roboto"/>
                <a:cs typeface="Roboto"/>
                <a:sym typeface="Roboto"/>
              </a:endParaRPr>
            </a:p>
          </p:txBody>
        </p:sp>
      </p:grpSp>
      <p:grpSp>
        <p:nvGrpSpPr>
          <p:cNvPr id="241" name="Google Shape;241;p26"/>
          <p:cNvGrpSpPr/>
          <p:nvPr/>
        </p:nvGrpSpPr>
        <p:grpSpPr>
          <a:xfrm>
            <a:off x="400736" y="252303"/>
            <a:ext cx="4638893" cy="4638893"/>
            <a:chOff x="2986712" y="1676962"/>
            <a:chExt cx="1854000" cy="1854000"/>
          </a:xfrm>
        </p:grpSpPr>
        <p:sp>
          <p:nvSpPr>
            <p:cNvPr id="242" name="Google Shape;242;p26"/>
            <p:cNvSpPr/>
            <p:nvPr/>
          </p:nvSpPr>
          <p:spPr>
            <a:xfrm>
              <a:off x="2986712" y="1676962"/>
              <a:ext cx="1854000" cy="1854000"/>
            </a:xfrm>
            <a:prstGeom prst="ellipse">
              <a:avLst/>
            </a:prstGeom>
            <a:solidFill>
              <a:srgbClr val="B02B20"/>
            </a:solidFill>
            <a:ln cap="flat" cmpd="sng" w="71500">
              <a:solidFill>
                <a:srgbClr val="801F17"/>
              </a:solidFill>
              <a:prstDash val="solid"/>
              <a:round/>
              <a:headEnd len="sm" w="sm" type="none"/>
              <a:tailEnd len="sm" w="sm" type="none"/>
            </a:ln>
          </p:spPr>
          <p:txBody>
            <a:bodyPr anchorCtr="0" anchor="ctr" bIns="228775" lIns="228775" spcFirstLastPara="1" rIns="228775" wrap="square" tIns="228775">
              <a:noAutofit/>
            </a:bodyPr>
            <a:lstStyle/>
            <a:p>
              <a:pPr indent="0" lvl="0" marL="0" rtl="0" algn="l">
                <a:spcBef>
                  <a:spcPts val="0"/>
                </a:spcBef>
                <a:spcAft>
                  <a:spcPts val="0"/>
                </a:spcAft>
                <a:buNone/>
              </a:pPr>
              <a:r>
                <a:t/>
              </a:r>
              <a:endParaRPr/>
            </a:p>
          </p:txBody>
        </p:sp>
        <p:sp>
          <p:nvSpPr>
            <p:cNvPr id="243" name="Google Shape;243;p26"/>
            <p:cNvSpPr txBox="1"/>
            <p:nvPr/>
          </p:nvSpPr>
          <p:spPr>
            <a:xfrm>
              <a:off x="3111508" y="1893564"/>
              <a:ext cx="1604400" cy="1420800"/>
            </a:xfrm>
            <a:prstGeom prst="rect">
              <a:avLst/>
            </a:prstGeom>
            <a:noFill/>
            <a:ln>
              <a:noFill/>
            </a:ln>
          </p:spPr>
          <p:txBody>
            <a:bodyPr anchorCtr="0" anchor="ctr" bIns="228775" lIns="228775" spcFirstLastPara="1" rIns="228775" wrap="square" tIns="228775">
              <a:noAutofit/>
            </a:bodyPr>
            <a:lstStyle/>
            <a:p>
              <a:pPr indent="0" lvl="0" marL="0" rtl="0" algn="l">
                <a:lnSpc>
                  <a:spcPct val="115000"/>
                </a:lnSpc>
                <a:spcBef>
                  <a:spcPts val="0"/>
                </a:spcBef>
                <a:spcAft>
                  <a:spcPts val="0"/>
                </a:spcAft>
                <a:buNone/>
              </a:pPr>
              <a:r>
                <a:rPr b="1" lang="en" sz="2752">
                  <a:solidFill>
                    <a:srgbClr val="FFFFFF"/>
                  </a:solidFill>
                  <a:latin typeface="Roboto"/>
                  <a:ea typeface="Roboto"/>
                  <a:cs typeface="Roboto"/>
                  <a:sym typeface="Roboto"/>
                </a:rPr>
                <a:t>Traditional Sutures</a:t>
              </a:r>
              <a:endParaRPr b="1" sz="2752">
                <a:solidFill>
                  <a:srgbClr val="FFFFFF"/>
                </a:solidFill>
                <a:latin typeface="Roboto"/>
                <a:ea typeface="Roboto"/>
                <a:cs typeface="Roboto"/>
                <a:sym typeface="Roboto"/>
              </a:endParaRPr>
            </a:p>
            <a:p>
              <a:pPr indent="0" lvl="0" marL="0" rtl="0" algn="l">
                <a:lnSpc>
                  <a:spcPct val="115000"/>
                </a:lnSpc>
                <a:spcBef>
                  <a:spcPts val="0"/>
                </a:spcBef>
                <a:spcAft>
                  <a:spcPts val="0"/>
                </a:spcAft>
                <a:buNone/>
              </a:pPr>
              <a:r>
                <a:t/>
              </a:r>
              <a:endParaRPr sz="2752">
                <a:solidFill>
                  <a:srgbClr val="FFFFFF"/>
                </a:solidFill>
                <a:latin typeface="Roboto"/>
                <a:ea typeface="Roboto"/>
                <a:cs typeface="Roboto"/>
                <a:sym typeface="Roboto"/>
              </a:endParaRPr>
            </a:p>
            <a:p>
              <a:pPr indent="-403363" lvl="0" marL="457200" rtl="0" algn="l">
                <a:lnSpc>
                  <a:spcPct val="115000"/>
                </a:lnSpc>
                <a:spcBef>
                  <a:spcPts val="0"/>
                </a:spcBef>
                <a:spcAft>
                  <a:spcPts val="0"/>
                </a:spcAft>
                <a:buClr>
                  <a:srgbClr val="FFFFFF"/>
                </a:buClr>
                <a:buSzPts val="2752"/>
                <a:buFont typeface="Roboto"/>
                <a:buChar char="●"/>
              </a:pPr>
              <a:r>
                <a:rPr lang="en" sz="2752">
                  <a:solidFill>
                    <a:srgbClr val="FFFFFF"/>
                  </a:solidFill>
                  <a:latin typeface="Roboto"/>
                  <a:ea typeface="Roboto"/>
                  <a:cs typeface="Roboto"/>
                  <a:sym typeface="Roboto"/>
                </a:rPr>
                <a:t>Smooth threads that require knots</a:t>
              </a:r>
              <a:endParaRPr sz="2752">
                <a:solidFill>
                  <a:srgbClr val="FFFFFF"/>
                </a:solidFill>
                <a:latin typeface="Roboto"/>
                <a:ea typeface="Roboto"/>
                <a:cs typeface="Roboto"/>
                <a:sym typeface="Roboto"/>
              </a:endParaRPr>
            </a:p>
          </p:txBody>
        </p:sp>
      </p:grpSp>
      <p:pic>
        <p:nvPicPr>
          <p:cNvPr id="244" name="Google Shape;244;p26"/>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grpSp>
        <p:nvGrpSpPr>
          <p:cNvPr id="249" name="Google Shape;249;p27"/>
          <p:cNvGrpSpPr/>
          <p:nvPr/>
        </p:nvGrpSpPr>
        <p:grpSpPr>
          <a:xfrm>
            <a:off x="221471" y="75750"/>
            <a:ext cx="4389702" cy="4186517"/>
            <a:chOff x="2744034" y="1146343"/>
            <a:chExt cx="1827900" cy="2399700"/>
          </a:xfrm>
        </p:grpSpPr>
        <p:sp>
          <p:nvSpPr>
            <p:cNvPr id="250" name="Google Shape;250;p27"/>
            <p:cNvSpPr/>
            <p:nvPr/>
          </p:nvSpPr>
          <p:spPr>
            <a:xfrm rot="-5400000">
              <a:off x="2458134" y="1432243"/>
              <a:ext cx="2399700" cy="1827900"/>
            </a:xfrm>
            <a:prstGeom prst="rightArrowCallout">
              <a:avLst>
                <a:gd fmla="val 9283" name="adj1"/>
                <a:gd fmla="val 13570" name="adj2"/>
                <a:gd fmla="val 16082" name="adj3"/>
                <a:gd fmla="val 81236" name="adj4"/>
              </a:avLst>
            </a:prstGeom>
            <a:solidFill>
              <a:srgbClr val="EDA29B"/>
            </a:solidFill>
            <a:ln>
              <a:noFill/>
            </a:ln>
          </p:spPr>
          <p:txBody>
            <a:bodyPr anchorCtr="0" anchor="ctr" bIns="159475" lIns="159475" spcFirstLastPara="1" rIns="159475" wrap="square" tIns="159475">
              <a:noAutofit/>
            </a:bodyPr>
            <a:lstStyle/>
            <a:p>
              <a:pPr indent="0" lvl="0" marL="0" rtl="0" algn="l">
                <a:spcBef>
                  <a:spcPts val="0"/>
                </a:spcBef>
                <a:spcAft>
                  <a:spcPts val="0"/>
                </a:spcAft>
                <a:buNone/>
              </a:pPr>
              <a:r>
                <a:t/>
              </a:r>
              <a:endParaRPr/>
            </a:p>
          </p:txBody>
        </p:sp>
        <p:sp>
          <p:nvSpPr>
            <p:cNvPr id="251" name="Google Shape;251;p27"/>
            <p:cNvSpPr/>
            <p:nvPr/>
          </p:nvSpPr>
          <p:spPr>
            <a:xfrm flipH="1">
              <a:off x="2832600" y="1686400"/>
              <a:ext cx="1649400" cy="1769700"/>
            </a:xfrm>
            <a:prstGeom prst="snip1Rect">
              <a:avLst>
                <a:gd fmla="val 0" name="adj"/>
              </a:avLst>
            </a:prstGeom>
            <a:solidFill>
              <a:srgbClr val="A7291E"/>
            </a:solidFill>
            <a:ln>
              <a:noFill/>
            </a:ln>
          </p:spPr>
          <p:txBody>
            <a:bodyPr anchorCtr="0" anchor="ctr" bIns="159475" lIns="159475" spcFirstLastPara="1" rIns="159475" wrap="square" tIns="159475">
              <a:noAutofit/>
            </a:bodyPr>
            <a:lstStyle/>
            <a:p>
              <a:pPr indent="0" lvl="0" marL="0" rtl="0" algn="l">
                <a:spcBef>
                  <a:spcPts val="0"/>
                </a:spcBef>
                <a:spcAft>
                  <a:spcPts val="0"/>
                </a:spcAft>
                <a:buNone/>
              </a:pPr>
              <a:r>
                <a:t/>
              </a:r>
              <a:endParaRPr/>
            </a:p>
          </p:txBody>
        </p:sp>
        <p:sp>
          <p:nvSpPr>
            <p:cNvPr id="252" name="Google Shape;252;p27"/>
            <p:cNvSpPr txBox="1"/>
            <p:nvPr/>
          </p:nvSpPr>
          <p:spPr>
            <a:xfrm>
              <a:off x="2966450" y="1754594"/>
              <a:ext cx="1383000" cy="1460700"/>
            </a:xfrm>
            <a:prstGeom prst="rect">
              <a:avLst/>
            </a:prstGeom>
            <a:noFill/>
            <a:ln>
              <a:noFill/>
            </a:ln>
          </p:spPr>
          <p:txBody>
            <a:bodyPr anchorCtr="0" anchor="t" bIns="159475" lIns="159475" spcFirstLastPara="1" rIns="159475" wrap="square" tIns="159475">
              <a:spAutoFit/>
            </a:bodyPr>
            <a:lstStyle/>
            <a:p>
              <a:pPr indent="0" lvl="0" marL="0" rtl="0" algn="ctr">
                <a:lnSpc>
                  <a:spcPct val="115000"/>
                </a:lnSpc>
                <a:spcBef>
                  <a:spcPts val="0"/>
                </a:spcBef>
                <a:spcAft>
                  <a:spcPts val="0"/>
                </a:spcAft>
                <a:buNone/>
              </a:pPr>
              <a:r>
                <a:rPr b="1" lang="en" sz="1900">
                  <a:solidFill>
                    <a:schemeClr val="lt1"/>
                  </a:solidFill>
                  <a:latin typeface="Roboto"/>
                  <a:ea typeface="Roboto"/>
                  <a:cs typeface="Roboto"/>
                  <a:sym typeface="Roboto"/>
                </a:rPr>
                <a:t>Competitive Advantage</a:t>
              </a:r>
              <a:endParaRPr sz="968">
                <a:solidFill>
                  <a:schemeClr val="lt1"/>
                </a:solidFill>
                <a:latin typeface="Roboto"/>
                <a:ea typeface="Roboto"/>
                <a:cs typeface="Roboto"/>
                <a:sym typeface="Roboto"/>
              </a:endParaRPr>
            </a:p>
            <a:p>
              <a:pPr indent="0" lvl="0" marL="0" rtl="0" algn="l">
                <a:lnSpc>
                  <a:spcPct val="115000"/>
                </a:lnSpc>
                <a:spcBef>
                  <a:spcPts val="0"/>
                </a:spcBef>
                <a:spcAft>
                  <a:spcPts val="0"/>
                </a:spcAft>
                <a:buNone/>
              </a:pPr>
              <a:r>
                <a:t/>
              </a:r>
              <a:endParaRPr sz="1819">
                <a:solidFill>
                  <a:srgbClr val="FFFFFF"/>
                </a:solidFill>
                <a:latin typeface="Roboto"/>
                <a:ea typeface="Roboto"/>
                <a:cs typeface="Roboto"/>
                <a:sym typeface="Roboto"/>
              </a:endParaRPr>
            </a:p>
            <a:p>
              <a:pPr indent="-344107" lvl="0" marL="457200" rtl="0" algn="l">
                <a:lnSpc>
                  <a:spcPct val="115000"/>
                </a:lnSpc>
                <a:spcBef>
                  <a:spcPts val="0"/>
                </a:spcBef>
                <a:spcAft>
                  <a:spcPts val="0"/>
                </a:spcAft>
                <a:buClr>
                  <a:srgbClr val="FFFFFF"/>
                </a:buClr>
                <a:buSzPts val="1819"/>
                <a:buFont typeface="Roboto"/>
                <a:buChar char="●"/>
              </a:pPr>
              <a:r>
                <a:rPr lang="en" sz="1819">
                  <a:solidFill>
                    <a:srgbClr val="FFFFFF"/>
                  </a:solidFill>
                  <a:latin typeface="Roboto"/>
                  <a:ea typeface="Roboto"/>
                  <a:cs typeface="Roboto"/>
                  <a:sym typeface="Roboto"/>
                </a:rPr>
                <a:t>Ease of use</a:t>
              </a:r>
              <a:endParaRPr sz="1819">
                <a:solidFill>
                  <a:srgbClr val="FFFFFF"/>
                </a:solidFill>
                <a:latin typeface="Roboto"/>
                <a:ea typeface="Roboto"/>
                <a:cs typeface="Roboto"/>
                <a:sym typeface="Roboto"/>
              </a:endParaRPr>
            </a:p>
            <a:p>
              <a:pPr indent="-344107" lvl="0" marL="457200" rtl="0" algn="l">
                <a:lnSpc>
                  <a:spcPct val="115000"/>
                </a:lnSpc>
                <a:spcBef>
                  <a:spcPts val="0"/>
                </a:spcBef>
                <a:spcAft>
                  <a:spcPts val="0"/>
                </a:spcAft>
                <a:buClr>
                  <a:srgbClr val="FFFFFF"/>
                </a:buClr>
                <a:buSzPts val="1819"/>
                <a:buFont typeface="Roboto"/>
                <a:buChar char="●"/>
              </a:pPr>
              <a:r>
                <a:rPr lang="en" sz="1819">
                  <a:solidFill>
                    <a:srgbClr val="FFFFFF"/>
                  </a:solidFill>
                  <a:latin typeface="Roboto"/>
                  <a:ea typeface="Roboto"/>
                  <a:cs typeface="Roboto"/>
                  <a:sym typeface="Roboto"/>
                </a:rPr>
                <a:t>Helpful in minimally invasive surgeries</a:t>
              </a:r>
              <a:endParaRPr sz="1819">
                <a:solidFill>
                  <a:srgbClr val="FFFFFF"/>
                </a:solidFill>
                <a:latin typeface="Roboto"/>
                <a:ea typeface="Roboto"/>
                <a:cs typeface="Roboto"/>
                <a:sym typeface="Roboto"/>
              </a:endParaRPr>
            </a:p>
            <a:p>
              <a:pPr indent="-344107" lvl="0" marL="457200" rtl="0" algn="l">
                <a:lnSpc>
                  <a:spcPct val="115000"/>
                </a:lnSpc>
                <a:spcBef>
                  <a:spcPts val="0"/>
                </a:spcBef>
                <a:spcAft>
                  <a:spcPts val="0"/>
                </a:spcAft>
                <a:buClr>
                  <a:srgbClr val="FFFFFF"/>
                </a:buClr>
                <a:buSzPts val="1819"/>
                <a:buFont typeface="Roboto"/>
                <a:buChar char="●"/>
              </a:pPr>
              <a:r>
                <a:rPr lang="en" sz="1819">
                  <a:solidFill>
                    <a:srgbClr val="FFFFFF"/>
                  </a:solidFill>
                  <a:latin typeface="Roboto"/>
                  <a:ea typeface="Roboto"/>
                  <a:cs typeface="Roboto"/>
                  <a:sym typeface="Roboto"/>
                </a:rPr>
                <a:t>Better performance</a:t>
              </a:r>
              <a:endParaRPr sz="1819">
                <a:solidFill>
                  <a:srgbClr val="FFFFFF"/>
                </a:solidFill>
                <a:latin typeface="Roboto"/>
                <a:ea typeface="Roboto"/>
                <a:cs typeface="Roboto"/>
                <a:sym typeface="Roboto"/>
              </a:endParaRPr>
            </a:p>
            <a:p>
              <a:pPr indent="-344107" lvl="0" marL="457200" rtl="0" algn="l">
                <a:lnSpc>
                  <a:spcPct val="115000"/>
                </a:lnSpc>
                <a:spcBef>
                  <a:spcPts val="0"/>
                </a:spcBef>
                <a:spcAft>
                  <a:spcPts val="0"/>
                </a:spcAft>
                <a:buClr>
                  <a:srgbClr val="FFFFFF"/>
                </a:buClr>
                <a:buSzPts val="1819"/>
                <a:buFont typeface="Roboto"/>
                <a:buChar char="●"/>
              </a:pPr>
              <a:r>
                <a:rPr lang="en" sz="1819">
                  <a:solidFill>
                    <a:srgbClr val="FFFFFF"/>
                  </a:solidFill>
                  <a:latin typeface="Roboto"/>
                  <a:ea typeface="Roboto"/>
                  <a:cs typeface="Roboto"/>
                  <a:sym typeface="Roboto"/>
                </a:rPr>
                <a:t>Competitive edge</a:t>
              </a:r>
              <a:endParaRPr sz="1819">
                <a:solidFill>
                  <a:srgbClr val="FFFFFF"/>
                </a:solidFill>
                <a:latin typeface="Roboto"/>
                <a:ea typeface="Roboto"/>
                <a:cs typeface="Roboto"/>
                <a:sym typeface="Roboto"/>
              </a:endParaRPr>
            </a:p>
          </p:txBody>
        </p:sp>
      </p:grpSp>
      <p:grpSp>
        <p:nvGrpSpPr>
          <p:cNvPr id="253" name="Google Shape;253;p27"/>
          <p:cNvGrpSpPr/>
          <p:nvPr/>
        </p:nvGrpSpPr>
        <p:grpSpPr>
          <a:xfrm>
            <a:off x="4611532" y="862785"/>
            <a:ext cx="4389702" cy="4186517"/>
            <a:chOff x="4572084" y="1597469"/>
            <a:chExt cx="1827900" cy="2399700"/>
          </a:xfrm>
        </p:grpSpPr>
        <p:sp>
          <p:nvSpPr>
            <p:cNvPr id="254" name="Google Shape;254;p27"/>
            <p:cNvSpPr/>
            <p:nvPr/>
          </p:nvSpPr>
          <p:spPr>
            <a:xfrm rot="5400000">
              <a:off x="4286184" y="1883369"/>
              <a:ext cx="2399700" cy="1827900"/>
            </a:xfrm>
            <a:prstGeom prst="rightArrowCallout">
              <a:avLst>
                <a:gd fmla="val 9283" name="adj1"/>
                <a:gd fmla="val 13570" name="adj2"/>
                <a:gd fmla="val 16082" name="adj3"/>
                <a:gd fmla="val 81236" name="adj4"/>
              </a:avLst>
            </a:prstGeom>
            <a:solidFill>
              <a:srgbClr val="801F17"/>
            </a:solidFill>
            <a:ln>
              <a:noFill/>
            </a:ln>
          </p:spPr>
          <p:txBody>
            <a:bodyPr anchorCtr="0" anchor="ctr" bIns="159475" lIns="159475" spcFirstLastPara="1" rIns="159475" wrap="square" tIns="159475">
              <a:noAutofit/>
            </a:bodyPr>
            <a:lstStyle/>
            <a:p>
              <a:pPr indent="0" lvl="0" marL="0" rtl="0" algn="l">
                <a:spcBef>
                  <a:spcPts val="0"/>
                </a:spcBef>
                <a:spcAft>
                  <a:spcPts val="0"/>
                </a:spcAft>
                <a:buNone/>
              </a:pPr>
              <a:r>
                <a:t/>
              </a:r>
              <a:endParaRPr/>
            </a:p>
          </p:txBody>
        </p:sp>
        <p:sp>
          <p:nvSpPr>
            <p:cNvPr id="255" name="Google Shape;255;p27"/>
            <p:cNvSpPr/>
            <p:nvPr/>
          </p:nvSpPr>
          <p:spPr>
            <a:xfrm flipH="1" rot="10800000">
              <a:off x="4662018" y="1687411"/>
              <a:ext cx="1649400" cy="1769700"/>
            </a:xfrm>
            <a:prstGeom prst="snip1Rect">
              <a:avLst>
                <a:gd fmla="val 0" name="adj"/>
              </a:avLst>
            </a:prstGeom>
            <a:solidFill>
              <a:srgbClr val="A7291E"/>
            </a:solidFill>
            <a:ln>
              <a:noFill/>
            </a:ln>
          </p:spPr>
          <p:txBody>
            <a:bodyPr anchorCtr="0" anchor="ctr" bIns="159475" lIns="159475" spcFirstLastPara="1" rIns="159475" wrap="square" tIns="159475">
              <a:noAutofit/>
            </a:bodyPr>
            <a:lstStyle/>
            <a:p>
              <a:pPr indent="0" lvl="0" marL="0" rtl="0" algn="l">
                <a:spcBef>
                  <a:spcPts val="0"/>
                </a:spcBef>
                <a:spcAft>
                  <a:spcPts val="0"/>
                </a:spcAft>
                <a:buNone/>
              </a:pPr>
              <a:r>
                <a:t/>
              </a:r>
              <a:endParaRPr/>
            </a:p>
          </p:txBody>
        </p:sp>
        <p:sp>
          <p:nvSpPr>
            <p:cNvPr id="256" name="Google Shape;256;p27"/>
            <p:cNvSpPr txBox="1"/>
            <p:nvPr/>
          </p:nvSpPr>
          <p:spPr>
            <a:xfrm>
              <a:off x="4795216" y="1770478"/>
              <a:ext cx="1383000" cy="1730100"/>
            </a:xfrm>
            <a:prstGeom prst="rect">
              <a:avLst/>
            </a:prstGeom>
            <a:noFill/>
            <a:ln>
              <a:noFill/>
            </a:ln>
          </p:spPr>
          <p:txBody>
            <a:bodyPr anchorCtr="0" anchor="t" bIns="159475" lIns="159475" spcFirstLastPara="1" rIns="159475" wrap="square" tIns="159475">
              <a:spAutoFit/>
            </a:bodyPr>
            <a:lstStyle/>
            <a:p>
              <a:pPr indent="0" lvl="0" marL="0" rtl="0" algn="ctr">
                <a:lnSpc>
                  <a:spcPct val="115000"/>
                </a:lnSpc>
                <a:spcBef>
                  <a:spcPts val="0"/>
                </a:spcBef>
                <a:spcAft>
                  <a:spcPts val="0"/>
                </a:spcAft>
                <a:buNone/>
              </a:pPr>
              <a:r>
                <a:rPr b="1" lang="en" sz="1900">
                  <a:solidFill>
                    <a:schemeClr val="lt1"/>
                  </a:solidFill>
                  <a:latin typeface="Roboto"/>
                  <a:ea typeface="Roboto"/>
                  <a:cs typeface="Roboto"/>
                  <a:sym typeface="Roboto"/>
                </a:rPr>
                <a:t>Limitations</a:t>
              </a:r>
              <a:endParaRPr b="1" sz="1900">
                <a:solidFill>
                  <a:schemeClr val="lt1"/>
                </a:solidFill>
                <a:latin typeface="Roboto"/>
                <a:ea typeface="Roboto"/>
                <a:cs typeface="Roboto"/>
                <a:sym typeface="Roboto"/>
              </a:endParaRPr>
            </a:p>
            <a:p>
              <a:pPr indent="0" lvl="0" marL="0" rtl="0" algn="ctr">
                <a:lnSpc>
                  <a:spcPct val="115000"/>
                </a:lnSpc>
                <a:spcBef>
                  <a:spcPts val="0"/>
                </a:spcBef>
                <a:spcAft>
                  <a:spcPts val="0"/>
                </a:spcAft>
                <a:buNone/>
              </a:pPr>
              <a:r>
                <a:t/>
              </a:r>
              <a:endParaRPr sz="968">
                <a:solidFill>
                  <a:schemeClr val="lt1"/>
                </a:solidFill>
                <a:latin typeface="Roboto"/>
                <a:ea typeface="Roboto"/>
                <a:cs typeface="Roboto"/>
                <a:sym typeface="Roboto"/>
              </a:endParaRPr>
            </a:p>
            <a:p>
              <a:pPr indent="-342900" lvl="0" marL="457200" rtl="0" algn="l">
                <a:lnSpc>
                  <a:spcPct val="115000"/>
                </a:lnSpc>
                <a:spcBef>
                  <a:spcPts val="0"/>
                </a:spcBef>
                <a:spcAft>
                  <a:spcPts val="0"/>
                </a:spcAft>
                <a:buClr>
                  <a:schemeClr val="lt1"/>
                </a:buClr>
                <a:buSzPts val="1800"/>
                <a:buFont typeface="Roboto"/>
                <a:buChar char="●"/>
              </a:pPr>
              <a:r>
                <a:rPr lang="en" sz="1800">
                  <a:solidFill>
                    <a:schemeClr val="lt1"/>
                  </a:solidFill>
                  <a:latin typeface="Roboto"/>
                  <a:ea typeface="Roboto"/>
                  <a:cs typeface="Roboto"/>
                  <a:sym typeface="Roboto"/>
                </a:rPr>
                <a:t>May lead to complications</a:t>
              </a:r>
              <a:endParaRPr sz="1800">
                <a:solidFill>
                  <a:schemeClr val="lt1"/>
                </a:solidFill>
                <a:latin typeface="Roboto"/>
                <a:ea typeface="Roboto"/>
                <a:cs typeface="Roboto"/>
                <a:sym typeface="Roboto"/>
              </a:endParaRPr>
            </a:p>
            <a:p>
              <a:pPr indent="-342900" lvl="0" marL="457200" rtl="0" algn="l">
                <a:lnSpc>
                  <a:spcPct val="115000"/>
                </a:lnSpc>
                <a:spcBef>
                  <a:spcPts val="0"/>
                </a:spcBef>
                <a:spcAft>
                  <a:spcPts val="0"/>
                </a:spcAft>
                <a:buClr>
                  <a:schemeClr val="lt1"/>
                </a:buClr>
                <a:buSzPts val="1800"/>
                <a:buFont typeface="Roboto"/>
                <a:buChar char="●"/>
              </a:pPr>
              <a:r>
                <a:rPr lang="en" sz="1800">
                  <a:solidFill>
                    <a:schemeClr val="lt1"/>
                  </a:solidFill>
                  <a:latin typeface="Roboto"/>
                  <a:ea typeface="Roboto"/>
                  <a:cs typeface="Roboto"/>
                  <a:sym typeface="Roboto"/>
                </a:rPr>
                <a:t>Cost disadvantage → more expensive</a:t>
              </a:r>
              <a:endParaRPr sz="1800">
                <a:solidFill>
                  <a:schemeClr val="lt1"/>
                </a:solidFill>
                <a:latin typeface="Roboto"/>
                <a:ea typeface="Roboto"/>
                <a:cs typeface="Roboto"/>
                <a:sym typeface="Roboto"/>
              </a:endParaRPr>
            </a:p>
            <a:p>
              <a:pPr indent="-342900" lvl="0" marL="457200" rtl="0" algn="l">
                <a:lnSpc>
                  <a:spcPct val="115000"/>
                </a:lnSpc>
                <a:spcBef>
                  <a:spcPts val="0"/>
                </a:spcBef>
                <a:spcAft>
                  <a:spcPts val="0"/>
                </a:spcAft>
                <a:buClr>
                  <a:schemeClr val="lt1"/>
                </a:buClr>
                <a:buSzPts val="1800"/>
                <a:buFont typeface="Roboto"/>
                <a:buChar char="●"/>
              </a:pPr>
              <a:r>
                <a:rPr lang="en" sz="1800">
                  <a:solidFill>
                    <a:schemeClr val="lt1"/>
                  </a:solidFill>
                  <a:latin typeface="Roboto"/>
                  <a:ea typeface="Roboto"/>
                  <a:cs typeface="Roboto"/>
                  <a:sym typeface="Roboto"/>
                </a:rPr>
                <a:t>Lack of universality</a:t>
              </a:r>
              <a:endParaRPr sz="1800">
                <a:solidFill>
                  <a:schemeClr val="lt1"/>
                </a:solidFill>
                <a:latin typeface="Roboto"/>
                <a:ea typeface="Roboto"/>
                <a:cs typeface="Roboto"/>
                <a:sym typeface="Roboto"/>
              </a:endParaRPr>
            </a:p>
            <a:p>
              <a:pPr indent="-342900" lvl="0" marL="457200" rtl="0" algn="l">
                <a:lnSpc>
                  <a:spcPct val="115000"/>
                </a:lnSpc>
                <a:spcBef>
                  <a:spcPts val="0"/>
                </a:spcBef>
                <a:spcAft>
                  <a:spcPts val="0"/>
                </a:spcAft>
                <a:buClr>
                  <a:schemeClr val="lt1"/>
                </a:buClr>
                <a:buSzPts val="1800"/>
                <a:buFont typeface="Roboto"/>
                <a:buChar char="●"/>
              </a:pPr>
              <a:r>
                <a:rPr lang="en" sz="1800">
                  <a:solidFill>
                    <a:schemeClr val="lt1"/>
                  </a:solidFill>
                  <a:latin typeface="Roboto"/>
                  <a:ea typeface="Roboto"/>
                  <a:cs typeface="Roboto"/>
                  <a:sym typeface="Roboto"/>
                </a:rPr>
                <a:t>Difficult to reverse or adjust</a:t>
              </a:r>
              <a:endParaRPr sz="1800">
                <a:solidFill>
                  <a:schemeClr val="lt1"/>
                </a:solidFill>
                <a:latin typeface="Roboto"/>
                <a:ea typeface="Roboto"/>
                <a:cs typeface="Roboto"/>
                <a:sym typeface="Roboto"/>
              </a:endParaRPr>
            </a:p>
          </p:txBody>
        </p:sp>
      </p:grpSp>
      <p:pic>
        <p:nvPicPr>
          <p:cNvPr id="257" name="Google Shape;257;p27"/>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grpSp>
        <p:nvGrpSpPr>
          <p:cNvPr id="262" name="Google Shape;262;p28"/>
          <p:cNvGrpSpPr/>
          <p:nvPr/>
        </p:nvGrpSpPr>
        <p:grpSpPr>
          <a:xfrm>
            <a:off x="99923" y="3792679"/>
            <a:ext cx="8943516" cy="1197618"/>
            <a:chOff x="1593000" y="2322568"/>
            <a:chExt cx="5957975" cy="643500"/>
          </a:xfrm>
        </p:grpSpPr>
        <p:sp>
          <p:nvSpPr>
            <p:cNvPr id="263" name="Google Shape;263;p28"/>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64" name="Google Shape;264;p28"/>
            <p:cNvSpPr/>
            <p:nvPr/>
          </p:nvSpPr>
          <p:spPr>
            <a:xfrm flipH="1">
              <a:off x="2282975" y="2322579"/>
              <a:ext cx="9567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65" name="Google Shape;265;p28"/>
            <p:cNvSpPr/>
            <p:nvPr/>
          </p:nvSpPr>
          <p:spPr>
            <a:xfrm rot="-5400000">
              <a:off x="3013749"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66" name="Google Shape;266;p28"/>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0">
                  <a:solidFill>
                    <a:srgbClr val="FFFFFF"/>
                  </a:solidFill>
                  <a:latin typeface="Roboto Medium"/>
                  <a:ea typeface="Roboto Medium"/>
                  <a:cs typeface="Roboto Medium"/>
                  <a:sym typeface="Roboto Medium"/>
                </a:rPr>
                <a:t>Tissue Adhesives</a:t>
              </a:r>
              <a:endParaRPr sz="2000">
                <a:solidFill>
                  <a:srgbClr val="FFFFFF"/>
                </a:solidFill>
                <a:latin typeface="Roboto"/>
                <a:ea typeface="Roboto"/>
                <a:cs typeface="Roboto"/>
                <a:sym typeface="Roboto"/>
              </a:endParaRPr>
            </a:p>
          </p:txBody>
        </p:sp>
        <p:sp>
          <p:nvSpPr>
            <p:cNvPr id="267" name="Google Shape;267;p28"/>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68" name="Google Shape;268;p28"/>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lang="en" sz="3903">
                  <a:solidFill>
                    <a:srgbClr val="FFFFFF"/>
                  </a:solidFill>
                  <a:latin typeface="Roboto Thin"/>
                  <a:ea typeface="Roboto Thin"/>
                  <a:cs typeface="Roboto Thin"/>
                  <a:sym typeface="Roboto Thin"/>
                </a:rPr>
                <a:t>04</a:t>
              </a:r>
              <a:endParaRPr sz="3903">
                <a:solidFill>
                  <a:srgbClr val="FFFFFF"/>
                </a:solidFill>
                <a:latin typeface="Roboto Thin"/>
                <a:ea typeface="Roboto Thin"/>
                <a:cs typeface="Roboto Thin"/>
                <a:sym typeface="Roboto Thin"/>
              </a:endParaRPr>
            </a:p>
          </p:txBody>
        </p:sp>
        <p:sp>
          <p:nvSpPr>
            <p:cNvPr id="269" name="Google Shape;269;p28"/>
            <p:cNvSpPr/>
            <p:nvPr/>
          </p:nvSpPr>
          <p:spPr>
            <a:xfrm>
              <a:off x="3916980" y="2323748"/>
              <a:ext cx="3560400" cy="642300"/>
            </a:xfrm>
            <a:prstGeom prst="rect">
              <a:avLst/>
            </a:prstGeom>
            <a:noFill/>
            <a:ln>
              <a:noFill/>
            </a:ln>
          </p:spPr>
          <p:txBody>
            <a:bodyPr anchorCtr="0" anchor="ctr" bIns="137225" lIns="137225" spcFirstLastPara="1" rIns="137225" wrap="square" tIns="137225">
              <a:noAutofit/>
            </a:bodyPr>
            <a:lstStyle/>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Non-invasive</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Reduced scarring and infection risk in some cases</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Reduces total demand for sutures</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Especially impactful in routine or low-complexity procedures</a:t>
              </a:r>
              <a:endParaRPr sz="1001">
                <a:solidFill>
                  <a:srgbClr val="A7291E"/>
                </a:solidFill>
                <a:latin typeface="Roboto"/>
                <a:ea typeface="Roboto"/>
                <a:cs typeface="Roboto"/>
                <a:sym typeface="Roboto"/>
              </a:endParaRPr>
            </a:p>
          </p:txBody>
        </p:sp>
      </p:grpSp>
      <p:grpSp>
        <p:nvGrpSpPr>
          <p:cNvPr id="270" name="Google Shape;270;p28"/>
          <p:cNvGrpSpPr/>
          <p:nvPr/>
        </p:nvGrpSpPr>
        <p:grpSpPr>
          <a:xfrm>
            <a:off x="99923" y="2573913"/>
            <a:ext cx="8943516" cy="1197618"/>
            <a:chOff x="1593000" y="2322568"/>
            <a:chExt cx="5957975" cy="643500"/>
          </a:xfrm>
        </p:grpSpPr>
        <p:sp>
          <p:nvSpPr>
            <p:cNvPr id="271" name="Google Shape;271;p28"/>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72" name="Google Shape;272;p28"/>
            <p:cNvSpPr/>
            <p:nvPr/>
          </p:nvSpPr>
          <p:spPr>
            <a:xfrm flipH="1">
              <a:off x="2283134" y="2322575"/>
              <a:ext cx="9225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73" name="Google Shape;273;p28"/>
            <p:cNvSpPr/>
            <p:nvPr/>
          </p:nvSpPr>
          <p:spPr>
            <a:xfrm rot="-5400000">
              <a:off x="3013749"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74" name="Google Shape;274;p28"/>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0">
                  <a:solidFill>
                    <a:srgbClr val="FFFFFF"/>
                  </a:solidFill>
                  <a:latin typeface="Roboto Medium"/>
                  <a:ea typeface="Roboto Medium"/>
                  <a:cs typeface="Roboto Medium"/>
                  <a:sym typeface="Roboto Medium"/>
                </a:rPr>
                <a:t>Surgical Staples</a:t>
              </a:r>
              <a:endParaRPr sz="2000">
                <a:solidFill>
                  <a:srgbClr val="FFFFFF"/>
                </a:solidFill>
                <a:latin typeface="Roboto"/>
                <a:ea typeface="Roboto"/>
                <a:cs typeface="Roboto"/>
                <a:sym typeface="Roboto"/>
              </a:endParaRPr>
            </a:p>
          </p:txBody>
        </p:sp>
        <p:sp>
          <p:nvSpPr>
            <p:cNvPr id="275" name="Google Shape;275;p28"/>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76" name="Google Shape;276;p28"/>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lang="en" sz="3903">
                  <a:solidFill>
                    <a:srgbClr val="FFFFFF"/>
                  </a:solidFill>
                  <a:latin typeface="Roboto Thin"/>
                  <a:ea typeface="Roboto Thin"/>
                  <a:cs typeface="Roboto Thin"/>
                  <a:sym typeface="Roboto Thin"/>
                </a:rPr>
                <a:t>03</a:t>
              </a:r>
              <a:endParaRPr sz="3903">
                <a:solidFill>
                  <a:srgbClr val="FFFFFF"/>
                </a:solidFill>
                <a:latin typeface="Roboto Thin"/>
                <a:ea typeface="Roboto Thin"/>
                <a:cs typeface="Roboto Thin"/>
                <a:sym typeface="Roboto Thin"/>
              </a:endParaRPr>
            </a:p>
          </p:txBody>
        </p:sp>
        <p:sp>
          <p:nvSpPr>
            <p:cNvPr id="277" name="Google Shape;277;p28"/>
            <p:cNvSpPr/>
            <p:nvPr/>
          </p:nvSpPr>
          <p:spPr>
            <a:xfrm>
              <a:off x="3916999" y="2323757"/>
              <a:ext cx="3554700" cy="642300"/>
            </a:xfrm>
            <a:prstGeom prst="rect">
              <a:avLst/>
            </a:prstGeom>
            <a:noFill/>
            <a:ln>
              <a:noFill/>
            </a:ln>
          </p:spPr>
          <p:txBody>
            <a:bodyPr anchorCtr="0" anchor="ctr" bIns="137225" lIns="137225" spcFirstLastPara="1" rIns="137225" wrap="square" tIns="137225">
              <a:noAutofit/>
            </a:bodyPr>
            <a:lstStyle/>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Faster application</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Widely used in high-volume procedures</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Easy to use</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Reduced training requirements</a:t>
              </a:r>
              <a:endParaRPr sz="1001">
                <a:solidFill>
                  <a:srgbClr val="A7291E"/>
                </a:solidFill>
                <a:latin typeface="Roboto"/>
                <a:ea typeface="Roboto"/>
                <a:cs typeface="Roboto"/>
                <a:sym typeface="Roboto"/>
              </a:endParaRPr>
            </a:p>
          </p:txBody>
        </p:sp>
      </p:grpSp>
      <p:grpSp>
        <p:nvGrpSpPr>
          <p:cNvPr id="278" name="Google Shape;278;p28"/>
          <p:cNvGrpSpPr/>
          <p:nvPr/>
        </p:nvGrpSpPr>
        <p:grpSpPr>
          <a:xfrm>
            <a:off x="99923" y="1355097"/>
            <a:ext cx="8943516" cy="1197618"/>
            <a:chOff x="1593000" y="2322568"/>
            <a:chExt cx="5957975" cy="643500"/>
          </a:xfrm>
        </p:grpSpPr>
        <p:sp>
          <p:nvSpPr>
            <p:cNvPr id="279" name="Google Shape;279;p28"/>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80" name="Google Shape;280;p28"/>
            <p:cNvSpPr/>
            <p:nvPr/>
          </p:nvSpPr>
          <p:spPr>
            <a:xfrm flipH="1">
              <a:off x="2282901" y="2322569"/>
              <a:ext cx="10362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81" name="Google Shape;281;p28"/>
            <p:cNvSpPr/>
            <p:nvPr/>
          </p:nvSpPr>
          <p:spPr>
            <a:xfrm rot="-5400000">
              <a:off x="3013749"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82" name="Google Shape;282;p28"/>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0">
                  <a:solidFill>
                    <a:srgbClr val="FFFFFF"/>
                  </a:solidFill>
                  <a:latin typeface="Roboto Medium"/>
                  <a:ea typeface="Roboto Medium"/>
                  <a:cs typeface="Roboto Medium"/>
                  <a:sym typeface="Roboto Medium"/>
                </a:rPr>
                <a:t>Athena (Kronos)</a:t>
              </a:r>
              <a:endParaRPr sz="2000">
                <a:solidFill>
                  <a:srgbClr val="FFFFFF"/>
                </a:solidFill>
                <a:latin typeface="Roboto"/>
                <a:ea typeface="Roboto"/>
                <a:cs typeface="Roboto"/>
                <a:sym typeface="Roboto"/>
              </a:endParaRPr>
            </a:p>
          </p:txBody>
        </p:sp>
        <p:sp>
          <p:nvSpPr>
            <p:cNvPr id="283" name="Google Shape;283;p28"/>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84" name="Google Shape;284;p28"/>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lang="en" sz="3903">
                  <a:solidFill>
                    <a:srgbClr val="FFFFFF"/>
                  </a:solidFill>
                  <a:latin typeface="Roboto Thin"/>
                  <a:ea typeface="Roboto Thin"/>
                  <a:cs typeface="Roboto Thin"/>
                  <a:sym typeface="Roboto Thin"/>
                </a:rPr>
                <a:t>02</a:t>
              </a:r>
              <a:endParaRPr sz="3903">
                <a:solidFill>
                  <a:srgbClr val="FFFFFF"/>
                </a:solidFill>
                <a:latin typeface="Roboto Thin"/>
                <a:ea typeface="Roboto Thin"/>
                <a:cs typeface="Roboto Thin"/>
                <a:sym typeface="Roboto Thin"/>
              </a:endParaRPr>
            </a:p>
          </p:txBody>
        </p:sp>
        <p:sp>
          <p:nvSpPr>
            <p:cNvPr id="285" name="Google Shape;285;p28"/>
            <p:cNvSpPr/>
            <p:nvPr/>
          </p:nvSpPr>
          <p:spPr>
            <a:xfrm>
              <a:off x="3921243" y="2323752"/>
              <a:ext cx="3578700" cy="642300"/>
            </a:xfrm>
            <a:prstGeom prst="rect">
              <a:avLst/>
            </a:prstGeom>
            <a:noFill/>
            <a:ln>
              <a:noFill/>
            </a:ln>
          </p:spPr>
          <p:txBody>
            <a:bodyPr anchorCtr="0" anchor="ctr" bIns="137225" lIns="137225" spcFirstLastPara="1" rIns="137225" wrap="square" tIns="137225">
              <a:noAutofit/>
            </a:bodyPr>
            <a:lstStyle/>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Patent-protected technology in symmetrical sutures</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Has high specialization</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Competes on product differentiation and niche expertise</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Focuses on affordability and usability</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Already established in the core product A&amp;A wants to enter</a:t>
              </a:r>
              <a:endParaRPr sz="1001">
                <a:solidFill>
                  <a:srgbClr val="A7291E"/>
                </a:solidFill>
                <a:latin typeface="Roboto"/>
                <a:ea typeface="Roboto"/>
                <a:cs typeface="Roboto"/>
                <a:sym typeface="Roboto"/>
              </a:endParaRPr>
            </a:p>
          </p:txBody>
        </p:sp>
      </p:grpSp>
      <p:grpSp>
        <p:nvGrpSpPr>
          <p:cNvPr id="286" name="Google Shape;286;p28"/>
          <p:cNvGrpSpPr/>
          <p:nvPr/>
        </p:nvGrpSpPr>
        <p:grpSpPr>
          <a:xfrm>
            <a:off x="99923" y="136345"/>
            <a:ext cx="8943516" cy="1197618"/>
            <a:chOff x="1593000" y="2322568"/>
            <a:chExt cx="5957975" cy="643500"/>
          </a:xfrm>
        </p:grpSpPr>
        <p:sp>
          <p:nvSpPr>
            <p:cNvPr id="287" name="Google Shape;287;p28"/>
            <p:cNvSpPr/>
            <p:nvPr/>
          </p:nvSpPr>
          <p:spPr>
            <a:xfrm>
              <a:off x="3728375" y="2322568"/>
              <a:ext cx="3822600" cy="643500"/>
            </a:xfrm>
            <a:prstGeom prst="rect">
              <a:avLst/>
            </a:prstGeom>
            <a:solidFill>
              <a:srgbClr val="EEEEE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88" name="Google Shape;288;p28"/>
            <p:cNvSpPr/>
            <p:nvPr/>
          </p:nvSpPr>
          <p:spPr>
            <a:xfrm flipH="1">
              <a:off x="2283075" y="2322570"/>
              <a:ext cx="933900" cy="642600"/>
            </a:xfrm>
            <a:prstGeom prst="rect">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89" name="Google Shape;289;p28"/>
            <p:cNvSpPr/>
            <p:nvPr/>
          </p:nvSpPr>
          <p:spPr>
            <a:xfrm rot="-5400000">
              <a:off x="3013750" y="1934671"/>
              <a:ext cx="643356" cy="1419149"/>
            </a:xfrm>
            <a:prstGeom prst="flowChartOffpageConnector">
              <a:avLst/>
            </a:prstGeom>
            <a:solidFill>
              <a:srgbClr val="A7291E"/>
            </a:solidFill>
            <a:ln>
              <a:noFill/>
            </a:ln>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90" name="Google Shape;290;p28"/>
            <p:cNvSpPr/>
            <p:nvPr/>
          </p:nvSpPr>
          <p:spPr>
            <a:xfrm>
              <a:off x="2342625" y="2399951"/>
              <a:ext cx="1940700" cy="495900"/>
            </a:xfrm>
            <a:prstGeom prst="rect">
              <a:avLst/>
            </a:prstGeom>
            <a:noFill/>
            <a:ln>
              <a:noFill/>
            </a:ln>
          </p:spPr>
          <p:txBody>
            <a:bodyPr anchorCtr="0" anchor="ctr" bIns="137225" lIns="137225" spcFirstLastPara="1" rIns="137225" wrap="square" tIns="137225">
              <a:noAutofit/>
            </a:bodyPr>
            <a:lstStyle/>
            <a:p>
              <a:pPr indent="0" lvl="0" marL="0" rtl="0" algn="l">
                <a:lnSpc>
                  <a:spcPct val="115000"/>
                </a:lnSpc>
                <a:spcBef>
                  <a:spcPts val="0"/>
                </a:spcBef>
                <a:spcAft>
                  <a:spcPts val="0"/>
                </a:spcAft>
                <a:buNone/>
              </a:pPr>
              <a:r>
                <a:rPr lang="en" sz="2001">
                  <a:solidFill>
                    <a:srgbClr val="FFFFFF"/>
                  </a:solidFill>
                  <a:latin typeface="Roboto Medium"/>
                  <a:ea typeface="Roboto Medium"/>
                  <a:cs typeface="Roboto Medium"/>
                  <a:sym typeface="Roboto Medium"/>
                </a:rPr>
                <a:t>Crius (Poseidon)</a:t>
              </a:r>
              <a:endParaRPr sz="2001">
                <a:solidFill>
                  <a:srgbClr val="FFFFFF"/>
                </a:solidFill>
                <a:latin typeface="Roboto"/>
                <a:ea typeface="Roboto"/>
                <a:cs typeface="Roboto"/>
                <a:sym typeface="Roboto"/>
              </a:endParaRPr>
            </a:p>
          </p:txBody>
        </p:sp>
        <p:sp>
          <p:nvSpPr>
            <p:cNvPr id="291" name="Google Shape;291;p28"/>
            <p:cNvSpPr/>
            <p:nvPr/>
          </p:nvSpPr>
          <p:spPr>
            <a:xfrm>
              <a:off x="1593000" y="2322568"/>
              <a:ext cx="690000" cy="642300"/>
            </a:xfrm>
            <a:prstGeom prst="rect">
              <a:avLst/>
            </a:prstGeom>
            <a:solidFill>
              <a:srgbClr val="B02B20"/>
            </a:solidFill>
            <a:ln>
              <a:noFill/>
            </a:ln>
            <a:effectLst>
              <a:outerShdw blurRad="107235" rotWithShape="0" algn="bl" dir="2700000" dist="42894">
                <a:srgbClr val="000000">
                  <a:alpha val="17000"/>
                </a:srgbClr>
              </a:outerShdw>
            </a:effectLst>
          </p:spPr>
          <p:txBody>
            <a:bodyPr anchorCtr="0" anchor="ctr" bIns="137225" lIns="137225" spcFirstLastPara="1" rIns="137225" wrap="square" tIns="137225">
              <a:noAutofit/>
            </a:bodyPr>
            <a:lstStyle/>
            <a:p>
              <a:pPr indent="0" lvl="0" marL="0" rtl="0" algn="l">
                <a:spcBef>
                  <a:spcPts val="0"/>
                </a:spcBef>
                <a:spcAft>
                  <a:spcPts val="0"/>
                </a:spcAft>
                <a:buNone/>
              </a:pPr>
              <a:r>
                <a:t/>
              </a:r>
              <a:endParaRPr/>
            </a:p>
          </p:txBody>
        </p:sp>
        <p:sp>
          <p:nvSpPr>
            <p:cNvPr id="292" name="Google Shape;292;p28"/>
            <p:cNvSpPr/>
            <p:nvPr/>
          </p:nvSpPr>
          <p:spPr>
            <a:xfrm>
              <a:off x="1593000" y="2322575"/>
              <a:ext cx="690000" cy="642600"/>
            </a:xfrm>
            <a:prstGeom prst="rect">
              <a:avLst/>
            </a:prstGeom>
            <a:solidFill>
              <a:srgbClr val="BE2F22"/>
            </a:solidFill>
            <a:ln>
              <a:noFill/>
            </a:ln>
          </p:spPr>
          <p:txBody>
            <a:bodyPr anchorCtr="0" anchor="ctr" bIns="137225" lIns="137225" spcFirstLastPara="1" rIns="137225" wrap="square" tIns="137225">
              <a:noAutofit/>
            </a:bodyPr>
            <a:lstStyle/>
            <a:p>
              <a:pPr indent="0" lvl="0" marL="0" rtl="0" algn="ctr">
                <a:spcBef>
                  <a:spcPts val="0"/>
                </a:spcBef>
                <a:spcAft>
                  <a:spcPts val="0"/>
                </a:spcAft>
                <a:buNone/>
              </a:pPr>
              <a:r>
                <a:rPr lang="en" sz="3903">
                  <a:solidFill>
                    <a:srgbClr val="FFFFFF"/>
                  </a:solidFill>
                  <a:latin typeface="Roboto Thin"/>
                  <a:ea typeface="Roboto Thin"/>
                  <a:cs typeface="Roboto Thin"/>
                  <a:sym typeface="Roboto Thin"/>
                </a:rPr>
                <a:t>01</a:t>
              </a:r>
              <a:endParaRPr sz="3903">
                <a:solidFill>
                  <a:srgbClr val="FFFFFF"/>
                </a:solidFill>
                <a:latin typeface="Roboto Thin"/>
                <a:ea typeface="Roboto Thin"/>
                <a:cs typeface="Roboto Thin"/>
                <a:sym typeface="Roboto Thin"/>
              </a:endParaRPr>
            </a:p>
          </p:txBody>
        </p:sp>
        <p:sp>
          <p:nvSpPr>
            <p:cNvPr id="293" name="Google Shape;293;p28"/>
            <p:cNvSpPr/>
            <p:nvPr/>
          </p:nvSpPr>
          <p:spPr>
            <a:xfrm>
              <a:off x="3925875" y="2323753"/>
              <a:ext cx="3574200" cy="642300"/>
            </a:xfrm>
            <a:prstGeom prst="rect">
              <a:avLst/>
            </a:prstGeom>
            <a:noFill/>
            <a:ln>
              <a:noFill/>
            </a:ln>
          </p:spPr>
          <p:txBody>
            <a:bodyPr anchorCtr="0" anchor="ctr" bIns="137225" lIns="137225" spcFirstLastPara="1" rIns="137225" wrap="square" tIns="137225">
              <a:noAutofit/>
            </a:bodyPr>
            <a:lstStyle/>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Competitive in spiral sutures</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Early FDA approval</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Advanced design that differentiates</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Large scale global presence</a:t>
              </a:r>
              <a:endParaRPr sz="1001">
                <a:solidFill>
                  <a:srgbClr val="A7291E"/>
                </a:solidFill>
                <a:latin typeface="Roboto"/>
                <a:ea typeface="Roboto"/>
                <a:cs typeface="Roboto"/>
                <a:sym typeface="Roboto"/>
              </a:endParaRPr>
            </a:p>
            <a:p>
              <a:pPr indent="-406711" lvl="0" marL="686307" rtl="0" algn="l">
                <a:lnSpc>
                  <a:spcPct val="115000"/>
                </a:lnSpc>
                <a:spcBef>
                  <a:spcPts val="0"/>
                </a:spcBef>
                <a:spcAft>
                  <a:spcPts val="0"/>
                </a:spcAft>
                <a:buClr>
                  <a:srgbClr val="A7291E"/>
                </a:buClr>
                <a:buSzPts val="1001"/>
                <a:buFont typeface="Roboto"/>
                <a:buChar char="●"/>
              </a:pPr>
              <a:r>
                <a:rPr lang="en" sz="1001">
                  <a:solidFill>
                    <a:srgbClr val="A7291E"/>
                  </a:solidFill>
                  <a:latin typeface="Roboto"/>
                  <a:ea typeface="Roboto"/>
                  <a:cs typeface="Roboto"/>
                  <a:sym typeface="Roboto"/>
                </a:rPr>
                <a:t>Already positioned in the market </a:t>
              </a:r>
              <a:endParaRPr sz="1001">
                <a:solidFill>
                  <a:srgbClr val="A7291E"/>
                </a:solidFill>
                <a:latin typeface="Roboto"/>
                <a:ea typeface="Roboto"/>
                <a:cs typeface="Roboto"/>
                <a:sym typeface="Roboto"/>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A&amp;A Competitive Advantages</a:t>
            </a:r>
            <a:endParaRPr b="1">
              <a:solidFill>
                <a:srgbClr val="D71600"/>
              </a:solidFill>
              <a:latin typeface="Roboto"/>
              <a:ea typeface="Roboto"/>
              <a:cs typeface="Roboto"/>
              <a:sym typeface="Roboto"/>
            </a:endParaRPr>
          </a:p>
        </p:txBody>
      </p:sp>
      <p:sp>
        <p:nvSpPr>
          <p:cNvPr id="299" name="Google Shape;299;p29"/>
          <p:cNvSpPr txBox="1"/>
          <p:nvPr>
            <p:ph idx="1" type="body"/>
          </p:nvPr>
        </p:nvSpPr>
        <p:spPr>
          <a:xfrm>
            <a:off x="376700" y="1386125"/>
            <a:ext cx="8212200" cy="3182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Brand trust advantage</a:t>
            </a:r>
            <a:endParaRPr sz="1600">
              <a:solidFill>
                <a:srgbClr val="D71600"/>
              </a:solidFill>
              <a:latin typeface="Roboto"/>
              <a:ea typeface="Roboto"/>
              <a:cs typeface="Roboto"/>
              <a:sym typeface="Roboto"/>
            </a:endParaRPr>
          </a:p>
          <a:p>
            <a:pPr indent="-330200" lvl="1" marL="9144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Known for high-quality, reliable products</a:t>
            </a:r>
            <a:endParaRPr sz="1600">
              <a:solidFill>
                <a:srgbClr val="D71600"/>
              </a:solidFill>
              <a:latin typeface="Roboto"/>
              <a:ea typeface="Roboto"/>
              <a:cs typeface="Roboto"/>
              <a:sym typeface="Roboto"/>
            </a:endParaRPr>
          </a:p>
          <a:p>
            <a:pPr indent="-330200" lvl="1" marL="9144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Critical in healthcare, where risk tolerance is low</a:t>
            </a:r>
            <a:endParaRPr sz="1600">
              <a:solidFill>
                <a:srgbClr val="D71600"/>
              </a:solidFill>
              <a:latin typeface="Roboto"/>
              <a:ea typeface="Roboto"/>
              <a:cs typeface="Roboto"/>
              <a:sym typeface="Roboto"/>
            </a:endParaRPr>
          </a:p>
          <a:p>
            <a:pPr indent="-330200" lvl="1" marL="9144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Surgeons prefer trusted suppliers over unknown innovators</a:t>
            </a:r>
            <a:endParaRPr sz="1600">
              <a:solidFill>
                <a:srgbClr val="D71600"/>
              </a:solidFill>
              <a:latin typeface="Roboto"/>
              <a:ea typeface="Roboto"/>
              <a:cs typeface="Roboto"/>
              <a:sym typeface="Roboto"/>
            </a:endParaRPr>
          </a:p>
          <a:p>
            <a:pPr indent="-330200" lvl="0" marL="4572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Distribution and Scale</a:t>
            </a:r>
            <a:endParaRPr sz="1600">
              <a:solidFill>
                <a:srgbClr val="D71600"/>
              </a:solidFill>
              <a:latin typeface="Roboto"/>
              <a:ea typeface="Roboto"/>
              <a:cs typeface="Roboto"/>
              <a:sym typeface="Roboto"/>
            </a:endParaRPr>
          </a:p>
          <a:p>
            <a:pPr indent="-330200" lvl="1" marL="9144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Existing relationships with hospitals, surgical centers, and a global logistics network</a:t>
            </a:r>
            <a:endParaRPr sz="1600">
              <a:solidFill>
                <a:srgbClr val="D71600"/>
              </a:solidFill>
              <a:latin typeface="Roboto"/>
              <a:ea typeface="Roboto"/>
              <a:cs typeface="Roboto"/>
              <a:sym typeface="Roboto"/>
            </a:endParaRPr>
          </a:p>
          <a:p>
            <a:pPr indent="-330200" lvl="1" marL="9144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Enables faster adoption once the products are launched</a:t>
            </a:r>
            <a:endParaRPr sz="1600">
              <a:solidFill>
                <a:srgbClr val="D71600"/>
              </a:solidFill>
              <a:latin typeface="Roboto"/>
              <a:ea typeface="Roboto"/>
              <a:cs typeface="Roboto"/>
              <a:sym typeface="Roboto"/>
            </a:endParaRPr>
          </a:p>
          <a:p>
            <a:pPr indent="-330200" lvl="0" marL="4572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Financial Strength</a:t>
            </a:r>
            <a:endParaRPr sz="1600">
              <a:solidFill>
                <a:srgbClr val="D71600"/>
              </a:solidFill>
              <a:latin typeface="Roboto"/>
              <a:ea typeface="Roboto"/>
              <a:cs typeface="Roboto"/>
              <a:sym typeface="Roboto"/>
            </a:endParaRPr>
          </a:p>
          <a:p>
            <a:pPr indent="-330200" lvl="1" marL="9144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Large revenue base</a:t>
            </a:r>
            <a:endParaRPr sz="1600">
              <a:solidFill>
                <a:srgbClr val="D71600"/>
              </a:solidFill>
              <a:latin typeface="Roboto"/>
              <a:ea typeface="Roboto"/>
              <a:cs typeface="Roboto"/>
              <a:sym typeface="Roboto"/>
            </a:endParaRPr>
          </a:p>
          <a:p>
            <a:pPr indent="-330200" lvl="1" marL="9144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Ability to invest in R&amp;D, acquire IP, and cover regulatory costs</a:t>
            </a:r>
            <a:endParaRPr sz="1600">
              <a:solidFill>
                <a:srgbClr val="D71600"/>
              </a:solidFill>
              <a:latin typeface="Roboto"/>
              <a:ea typeface="Roboto"/>
              <a:cs typeface="Roboto"/>
              <a:sym typeface="Roboto"/>
            </a:endParaRPr>
          </a:p>
        </p:txBody>
      </p:sp>
      <p:pic>
        <p:nvPicPr>
          <p:cNvPr id="300" name="Google Shape;300;p29"/>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0"/>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A&amp;A Competitive Disadvantages</a:t>
            </a:r>
            <a:endParaRPr b="1">
              <a:solidFill>
                <a:srgbClr val="D71600"/>
              </a:solidFill>
              <a:latin typeface="Roboto"/>
              <a:ea typeface="Roboto"/>
              <a:cs typeface="Roboto"/>
              <a:sym typeface="Roboto"/>
            </a:endParaRPr>
          </a:p>
        </p:txBody>
      </p:sp>
      <p:sp>
        <p:nvSpPr>
          <p:cNvPr id="306" name="Google Shape;306;p30"/>
          <p:cNvSpPr txBox="1"/>
          <p:nvPr>
            <p:ph idx="1" type="body"/>
          </p:nvPr>
        </p:nvSpPr>
        <p:spPr>
          <a:xfrm>
            <a:off x="376700" y="1386125"/>
            <a:ext cx="8212200" cy="3182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Late entry into barbed sutures</a:t>
            </a:r>
            <a:endParaRPr sz="1600">
              <a:solidFill>
                <a:srgbClr val="D71600"/>
              </a:solidFill>
              <a:latin typeface="Roboto"/>
              <a:ea typeface="Roboto"/>
              <a:cs typeface="Roboto"/>
              <a:sym typeface="Roboto"/>
            </a:endParaRPr>
          </a:p>
          <a:p>
            <a:pPr indent="-330200" lvl="1" marL="9144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Competitors already have FDA approval, are market-tested, and surgeon approved</a:t>
            </a:r>
            <a:endParaRPr sz="1600">
              <a:solidFill>
                <a:srgbClr val="D71600"/>
              </a:solidFill>
              <a:latin typeface="Roboto"/>
              <a:ea typeface="Roboto"/>
              <a:cs typeface="Roboto"/>
              <a:sym typeface="Roboto"/>
            </a:endParaRPr>
          </a:p>
          <a:p>
            <a:pPr indent="-330200" lvl="0" marL="4572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Switching costs and surgeon habits</a:t>
            </a:r>
            <a:endParaRPr sz="1600">
              <a:solidFill>
                <a:srgbClr val="D71600"/>
              </a:solidFill>
              <a:latin typeface="Roboto"/>
              <a:ea typeface="Roboto"/>
              <a:cs typeface="Roboto"/>
              <a:sym typeface="Roboto"/>
            </a:endParaRPr>
          </a:p>
          <a:p>
            <a:pPr indent="-330200" lvl="1" marL="9144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Surgeons are already trained on specific techniques and familiar products</a:t>
            </a:r>
            <a:endParaRPr sz="1600">
              <a:solidFill>
                <a:srgbClr val="D71600"/>
              </a:solidFill>
              <a:latin typeface="Roboto"/>
              <a:ea typeface="Roboto"/>
              <a:cs typeface="Roboto"/>
              <a:sym typeface="Roboto"/>
            </a:endParaRPr>
          </a:p>
          <a:p>
            <a:pPr indent="-330200" lvl="1" marL="9144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Will face resistance to a new product</a:t>
            </a:r>
            <a:endParaRPr sz="1600">
              <a:solidFill>
                <a:srgbClr val="D71600"/>
              </a:solidFill>
              <a:latin typeface="Roboto"/>
              <a:ea typeface="Roboto"/>
              <a:cs typeface="Roboto"/>
              <a:sym typeface="Roboto"/>
            </a:endParaRPr>
          </a:p>
          <a:p>
            <a:pPr indent="-330200" lvl="0" marL="4572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Regulatory barriers</a:t>
            </a:r>
            <a:endParaRPr sz="1600">
              <a:solidFill>
                <a:srgbClr val="D71600"/>
              </a:solidFill>
              <a:latin typeface="Roboto"/>
              <a:ea typeface="Roboto"/>
              <a:cs typeface="Roboto"/>
              <a:sym typeface="Roboto"/>
            </a:endParaRPr>
          </a:p>
          <a:p>
            <a:pPr indent="-330200" lvl="1" marL="9144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High cost and time to approval</a:t>
            </a:r>
            <a:endParaRPr sz="1600">
              <a:solidFill>
                <a:srgbClr val="D71600"/>
              </a:solidFill>
              <a:latin typeface="Roboto"/>
              <a:ea typeface="Roboto"/>
              <a:cs typeface="Roboto"/>
              <a:sym typeface="Roboto"/>
            </a:endParaRPr>
          </a:p>
          <a:p>
            <a:pPr indent="-330200" lvl="0" marL="4572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Pricing pressure</a:t>
            </a:r>
            <a:endParaRPr sz="1600">
              <a:solidFill>
                <a:srgbClr val="D71600"/>
              </a:solidFill>
              <a:latin typeface="Roboto"/>
              <a:ea typeface="Roboto"/>
              <a:cs typeface="Roboto"/>
              <a:sym typeface="Roboto"/>
            </a:endParaRPr>
          </a:p>
          <a:p>
            <a:pPr indent="-330200" lvl="1" marL="914400" rtl="0" algn="l">
              <a:spcBef>
                <a:spcPts val="0"/>
              </a:spcBef>
              <a:spcAft>
                <a:spcPts val="0"/>
              </a:spcAft>
              <a:buClr>
                <a:srgbClr val="D71600"/>
              </a:buClr>
              <a:buSzPts val="1600"/>
              <a:buFont typeface="Roboto"/>
              <a:buChar char="○"/>
            </a:pPr>
            <a:r>
              <a:rPr lang="en" sz="1600">
                <a:solidFill>
                  <a:srgbClr val="D71600"/>
                </a:solidFill>
                <a:latin typeface="Roboto"/>
                <a:ea typeface="Roboto"/>
                <a:cs typeface="Roboto"/>
                <a:sym typeface="Roboto"/>
              </a:rPr>
              <a:t>Market already includes high-cost innovative products and more affordable specialty products</a:t>
            </a:r>
            <a:endParaRPr sz="1600">
              <a:solidFill>
                <a:srgbClr val="D71600"/>
              </a:solidFill>
              <a:latin typeface="Roboto"/>
              <a:ea typeface="Roboto"/>
              <a:cs typeface="Roboto"/>
              <a:sym typeface="Roboto"/>
            </a:endParaRPr>
          </a:p>
        </p:txBody>
      </p:sp>
      <p:pic>
        <p:nvPicPr>
          <p:cNvPr id="307" name="Google Shape;307;p30"/>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grpSp>
        <p:nvGrpSpPr>
          <p:cNvPr id="312" name="Google Shape;312;p31"/>
          <p:cNvGrpSpPr/>
          <p:nvPr/>
        </p:nvGrpSpPr>
        <p:grpSpPr>
          <a:xfrm>
            <a:off x="146" y="3083390"/>
            <a:ext cx="9143704" cy="987708"/>
            <a:chOff x="1593000" y="2322568"/>
            <a:chExt cx="5957975" cy="643500"/>
          </a:xfrm>
        </p:grpSpPr>
        <p:sp>
          <p:nvSpPr>
            <p:cNvPr id="313" name="Google Shape;313;p31"/>
            <p:cNvSpPr/>
            <p:nvPr/>
          </p:nvSpPr>
          <p:spPr>
            <a:xfrm>
              <a:off x="3728375" y="2322568"/>
              <a:ext cx="3822600" cy="643500"/>
            </a:xfrm>
            <a:prstGeom prst="rect">
              <a:avLst/>
            </a:prstGeom>
            <a:solidFill>
              <a:srgbClr val="EEEEEE"/>
            </a:solidFill>
            <a:ln>
              <a:noFill/>
            </a:ln>
          </p:spPr>
          <p:txBody>
            <a:bodyPr anchorCtr="0" anchor="ctr" bIns="140325" lIns="140325" spcFirstLastPara="1" rIns="140325" wrap="square" tIns="140325">
              <a:noAutofit/>
            </a:bodyPr>
            <a:lstStyle/>
            <a:p>
              <a:pPr indent="0" lvl="0" marL="0" rtl="0" algn="l">
                <a:spcBef>
                  <a:spcPts val="0"/>
                </a:spcBef>
                <a:spcAft>
                  <a:spcPts val="0"/>
                </a:spcAft>
                <a:buNone/>
              </a:pPr>
              <a:r>
                <a:t/>
              </a:r>
              <a:endParaRPr/>
            </a:p>
          </p:txBody>
        </p:sp>
        <p:sp>
          <p:nvSpPr>
            <p:cNvPr id="314" name="Google Shape;314;p31"/>
            <p:cNvSpPr/>
            <p:nvPr/>
          </p:nvSpPr>
          <p:spPr>
            <a:xfrm flipH="1">
              <a:off x="2283025" y="2322575"/>
              <a:ext cx="1844400" cy="642600"/>
            </a:xfrm>
            <a:prstGeom prst="rect">
              <a:avLst/>
            </a:prstGeom>
            <a:solidFill>
              <a:srgbClr val="A7291E"/>
            </a:solidFill>
            <a:ln>
              <a:noFill/>
            </a:ln>
          </p:spPr>
          <p:txBody>
            <a:bodyPr anchorCtr="0" anchor="ctr" bIns="140325" lIns="140325" spcFirstLastPara="1" rIns="140325" wrap="square" tIns="140325">
              <a:noAutofit/>
            </a:bodyPr>
            <a:lstStyle/>
            <a:p>
              <a:pPr indent="0" lvl="0" marL="0" rtl="0" algn="l">
                <a:spcBef>
                  <a:spcPts val="0"/>
                </a:spcBef>
                <a:spcAft>
                  <a:spcPts val="0"/>
                </a:spcAft>
                <a:buNone/>
              </a:pPr>
              <a:r>
                <a:t/>
              </a:r>
              <a:endParaRPr/>
            </a:p>
          </p:txBody>
        </p:sp>
        <p:sp>
          <p:nvSpPr>
            <p:cNvPr id="315" name="Google Shape;315;p31"/>
            <p:cNvSpPr/>
            <p:nvPr/>
          </p:nvSpPr>
          <p:spPr>
            <a:xfrm rot="-5400000">
              <a:off x="3501574" y="1934671"/>
              <a:ext cx="643356" cy="1419149"/>
            </a:xfrm>
            <a:prstGeom prst="flowChartOffpageConnector">
              <a:avLst/>
            </a:prstGeom>
            <a:solidFill>
              <a:srgbClr val="A7291E"/>
            </a:solidFill>
            <a:ln>
              <a:noFill/>
            </a:ln>
          </p:spPr>
          <p:txBody>
            <a:bodyPr anchorCtr="0" anchor="ctr" bIns="140325" lIns="140325" spcFirstLastPara="1" rIns="140325" wrap="square" tIns="140325">
              <a:noAutofit/>
            </a:bodyPr>
            <a:lstStyle/>
            <a:p>
              <a:pPr indent="0" lvl="0" marL="0" rtl="0" algn="l">
                <a:spcBef>
                  <a:spcPts val="0"/>
                </a:spcBef>
                <a:spcAft>
                  <a:spcPts val="0"/>
                </a:spcAft>
                <a:buNone/>
              </a:pPr>
              <a:r>
                <a:t/>
              </a:r>
              <a:endParaRPr/>
            </a:p>
          </p:txBody>
        </p:sp>
        <p:sp>
          <p:nvSpPr>
            <p:cNvPr id="316" name="Google Shape;316;p31"/>
            <p:cNvSpPr/>
            <p:nvPr/>
          </p:nvSpPr>
          <p:spPr>
            <a:xfrm>
              <a:off x="2342625" y="2399951"/>
              <a:ext cx="1940700" cy="495900"/>
            </a:xfrm>
            <a:prstGeom prst="rect">
              <a:avLst/>
            </a:prstGeom>
            <a:noFill/>
            <a:ln>
              <a:noFill/>
            </a:ln>
          </p:spPr>
          <p:txBody>
            <a:bodyPr anchorCtr="0" anchor="ctr" bIns="140325" lIns="140325" spcFirstLastPara="1" rIns="140325" wrap="square" tIns="140325">
              <a:noAutofit/>
            </a:bodyPr>
            <a:lstStyle/>
            <a:p>
              <a:pPr indent="0" lvl="0" marL="0" rtl="0" algn="l">
                <a:lnSpc>
                  <a:spcPct val="115000"/>
                </a:lnSpc>
                <a:spcBef>
                  <a:spcPts val="0"/>
                </a:spcBef>
                <a:spcAft>
                  <a:spcPts val="0"/>
                </a:spcAft>
                <a:buNone/>
              </a:pPr>
              <a:r>
                <a:rPr b="1" lang="en" sz="1535">
                  <a:solidFill>
                    <a:srgbClr val="FFFFFF"/>
                  </a:solidFill>
                  <a:latin typeface="Roboto"/>
                  <a:ea typeface="Roboto"/>
                  <a:cs typeface="Roboto"/>
                  <a:sym typeface="Roboto"/>
                </a:rPr>
                <a:t>Hybrid Strategy (most competitive)</a:t>
              </a:r>
              <a:endParaRPr b="1" sz="1535">
                <a:solidFill>
                  <a:srgbClr val="FFFFFF"/>
                </a:solidFill>
                <a:latin typeface="Roboto"/>
                <a:ea typeface="Roboto"/>
                <a:cs typeface="Roboto"/>
                <a:sym typeface="Roboto"/>
              </a:endParaRPr>
            </a:p>
          </p:txBody>
        </p:sp>
        <p:sp>
          <p:nvSpPr>
            <p:cNvPr id="317" name="Google Shape;317;p31"/>
            <p:cNvSpPr/>
            <p:nvPr/>
          </p:nvSpPr>
          <p:spPr>
            <a:xfrm>
              <a:off x="1593000" y="2322568"/>
              <a:ext cx="690000" cy="642300"/>
            </a:xfrm>
            <a:prstGeom prst="rect">
              <a:avLst/>
            </a:prstGeom>
            <a:solidFill>
              <a:srgbClr val="B02B20"/>
            </a:solidFill>
            <a:ln>
              <a:noFill/>
            </a:ln>
            <a:effectLst>
              <a:outerShdw blurRad="109643" rotWithShape="0" algn="bl" dir="2700000" dist="43857">
                <a:srgbClr val="000000">
                  <a:alpha val="17000"/>
                </a:srgbClr>
              </a:outerShdw>
            </a:effectLst>
          </p:spPr>
          <p:txBody>
            <a:bodyPr anchorCtr="0" anchor="ctr" bIns="140325" lIns="140325" spcFirstLastPara="1" rIns="140325" wrap="square" tIns="140325">
              <a:noAutofit/>
            </a:bodyPr>
            <a:lstStyle/>
            <a:p>
              <a:pPr indent="0" lvl="0" marL="0" rtl="0" algn="l">
                <a:spcBef>
                  <a:spcPts val="0"/>
                </a:spcBef>
                <a:spcAft>
                  <a:spcPts val="0"/>
                </a:spcAft>
                <a:buNone/>
              </a:pPr>
              <a:r>
                <a:t/>
              </a:r>
              <a:endParaRPr/>
            </a:p>
          </p:txBody>
        </p:sp>
        <p:sp>
          <p:nvSpPr>
            <p:cNvPr id="318" name="Google Shape;318;p31"/>
            <p:cNvSpPr/>
            <p:nvPr/>
          </p:nvSpPr>
          <p:spPr>
            <a:xfrm>
              <a:off x="1593000" y="2322575"/>
              <a:ext cx="690000" cy="642600"/>
            </a:xfrm>
            <a:prstGeom prst="rect">
              <a:avLst/>
            </a:prstGeom>
            <a:solidFill>
              <a:srgbClr val="BE2F22"/>
            </a:solidFill>
            <a:ln>
              <a:noFill/>
            </a:ln>
          </p:spPr>
          <p:txBody>
            <a:bodyPr anchorCtr="0" anchor="ctr" bIns="140325" lIns="140325" spcFirstLastPara="1" rIns="140325" wrap="square" tIns="140325">
              <a:noAutofit/>
            </a:bodyPr>
            <a:lstStyle/>
            <a:p>
              <a:pPr indent="0" lvl="0" marL="0" rtl="0" algn="ctr">
                <a:spcBef>
                  <a:spcPts val="0"/>
                </a:spcBef>
                <a:spcAft>
                  <a:spcPts val="0"/>
                </a:spcAft>
                <a:buNone/>
              </a:pPr>
              <a:r>
                <a:rPr lang="en" sz="3991">
                  <a:solidFill>
                    <a:srgbClr val="FFFFFF"/>
                  </a:solidFill>
                  <a:latin typeface="Roboto Thin"/>
                  <a:ea typeface="Roboto Thin"/>
                  <a:cs typeface="Roboto Thin"/>
                  <a:sym typeface="Roboto Thin"/>
                </a:rPr>
                <a:t>03</a:t>
              </a:r>
              <a:endParaRPr sz="3991">
                <a:solidFill>
                  <a:srgbClr val="FFFFFF"/>
                </a:solidFill>
                <a:latin typeface="Roboto Thin"/>
                <a:ea typeface="Roboto Thin"/>
                <a:cs typeface="Roboto Thin"/>
                <a:sym typeface="Roboto Thin"/>
              </a:endParaRPr>
            </a:p>
          </p:txBody>
        </p:sp>
        <p:sp>
          <p:nvSpPr>
            <p:cNvPr id="319" name="Google Shape;319;p31"/>
            <p:cNvSpPr/>
            <p:nvPr/>
          </p:nvSpPr>
          <p:spPr>
            <a:xfrm>
              <a:off x="4387850" y="2323750"/>
              <a:ext cx="2971200" cy="642300"/>
            </a:xfrm>
            <a:prstGeom prst="rect">
              <a:avLst/>
            </a:prstGeom>
            <a:noFill/>
            <a:ln>
              <a:noFill/>
            </a:ln>
          </p:spPr>
          <p:txBody>
            <a:bodyPr anchorCtr="0" anchor="ctr" bIns="140325" lIns="140325" spcFirstLastPara="1" rIns="140325" wrap="square" tIns="140325">
              <a:noAutofit/>
            </a:bodyPr>
            <a:lstStyle/>
            <a:p>
              <a:pPr indent="-428826" lvl="0" marL="701714" rtl="0" algn="l">
                <a:lnSpc>
                  <a:spcPct val="115000"/>
                </a:lnSpc>
                <a:spcBef>
                  <a:spcPts val="0"/>
                </a:spcBef>
                <a:spcAft>
                  <a:spcPts val="0"/>
                </a:spcAft>
                <a:buClr>
                  <a:srgbClr val="A7291E"/>
                </a:buClr>
                <a:buSzPts val="1228"/>
                <a:buFont typeface="Roboto"/>
                <a:buChar char="●"/>
              </a:pPr>
              <a:r>
                <a:rPr lang="en" sz="1228">
                  <a:solidFill>
                    <a:srgbClr val="A7291E"/>
                  </a:solidFill>
                  <a:latin typeface="Roboto"/>
                  <a:ea typeface="Roboto"/>
                  <a:cs typeface="Roboto"/>
                  <a:sym typeface="Roboto"/>
                </a:rPr>
                <a:t>Purchase symmetrical sutures IP</a:t>
              </a:r>
              <a:endParaRPr sz="1228">
                <a:solidFill>
                  <a:srgbClr val="A7291E"/>
                </a:solidFill>
                <a:latin typeface="Roboto"/>
                <a:ea typeface="Roboto"/>
                <a:cs typeface="Roboto"/>
                <a:sym typeface="Roboto"/>
              </a:endParaRPr>
            </a:p>
            <a:p>
              <a:pPr indent="-428826" lvl="0" marL="701714" rtl="0" algn="l">
                <a:lnSpc>
                  <a:spcPct val="115000"/>
                </a:lnSpc>
                <a:spcBef>
                  <a:spcPts val="0"/>
                </a:spcBef>
                <a:spcAft>
                  <a:spcPts val="0"/>
                </a:spcAft>
                <a:buClr>
                  <a:srgbClr val="A7291E"/>
                </a:buClr>
                <a:buSzPts val="1228"/>
                <a:buFont typeface="Roboto"/>
                <a:buChar char="●"/>
              </a:pPr>
              <a:r>
                <a:rPr lang="en" sz="1228">
                  <a:solidFill>
                    <a:srgbClr val="A7291E"/>
                  </a:solidFill>
                  <a:latin typeface="Roboto"/>
                  <a:ea typeface="Roboto"/>
                  <a:cs typeface="Roboto"/>
                  <a:sym typeface="Roboto"/>
                </a:rPr>
                <a:t>Develop spiral sutures internally</a:t>
              </a:r>
              <a:endParaRPr sz="1228">
                <a:solidFill>
                  <a:srgbClr val="A7291E"/>
                </a:solidFill>
                <a:latin typeface="Roboto"/>
                <a:ea typeface="Roboto"/>
                <a:cs typeface="Roboto"/>
                <a:sym typeface="Roboto"/>
              </a:endParaRPr>
            </a:p>
            <a:p>
              <a:pPr indent="-428826" lvl="0" marL="701714" rtl="0" algn="l">
                <a:lnSpc>
                  <a:spcPct val="115000"/>
                </a:lnSpc>
                <a:spcBef>
                  <a:spcPts val="0"/>
                </a:spcBef>
                <a:spcAft>
                  <a:spcPts val="0"/>
                </a:spcAft>
                <a:buClr>
                  <a:srgbClr val="A7291E"/>
                </a:buClr>
                <a:buSzPts val="1228"/>
                <a:buFont typeface="Roboto"/>
                <a:buChar char="●"/>
              </a:pPr>
              <a:r>
                <a:rPr lang="en" sz="1228">
                  <a:solidFill>
                    <a:srgbClr val="A7291E"/>
                  </a:solidFill>
                  <a:latin typeface="Roboto"/>
                  <a:ea typeface="Roboto"/>
                  <a:cs typeface="Roboto"/>
                  <a:sym typeface="Roboto"/>
                </a:rPr>
                <a:t>Balances immediate competitiveness with future differentiation</a:t>
              </a:r>
              <a:endParaRPr sz="1228">
                <a:solidFill>
                  <a:srgbClr val="A7291E"/>
                </a:solidFill>
                <a:latin typeface="Roboto"/>
                <a:ea typeface="Roboto"/>
                <a:cs typeface="Roboto"/>
                <a:sym typeface="Roboto"/>
              </a:endParaRPr>
            </a:p>
          </p:txBody>
        </p:sp>
      </p:grpSp>
      <p:grpSp>
        <p:nvGrpSpPr>
          <p:cNvPr id="320" name="Google Shape;320;p31"/>
          <p:cNvGrpSpPr/>
          <p:nvPr/>
        </p:nvGrpSpPr>
        <p:grpSpPr>
          <a:xfrm>
            <a:off x="146" y="2077905"/>
            <a:ext cx="9143704" cy="987708"/>
            <a:chOff x="1593000" y="2322568"/>
            <a:chExt cx="5957975" cy="643500"/>
          </a:xfrm>
        </p:grpSpPr>
        <p:sp>
          <p:nvSpPr>
            <p:cNvPr id="321" name="Google Shape;321;p31"/>
            <p:cNvSpPr/>
            <p:nvPr/>
          </p:nvSpPr>
          <p:spPr>
            <a:xfrm>
              <a:off x="3728375" y="2322568"/>
              <a:ext cx="3822600" cy="643500"/>
            </a:xfrm>
            <a:prstGeom prst="rect">
              <a:avLst/>
            </a:prstGeom>
            <a:solidFill>
              <a:srgbClr val="EEEEEE"/>
            </a:solidFill>
            <a:ln>
              <a:noFill/>
            </a:ln>
          </p:spPr>
          <p:txBody>
            <a:bodyPr anchorCtr="0" anchor="ctr" bIns="140325" lIns="140325" spcFirstLastPara="1" rIns="140325" wrap="square" tIns="140325">
              <a:noAutofit/>
            </a:bodyPr>
            <a:lstStyle/>
            <a:p>
              <a:pPr indent="0" lvl="0" marL="0" rtl="0" algn="l">
                <a:spcBef>
                  <a:spcPts val="0"/>
                </a:spcBef>
                <a:spcAft>
                  <a:spcPts val="0"/>
                </a:spcAft>
                <a:buNone/>
              </a:pPr>
              <a:r>
                <a:t/>
              </a:r>
              <a:endParaRPr/>
            </a:p>
          </p:txBody>
        </p:sp>
        <p:sp>
          <p:nvSpPr>
            <p:cNvPr id="322" name="Google Shape;322;p31"/>
            <p:cNvSpPr/>
            <p:nvPr/>
          </p:nvSpPr>
          <p:spPr>
            <a:xfrm flipH="1">
              <a:off x="2283025" y="2322575"/>
              <a:ext cx="1844400" cy="642600"/>
            </a:xfrm>
            <a:prstGeom prst="rect">
              <a:avLst/>
            </a:prstGeom>
            <a:solidFill>
              <a:srgbClr val="A7291E"/>
            </a:solidFill>
            <a:ln>
              <a:noFill/>
            </a:ln>
          </p:spPr>
          <p:txBody>
            <a:bodyPr anchorCtr="0" anchor="ctr" bIns="140325" lIns="140325" spcFirstLastPara="1" rIns="140325" wrap="square" tIns="140325">
              <a:noAutofit/>
            </a:bodyPr>
            <a:lstStyle/>
            <a:p>
              <a:pPr indent="0" lvl="0" marL="0" rtl="0" algn="l">
                <a:spcBef>
                  <a:spcPts val="0"/>
                </a:spcBef>
                <a:spcAft>
                  <a:spcPts val="0"/>
                </a:spcAft>
                <a:buNone/>
              </a:pPr>
              <a:r>
                <a:t/>
              </a:r>
              <a:endParaRPr/>
            </a:p>
          </p:txBody>
        </p:sp>
        <p:sp>
          <p:nvSpPr>
            <p:cNvPr id="323" name="Google Shape;323;p31"/>
            <p:cNvSpPr/>
            <p:nvPr/>
          </p:nvSpPr>
          <p:spPr>
            <a:xfrm rot="-5400000">
              <a:off x="3501574" y="1934671"/>
              <a:ext cx="643356" cy="1419149"/>
            </a:xfrm>
            <a:prstGeom prst="flowChartOffpageConnector">
              <a:avLst/>
            </a:prstGeom>
            <a:solidFill>
              <a:srgbClr val="A7291E"/>
            </a:solidFill>
            <a:ln>
              <a:noFill/>
            </a:ln>
          </p:spPr>
          <p:txBody>
            <a:bodyPr anchorCtr="0" anchor="ctr" bIns="140325" lIns="140325" spcFirstLastPara="1" rIns="140325" wrap="square" tIns="140325">
              <a:noAutofit/>
            </a:bodyPr>
            <a:lstStyle/>
            <a:p>
              <a:pPr indent="0" lvl="0" marL="0" rtl="0" algn="l">
                <a:spcBef>
                  <a:spcPts val="0"/>
                </a:spcBef>
                <a:spcAft>
                  <a:spcPts val="0"/>
                </a:spcAft>
                <a:buNone/>
              </a:pPr>
              <a:r>
                <a:t/>
              </a:r>
              <a:endParaRPr/>
            </a:p>
          </p:txBody>
        </p:sp>
        <p:sp>
          <p:nvSpPr>
            <p:cNvPr id="324" name="Google Shape;324;p31"/>
            <p:cNvSpPr/>
            <p:nvPr/>
          </p:nvSpPr>
          <p:spPr>
            <a:xfrm>
              <a:off x="2342625" y="2399951"/>
              <a:ext cx="1940700" cy="495900"/>
            </a:xfrm>
            <a:prstGeom prst="rect">
              <a:avLst/>
            </a:prstGeom>
            <a:noFill/>
            <a:ln>
              <a:noFill/>
            </a:ln>
          </p:spPr>
          <p:txBody>
            <a:bodyPr anchorCtr="0" anchor="ctr" bIns="140325" lIns="140325" spcFirstLastPara="1" rIns="140325" wrap="square" tIns="140325">
              <a:noAutofit/>
            </a:bodyPr>
            <a:lstStyle/>
            <a:p>
              <a:pPr indent="0" lvl="0" marL="0" rtl="0" algn="l">
                <a:lnSpc>
                  <a:spcPct val="115000"/>
                </a:lnSpc>
                <a:spcBef>
                  <a:spcPts val="0"/>
                </a:spcBef>
                <a:spcAft>
                  <a:spcPts val="0"/>
                </a:spcAft>
                <a:buNone/>
              </a:pPr>
              <a:r>
                <a:rPr lang="en" sz="1535">
                  <a:solidFill>
                    <a:srgbClr val="FFFFFF"/>
                  </a:solidFill>
                  <a:latin typeface="Roboto Medium"/>
                  <a:ea typeface="Roboto Medium"/>
                  <a:cs typeface="Roboto Medium"/>
                  <a:sym typeface="Roboto Medium"/>
                </a:rPr>
                <a:t>Innovative Leader (high risk)</a:t>
              </a:r>
              <a:endParaRPr sz="1535">
                <a:solidFill>
                  <a:srgbClr val="FFFFFF"/>
                </a:solidFill>
                <a:latin typeface="Roboto"/>
                <a:ea typeface="Roboto"/>
                <a:cs typeface="Roboto"/>
                <a:sym typeface="Roboto"/>
              </a:endParaRPr>
            </a:p>
          </p:txBody>
        </p:sp>
        <p:sp>
          <p:nvSpPr>
            <p:cNvPr id="325" name="Google Shape;325;p31"/>
            <p:cNvSpPr/>
            <p:nvPr/>
          </p:nvSpPr>
          <p:spPr>
            <a:xfrm>
              <a:off x="1593000" y="2322568"/>
              <a:ext cx="690000" cy="642300"/>
            </a:xfrm>
            <a:prstGeom prst="rect">
              <a:avLst/>
            </a:prstGeom>
            <a:solidFill>
              <a:srgbClr val="B02B20"/>
            </a:solidFill>
            <a:ln>
              <a:noFill/>
            </a:ln>
            <a:effectLst>
              <a:outerShdw blurRad="109643" rotWithShape="0" algn="bl" dir="2700000" dist="43857">
                <a:srgbClr val="000000">
                  <a:alpha val="17000"/>
                </a:srgbClr>
              </a:outerShdw>
            </a:effectLst>
          </p:spPr>
          <p:txBody>
            <a:bodyPr anchorCtr="0" anchor="ctr" bIns="140325" lIns="140325" spcFirstLastPara="1" rIns="140325" wrap="square" tIns="140325">
              <a:noAutofit/>
            </a:bodyPr>
            <a:lstStyle/>
            <a:p>
              <a:pPr indent="0" lvl="0" marL="0" rtl="0" algn="l">
                <a:spcBef>
                  <a:spcPts val="0"/>
                </a:spcBef>
                <a:spcAft>
                  <a:spcPts val="0"/>
                </a:spcAft>
                <a:buNone/>
              </a:pPr>
              <a:r>
                <a:t/>
              </a:r>
              <a:endParaRPr/>
            </a:p>
          </p:txBody>
        </p:sp>
        <p:sp>
          <p:nvSpPr>
            <p:cNvPr id="326" name="Google Shape;326;p31"/>
            <p:cNvSpPr/>
            <p:nvPr/>
          </p:nvSpPr>
          <p:spPr>
            <a:xfrm>
              <a:off x="1593000" y="2322575"/>
              <a:ext cx="690000" cy="642600"/>
            </a:xfrm>
            <a:prstGeom prst="rect">
              <a:avLst/>
            </a:prstGeom>
            <a:solidFill>
              <a:srgbClr val="BE2F22"/>
            </a:solidFill>
            <a:ln>
              <a:noFill/>
            </a:ln>
          </p:spPr>
          <p:txBody>
            <a:bodyPr anchorCtr="0" anchor="ctr" bIns="140325" lIns="140325" spcFirstLastPara="1" rIns="140325" wrap="square" tIns="140325">
              <a:noAutofit/>
            </a:bodyPr>
            <a:lstStyle/>
            <a:p>
              <a:pPr indent="0" lvl="0" marL="0" rtl="0" algn="ctr">
                <a:spcBef>
                  <a:spcPts val="0"/>
                </a:spcBef>
                <a:spcAft>
                  <a:spcPts val="0"/>
                </a:spcAft>
                <a:buNone/>
              </a:pPr>
              <a:r>
                <a:rPr lang="en" sz="3991">
                  <a:solidFill>
                    <a:srgbClr val="FFFFFF"/>
                  </a:solidFill>
                  <a:latin typeface="Roboto Thin"/>
                  <a:ea typeface="Roboto Thin"/>
                  <a:cs typeface="Roboto Thin"/>
                  <a:sym typeface="Roboto Thin"/>
                </a:rPr>
                <a:t>02</a:t>
              </a:r>
              <a:endParaRPr sz="3991">
                <a:solidFill>
                  <a:srgbClr val="FFFFFF"/>
                </a:solidFill>
                <a:latin typeface="Roboto Thin"/>
                <a:ea typeface="Roboto Thin"/>
                <a:cs typeface="Roboto Thin"/>
                <a:sym typeface="Roboto Thin"/>
              </a:endParaRPr>
            </a:p>
          </p:txBody>
        </p:sp>
        <p:sp>
          <p:nvSpPr>
            <p:cNvPr id="327" name="Google Shape;327;p31"/>
            <p:cNvSpPr/>
            <p:nvPr/>
          </p:nvSpPr>
          <p:spPr>
            <a:xfrm>
              <a:off x="4387850" y="2323750"/>
              <a:ext cx="2971200" cy="642300"/>
            </a:xfrm>
            <a:prstGeom prst="rect">
              <a:avLst/>
            </a:prstGeom>
            <a:noFill/>
            <a:ln>
              <a:noFill/>
            </a:ln>
          </p:spPr>
          <p:txBody>
            <a:bodyPr anchorCtr="0" anchor="ctr" bIns="140325" lIns="140325" spcFirstLastPara="1" rIns="140325" wrap="square" tIns="140325">
              <a:noAutofit/>
            </a:bodyPr>
            <a:lstStyle/>
            <a:p>
              <a:pPr indent="-428826" lvl="0" marL="701714" rtl="0" algn="l">
                <a:lnSpc>
                  <a:spcPct val="115000"/>
                </a:lnSpc>
                <a:spcBef>
                  <a:spcPts val="0"/>
                </a:spcBef>
                <a:spcAft>
                  <a:spcPts val="0"/>
                </a:spcAft>
                <a:buClr>
                  <a:srgbClr val="A7291E"/>
                </a:buClr>
                <a:buSzPts val="1228"/>
                <a:buFont typeface="Roboto"/>
                <a:buChar char="●"/>
              </a:pPr>
              <a:r>
                <a:rPr lang="en" sz="1228">
                  <a:solidFill>
                    <a:srgbClr val="A7291E"/>
                  </a:solidFill>
                  <a:latin typeface="Roboto"/>
                  <a:ea typeface="Roboto"/>
                  <a:cs typeface="Roboto"/>
                  <a:sym typeface="Roboto"/>
                </a:rPr>
                <a:t>Develop spiral sutures internally</a:t>
              </a:r>
              <a:endParaRPr sz="1228">
                <a:solidFill>
                  <a:srgbClr val="A7291E"/>
                </a:solidFill>
                <a:latin typeface="Roboto"/>
                <a:ea typeface="Roboto"/>
                <a:cs typeface="Roboto"/>
                <a:sym typeface="Roboto"/>
              </a:endParaRPr>
            </a:p>
            <a:p>
              <a:pPr indent="-428826" lvl="0" marL="701714" rtl="0" algn="l">
                <a:lnSpc>
                  <a:spcPct val="115000"/>
                </a:lnSpc>
                <a:spcBef>
                  <a:spcPts val="0"/>
                </a:spcBef>
                <a:spcAft>
                  <a:spcPts val="0"/>
                </a:spcAft>
                <a:buClr>
                  <a:srgbClr val="A7291E"/>
                </a:buClr>
                <a:buSzPts val="1228"/>
                <a:buFont typeface="Roboto"/>
                <a:buChar char="●"/>
              </a:pPr>
              <a:r>
                <a:rPr lang="en" sz="1228">
                  <a:solidFill>
                    <a:srgbClr val="A7291E"/>
                  </a:solidFill>
                  <a:latin typeface="Roboto"/>
                  <a:ea typeface="Roboto"/>
                  <a:cs typeface="Roboto"/>
                  <a:sym typeface="Roboto"/>
                </a:rPr>
                <a:t>Be first to market</a:t>
              </a:r>
              <a:endParaRPr sz="1228">
                <a:solidFill>
                  <a:srgbClr val="A7291E"/>
                </a:solidFill>
                <a:latin typeface="Roboto"/>
                <a:ea typeface="Roboto"/>
                <a:cs typeface="Roboto"/>
                <a:sym typeface="Roboto"/>
              </a:endParaRPr>
            </a:p>
            <a:p>
              <a:pPr indent="-428826" lvl="0" marL="701714" rtl="0" algn="l">
                <a:lnSpc>
                  <a:spcPct val="115000"/>
                </a:lnSpc>
                <a:spcBef>
                  <a:spcPts val="0"/>
                </a:spcBef>
                <a:spcAft>
                  <a:spcPts val="0"/>
                </a:spcAft>
                <a:buClr>
                  <a:srgbClr val="A7291E"/>
                </a:buClr>
                <a:buSzPts val="1228"/>
                <a:buFont typeface="Roboto"/>
                <a:buChar char="●"/>
              </a:pPr>
              <a:r>
                <a:rPr lang="en" sz="1228">
                  <a:solidFill>
                    <a:srgbClr val="A7291E"/>
                  </a:solidFill>
                  <a:latin typeface="Roboto"/>
                  <a:ea typeface="Roboto"/>
                  <a:cs typeface="Roboto"/>
                  <a:sym typeface="Roboto"/>
                </a:rPr>
                <a:t>Gain market leadership, premium pricing, and long-term market dominance</a:t>
              </a:r>
              <a:endParaRPr sz="1228">
                <a:solidFill>
                  <a:srgbClr val="A7291E"/>
                </a:solidFill>
                <a:latin typeface="Roboto"/>
                <a:ea typeface="Roboto"/>
                <a:cs typeface="Roboto"/>
                <a:sym typeface="Roboto"/>
              </a:endParaRPr>
            </a:p>
          </p:txBody>
        </p:sp>
      </p:grpSp>
      <p:grpSp>
        <p:nvGrpSpPr>
          <p:cNvPr id="328" name="Google Shape;328;p31"/>
          <p:cNvGrpSpPr/>
          <p:nvPr/>
        </p:nvGrpSpPr>
        <p:grpSpPr>
          <a:xfrm>
            <a:off x="146" y="1072405"/>
            <a:ext cx="9143704" cy="987708"/>
            <a:chOff x="1593000" y="2322568"/>
            <a:chExt cx="5957975" cy="643500"/>
          </a:xfrm>
        </p:grpSpPr>
        <p:sp>
          <p:nvSpPr>
            <p:cNvPr id="329" name="Google Shape;329;p31"/>
            <p:cNvSpPr/>
            <p:nvPr/>
          </p:nvSpPr>
          <p:spPr>
            <a:xfrm>
              <a:off x="3728375" y="2322568"/>
              <a:ext cx="3822600" cy="643500"/>
            </a:xfrm>
            <a:prstGeom prst="rect">
              <a:avLst/>
            </a:prstGeom>
            <a:solidFill>
              <a:srgbClr val="EEEEEE"/>
            </a:solidFill>
            <a:ln>
              <a:noFill/>
            </a:ln>
          </p:spPr>
          <p:txBody>
            <a:bodyPr anchorCtr="0" anchor="ctr" bIns="140325" lIns="140325" spcFirstLastPara="1" rIns="140325" wrap="square" tIns="140325">
              <a:noAutofit/>
            </a:bodyPr>
            <a:lstStyle/>
            <a:p>
              <a:pPr indent="0" lvl="0" marL="0" rtl="0" algn="l">
                <a:spcBef>
                  <a:spcPts val="0"/>
                </a:spcBef>
                <a:spcAft>
                  <a:spcPts val="0"/>
                </a:spcAft>
                <a:buNone/>
              </a:pPr>
              <a:r>
                <a:t/>
              </a:r>
              <a:endParaRPr/>
            </a:p>
          </p:txBody>
        </p:sp>
        <p:sp>
          <p:nvSpPr>
            <p:cNvPr id="330" name="Google Shape;330;p31"/>
            <p:cNvSpPr/>
            <p:nvPr/>
          </p:nvSpPr>
          <p:spPr>
            <a:xfrm flipH="1">
              <a:off x="2283025" y="2322575"/>
              <a:ext cx="1844400" cy="642600"/>
            </a:xfrm>
            <a:prstGeom prst="rect">
              <a:avLst/>
            </a:prstGeom>
            <a:solidFill>
              <a:srgbClr val="A7291E"/>
            </a:solidFill>
            <a:ln>
              <a:noFill/>
            </a:ln>
          </p:spPr>
          <p:txBody>
            <a:bodyPr anchorCtr="0" anchor="ctr" bIns="140325" lIns="140325" spcFirstLastPara="1" rIns="140325" wrap="square" tIns="140325">
              <a:noAutofit/>
            </a:bodyPr>
            <a:lstStyle/>
            <a:p>
              <a:pPr indent="0" lvl="0" marL="0" rtl="0" algn="l">
                <a:spcBef>
                  <a:spcPts val="0"/>
                </a:spcBef>
                <a:spcAft>
                  <a:spcPts val="0"/>
                </a:spcAft>
                <a:buNone/>
              </a:pPr>
              <a:r>
                <a:t/>
              </a:r>
              <a:endParaRPr/>
            </a:p>
          </p:txBody>
        </p:sp>
        <p:sp>
          <p:nvSpPr>
            <p:cNvPr id="331" name="Google Shape;331;p31"/>
            <p:cNvSpPr/>
            <p:nvPr/>
          </p:nvSpPr>
          <p:spPr>
            <a:xfrm rot="-5400000">
              <a:off x="3501574" y="1934671"/>
              <a:ext cx="643356" cy="1419149"/>
            </a:xfrm>
            <a:prstGeom prst="flowChartOffpageConnector">
              <a:avLst/>
            </a:prstGeom>
            <a:solidFill>
              <a:srgbClr val="A7291E"/>
            </a:solidFill>
            <a:ln>
              <a:noFill/>
            </a:ln>
          </p:spPr>
          <p:txBody>
            <a:bodyPr anchorCtr="0" anchor="ctr" bIns="140325" lIns="140325" spcFirstLastPara="1" rIns="140325" wrap="square" tIns="140325">
              <a:noAutofit/>
            </a:bodyPr>
            <a:lstStyle/>
            <a:p>
              <a:pPr indent="0" lvl="0" marL="0" rtl="0" algn="l">
                <a:spcBef>
                  <a:spcPts val="0"/>
                </a:spcBef>
                <a:spcAft>
                  <a:spcPts val="0"/>
                </a:spcAft>
                <a:buNone/>
              </a:pPr>
              <a:r>
                <a:t/>
              </a:r>
              <a:endParaRPr/>
            </a:p>
          </p:txBody>
        </p:sp>
        <p:sp>
          <p:nvSpPr>
            <p:cNvPr id="332" name="Google Shape;332;p31"/>
            <p:cNvSpPr/>
            <p:nvPr/>
          </p:nvSpPr>
          <p:spPr>
            <a:xfrm>
              <a:off x="2342625" y="2399951"/>
              <a:ext cx="1940700" cy="495900"/>
            </a:xfrm>
            <a:prstGeom prst="rect">
              <a:avLst/>
            </a:prstGeom>
            <a:noFill/>
            <a:ln>
              <a:noFill/>
            </a:ln>
          </p:spPr>
          <p:txBody>
            <a:bodyPr anchorCtr="0" anchor="ctr" bIns="140325" lIns="140325" spcFirstLastPara="1" rIns="140325" wrap="square" tIns="140325">
              <a:noAutofit/>
            </a:bodyPr>
            <a:lstStyle/>
            <a:p>
              <a:pPr indent="0" lvl="0" marL="0" rtl="0" algn="l">
                <a:lnSpc>
                  <a:spcPct val="115000"/>
                </a:lnSpc>
                <a:spcBef>
                  <a:spcPts val="0"/>
                </a:spcBef>
                <a:spcAft>
                  <a:spcPts val="0"/>
                </a:spcAft>
                <a:buNone/>
              </a:pPr>
              <a:r>
                <a:rPr lang="en" sz="1535">
                  <a:solidFill>
                    <a:srgbClr val="FFFFFF"/>
                  </a:solidFill>
                  <a:latin typeface="Roboto Medium"/>
                  <a:ea typeface="Roboto Medium"/>
                  <a:cs typeface="Roboto Medium"/>
                  <a:sym typeface="Roboto Medium"/>
                </a:rPr>
                <a:t>Fast Follower (low risk)</a:t>
              </a:r>
              <a:endParaRPr sz="1535">
                <a:solidFill>
                  <a:srgbClr val="FFFFFF"/>
                </a:solidFill>
                <a:latin typeface="Roboto"/>
                <a:ea typeface="Roboto"/>
                <a:cs typeface="Roboto"/>
                <a:sym typeface="Roboto"/>
              </a:endParaRPr>
            </a:p>
          </p:txBody>
        </p:sp>
        <p:sp>
          <p:nvSpPr>
            <p:cNvPr id="333" name="Google Shape;333;p31"/>
            <p:cNvSpPr/>
            <p:nvPr/>
          </p:nvSpPr>
          <p:spPr>
            <a:xfrm>
              <a:off x="1593000" y="2322568"/>
              <a:ext cx="690000" cy="642300"/>
            </a:xfrm>
            <a:prstGeom prst="rect">
              <a:avLst/>
            </a:prstGeom>
            <a:solidFill>
              <a:srgbClr val="B02B20"/>
            </a:solidFill>
            <a:ln>
              <a:noFill/>
            </a:ln>
            <a:effectLst>
              <a:outerShdw blurRad="109643" rotWithShape="0" algn="bl" dir="2700000" dist="43857">
                <a:srgbClr val="000000">
                  <a:alpha val="17000"/>
                </a:srgbClr>
              </a:outerShdw>
            </a:effectLst>
          </p:spPr>
          <p:txBody>
            <a:bodyPr anchorCtr="0" anchor="ctr" bIns="140325" lIns="140325" spcFirstLastPara="1" rIns="140325" wrap="square" tIns="140325">
              <a:noAutofit/>
            </a:bodyPr>
            <a:lstStyle/>
            <a:p>
              <a:pPr indent="0" lvl="0" marL="0" rtl="0" algn="l">
                <a:spcBef>
                  <a:spcPts val="0"/>
                </a:spcBef>
                <a:spcAft>
                  <a:spcPts val="0"/>
                </a:spcAft>
                <a:buNone/>
              </a:pPr>
              <a:r>
                <a:t/>
              </a:r>
              <a:endParaRPr/>
            </a:p>
          </p:txBody>
        </p:sp>
        <p:sp>
          <p:nvSpPr>
            <p:cNvPr id="334" name="Google Shape;334;p31"/>
            <p:cNvSpPr/>
            <p:nvPr/>
          </p:nvSpPr>
          <p:spPr>
            <a:xfrm>
              <a:off x="1593000" y="2322575"/>
              <a:ext cx="690000" cy="642600"/>
            </a:xfrm>
            <a:prstGeom prst="rect">
              <a:avLst/>
            </a:prstGeom>
            <a:solidFill>
              <a:srgbClr val="BE2F22"/>
            </a:solidFill>
            <a:ln>
              <a:noFill/>
            </a:ln>
          </p:spPr>
          <p:txBody>
            <a:bodyPr anchorCtr="0" anchor="ctr" bIns="140325" lIns="140325" spcFirstLastPara="1" rIns="140325" wrap="square" tIns="140325">
              <a:noAutofit/>
            </a:bodyPr>
            <a:lstStyle/>
            <a:p>
              <a:pPr indent="0" lvl="0" marL="0" rtl="0" algn="ctr">
                <a:spcBef>
                  <a:spcPts val="0"/>
                </a:spcBef>
                <a:spcAft>
                  <a:spcPts val="0"/>
                </a:spcAft>
                <a:buNone/>
              </a:pPr>
              <a:r>
                <a:rPr lang="en" sz="3991">
                  <a:solidFill>
                    <a:srgbClr val="FFFFFF"/>
                  </a:solidFill>
                  <a:latin typeface="Roboto Thin"/>
                  <a:ea typeface="Roboto Thin"/>
                  <a:cs typeface="Roboto Thin"/>
                  <a:sym typeface="Roboto Thin"/>
                </a:rPr>
                <a:t>01</a:t>
              </a:r>
              <a:endParaRPr sz="3991">
                <a:solidFill>
                  <a:srgbClr val="FFFFFF"/>
                </a:solidFill>
                <a:latin typeface="Roboto Thin"/>
                <a:ea typeface="Roboto Thin"/>
                <a:cs typeface="Roboto Thin"/>
                <a:sym typeface="Roboto Thin"/>
              </a:endParaRPr>
            </a:p>
          </p:txBody>
        </p:sp>
        <p:sp>
          <p:nvSpPr>
            <p:cNvPr id="335" name="Google Shape;335;p31"/>
            <p:cNvSpPr/>
            <p:nvPr/>
          </p:nvSpPr>
          <p:spPr>
            <a:xfrm>
              <a:off x="4387850" y="2323750"/>
              <a:ext cx="2971200" cy="642300"/>
            </a:xfrm>
            <a:prstGeom prst="rect">
              <a:avLst/>
            </a:prstGeom>
            <a:noFill/>
            <a:ln>
              <a:noFill/>
            </a:ln>
          </p:spPr>
          <p:txBody>
            <a:bodyPr anchorCtr="0" anchor="ctr" bIns="140325" lIns="140325" spcFirstLastPara="1" rIns="140325" wrap="square" tIns="140325">
              <a:noAutofit/>
            </a:bodyPr>
            <a:lstStyle/>
            <a:p>
              <a:pPr indent="-428826" lvl="0" marL="701714" rtl="0" algn="l">
                <a:lnSpc>
                  <a:spcPct val="115000"/>
                </a:lnSpc>
                <a:spcBef>
                  <a:spcPts val="0"/>
                </a:spcBef>
                <a:spcAft>
                  <a:spcPts val="0"/>
                </a:spcAft>
                <a:buClr>
                  <a:srgbClr val="A7291E"/>
                </a:buClr>
                <a:buSzPts val="1228"/>
                <a:buFont typeface="Roboto"/>
                <a:buChar char="●"/>
              </a:pPr>
              <a:r>
                <a:rPr lang="en" sz="1228">
                  <a:solidFill>
                    <a:srgbClr val="A7291E"/>
                  </a:solidFill>
                  <a:latin typeface="Roboto"/>
                  <a:ea typeface="Roboto"/>
                  <a:cs typeface="Roboto"/>
                  <a:sym typeface="Roboto"/>
                </a:rPr>
                <a:t>Purchase IP</a:t>
              </a:r>
              <a:endParaRPr sz="1228">
                <a:solidFill>
                  <a:srgbClr val="A7291E"/>
                </a:solidFill>
                <a:latin typeface="Roboto"/>
                <a:ea typeface="Roboto"/>
                <a:cs typeface="Roboto"/>
                <a:sym typeface="Roboto"/>
              </a:endParaRPr>
            </a:p>
            <a:p>
              <a:pPr indent="-428826" lvl="0" marL="701714" rtl="0" algn="l">
                <a:lnSpc>
                  <a:spcPct val="115000"/>
                </a:lnSpc>
                <a:spcBef>
                  <a:spcPts val="0"/>
                </a:spcBef>
                <a:spcAft>
                  <a:spcPts val="0"/>
                </a:spcAft>
                <a:buClr>
                  <a:srgbClr val="A7291E"/>
                </a:buClr>
                <a:buSzPts val="1228"/>
                <a:buFont typeface="Roboto"/>
                <a:buChar char="●"/>
              </a:pPr>
              <a:r>
                <a:rPr lang="en" sz="1228">
                  <a:solidFill>
                    <a:srgbClr val="A7291E"/>
                  </a:solidFill>
                  <a:latin typeface="Roboto"/>
                  <a:ea typeface="Roboto"/>
                  <a:cs typeface="Roboto"/>
                  <a:sym typeface="Roboto"/>
                </a:rPr>
                <a:t>Enter market quickly</a:t>
              </a:r>
              <a:endParaRPr sz="1228">
                <a:solidFill>
                  <a:srgbClr val="A7291E"/>
                </a:solidFill>
                <a:latin typeface="Roboto"/>
                <a:ea typeface="Roboto"/>
                <a:cs typeface="Roboto"/>
                <a:sym typeface="Roboto"/>
              </a:endParaRPr>
            </a:p>
            <a:p>
              <a:pPr indent="-428826" lvl="0" marL="701714" rtl="0" algn="l">
                <a:lnSpc>
                  <a:spcPct val="115000"/>
                </a:lnSpc>
                <a:spcBef>
                  <a:spcPts val="0"/>
                </a:spcBef>
                <a:spcAft>
                  <a:spcPts val="0"/>
                </a:spcAft>
                <a:buClr>
                  <a:srgbClr val="A7291E"/>
                </a:buClr>
                <a:buSzPts val="1228"/>
                <a:buFont typeface="Roboto"/>
                <a:buChar char="●"/>
              </a:pPr>
              <a:r>
                <a:rPr lang="en" sz="1228">
                  <a:solidFill>
                    <a:srgbClr val="A7291E"/>
                  </a:solidFill>
                  <a:latin typeface="Roboto"/>
                  <a:ea typeface="Roboto"/>
                  <a:cs typeface="Roboto"/>
                  <a:sym typeface="Roboto"/>
                </a:rPr>
                <a:t>Compete on brand, distribution, and pricing</a:t>
              </a:r>
              <a:endParaRPr sz="1228">
                <a:solidFill>
                  <a:srgbClr val="A7291E"/>
                </a:solidFill>
                <a:latin typeface="Roboto"/>
                <a:ea typeface="Roboto"/>
                <a:cs typeface="Roboto"/>
                <a:sym typeface="Roboto"/>
              </a:endParaRPr>
            </a:p>
          </p:txBody>
        </p:sp>
      </p:grpSp>
      <p:pic>
        <p:nvPicPr>
          <p:cNvPr id="336" name="Google Shape;336;p31"/>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2"/>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latin typeface="Roboto"/>
                <a:ea typeface="Roboto"/>
                <a:cs typeface="Roboto"/>
                <a:sym typeface="Roboto"/>
              </a:rPr>
              <a:t>Sensitivity</a:t>
            </a:r>
            <a:r>
              <a:rPr b="1" lang="en">
                <a:latin typeface="Roboto"/>
                <a:ea typeface="Roboto"/>
                <a:cs typeface="Roboto"/>
                <a:sym typeface="Roboto"/>
              </a:rPr>
              <a:t> Analysis</a:t>
            </a:r>
            <a:endParaRPr b="1">
              <a:latin typeface="Roboto"/>
              <a:ea typeface="Roboto"/>
              <a:cs typeface="Roboto"/>
              <a:sym typeface="Roboto"/>
            </a:endParaRPr>
          </a:p>
        </p:txBody>
      </p:sp>
      <p:pic>
        <p:nvPicPr>
          <p:cNvPr id="342" name="Google Shape;342;p32"/>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3"/>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Portfolio Insight </a:t>
            </a:r>
            <a:endParaRPr b="1">
              <a:solidFill>
                <a:srgbClr val="D71600"/>
              </a:solidFill>
              <a:latin typeface="Roboto"/>
              <a:ea typeface="Roboto"/>
              <a:cs typeface="Roboto"/>
              <a:sym typeface="Roboto"/>
            </a:endParaRPr>
          </a:p>
        </p:txBody>
      </p:sp>
      <p:sp>
        <p:nvSpPr>
          <p:cNvPr id="348" name="Google Shape;348;p33"/>
          <p:cNvSpPr txBox="1"/>
          <p:nvPr>
            <p:ph idx="1" type="body"/>
          </p:nvPr>
        </p:nvSpPr>
        <p:spPr>
          <a:xfrm>
            <a:off x="376700" y="1468825"/>
            <a:ext cx="8212200" cy="3099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rgbClr val="D71600"/>
              </a:buClr>
              <a:buSzPts val="2000"/>
              <a:buFont typeface="Roboto"/>
              <a:buChar char="●"/>
            </a:pPr>
            <a:r>
              <a:rPr lang="en" sz="2000">
                <a:solidFill>
                  <a:srgbClr val="D71600"/>
                </a:solidFill>
                <a:latin typeface="Roboto"/>
                <a:ea typeface="Roboto"/>
                <a:cs typeface="Roboto"/>
                <a:sym typeface="Roboto"/>
              </a:rPr>
              <a:t>The sensitivity analysis is meant to test the strength of our decision points</a:t>
            </a:r>
            <a:endParaRPr sz="2000">
              <a:solidFill>
                <a:srgbClr val="D71600"/>
              </a:solidFill>
              <a:latin typeface="Roboto"/>
              <a:ea typeface="Roboto"/>
              <a:cs typeface="Roboto"/>
              <a:sym typeface="Roboto"/>
            </a:endParaRPr>
          </a:p>
          <a:p>
            <a:pPr indent="0" lvl="0" marL="457200" rtl="0" algn="l">
              <a:spcBef>
                <a:spcPts val="0"/>
              </a:spcBef>
              <a:spcAft>
                <a:spcPts val="0"/>
              </a:spcAft>
              <a:buNone/>
            </a:pPr>
            <a:r>
              <a:rPr lang="en" sz="2000">
                <a:solidFill>
                  <a:srgbClr val="D71600"/>
                </a:solidFill>
                <a:latin typeface="Roboto"/>
                <a:ea typeface="Roboto"/>
                <a:cs typeface="Roboto"/>
                <a:sym typeface="Roboto"/>
              </a:rPr>
              <a:t> </a:t>
            </a:r>
            <a:endParaRPr sz="2000">
              <a:solidFill>
                <a:srgbClr val="D71600"/>
              </a:solidFill>
              <a:latin typeface="Roboto"/>
              <a:ea typeface="Roboto"/>
              <a:cs typeface="Roboto"/>
              <a:sym typeface="Roboto"/>
            </a:endParaRPr>
          </a:p>
          <a:p>
            <a:pPr indent="-355600" lvl="0" marL="457200" rtl="0" algn="l">
              <a:spcBef>
                <a:spcPts val="0"/>
              </a:spcBef>
              <a:spcAft>
                <a:spcPts val="0"/>
              </a:spcAft>
              <a:buClr>
                <a:srgbClr val="D71600"/>
              </a:buClr>
              <a:buSzPts val="2000"/>
              <a:buFont typeface="Roboto"/>
              <a:buChar char="●"/>
            </a:pPr>
            <a:r>
              <a:rPr lang="en" sz="2000">
                <a:solidFill>
                  <a:srgbClr val="D71600"/>
                </a:solidFill>
                <a:latin typeface="Roboto"/>
                <a:ea typeface="Roboto"/>
                <a:cs typeface="Roboto"/>
                <a:sym typeface="Roboto"/>
              </a:rPr>
              <a:t>We focused on three key drivers: </a:t>
            </a:r>
            <a:r>
              <a:rPr lang="en" sz="2000">
                <a:solidFill>
                  <a:srgbClr val="D71600"/>
                </a:solidFill>
                <a:latin typeface="Roboto"/>
                <a:ea typeface="Roboto"/>
                <a:cs typeface="Roboto"/>
                <a:sym typeface="Roboto"/>
              </a:rPr>
              <a:t>marketing, pricing, and market share </a:t>
            </a:r>
            <a:endParaRPr sz="2000">
              <a:solidFill>
                <a:srgbClr val="D71600"/>
              </a:solidFill>
              <a:latin typeface="Roboto"/>
              <a:ea typeface="Roboto"/>
              <a:cs typeface="Roboto"/>
              <a:sym typeface="Roboto"/>
            </a:endParaRPr>
          </a:p>
          <a:p>
            <a:pPr indent="0" lvl="0" marL="457200" rtl="0" algn="l">
              <a:spcBef>
                <a:spcPts val="0"/>
              </a:spcBef>
              <a:spcAft>
                <a:spcPts val="0"/>
              </a:spcAft>
              <a:buNone/>
            </a:pPr>
            <a:r>
              <a:t/>
            </a:r>
            <a:endParaRPr sz="2000">
              <a:solidFill>
                <a:srgbClr val="D71600"/>
              </a:solidFill>
              <a:latin typeface="Roboto"/>
              <a:ea typeface="Roboto"/>
              <a:cs typeface="Roboto"/>
              <a:sym typeface="Roboto"/>
            </a:endParaRPr>
          </a:p>
          <a:p>
            <a:pPr indent="-355600" lvl="0" marL="457200" rtl="0" algn="l">
              <a:spcBef>
                <a:spcPts val="0"/>
              </a:spcBef>
              <a:spcAft>
                <a:spcPts val="0"/>
              </a:spcAft>
              <a:buClr>
                <a:srgbClr val="D71600"/>
              </a:buClr>
              <a:buSzPts val="2000"/>
              <a:buFont typeface="Roboto"/>
              <a:buChar char="●"/>
            </a:pPr>
            <a:r>
              <a:rPr lang="en" sz="2000">
                <a:solidFill>
                  <a:srgbClr val="D71600"/>
                </a:solidFill>
                <a:latin typeface="Roboto"/>
                <a:ea typeface="Roboto"/>
                <a:cs typeface="Roboto"/>
                <a:sym typeface="Roboto"/>
              </a:rPr>
              <a:t>Overall Goal: understanding how these three variables affect profitability (Net Present Value) </a:t>
            </a:r>
            <a:endParaRPr sz="2000">
              <a:solidFill>
                <a:srgbClr val="D71600"/>
              </a:solidFill>
              <a:latin typeface="Roboto"/>
              <a:ea typeface="Roboto"/>
              <a:cs typeface="Roboto"/>
              <a:sym typeface="Roboto"/>
            </a:endParaRPr>
          </a:p>
        </p:txBody>
      </p:sp>
      <p:pic>
        <p:nvPicPr>
          <p:cNvPr id="349" name="Google Shape;349;p33"/>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4"/>
          <p:cNvSpPr txBox="1"/>
          <p:nvPr>
            <p:ph type="title"/>
          </p:nvPr>
        </p:nvSpPr>
        <p:spPr>
          <a:xfrm>
            <a:off x="311700" y="372500"/>
            <a:ext cx="38967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Marketing Sensitivity</a:t>
            </a:r>
            <a:endParaRPr b="1">
              <a:solidFill>
                <a:srgbClr val="D71600"/>
              </a:solidFill>
              <a:latin typeface="Roboto"/>
              <a:ea typeface="Roboto"/>
              <a:cs typeface="Roboto"/>
              <a:sym typeface="Roboto"/>
            </a:endParaRPr>
          </a:p>
        </p:txBody>
      </p:sp>
      <p:sp>
        <p:nvSpPr>
          <p:cNvPr id="355" name="Google Shape;355;p34"/>
          <p:cNvSpPr txBox="1"/>
          <p:nvPr/>
        </p:nvSpPr>
        <p:spPr>
          <a:xfrm rot="-5400000">
            <a:off x="3830517" y="1954879"/>
            <a:ext cx="2280000" cy="7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chemeClr val="dk2"/>
                </a:solidFill>
                <a:latin typeface="Open Sans"/>
                <a:ea typeface="Open Sans"/>
                <a:cs typeface="Open Sans"/>
                <a:sym typeface="Open Sans"/>
              </a:rPr>
              <a:t>NPV (In  Millions)</a:t>
            </a:r>
            <a:endParaRPr b="1" u="sng">
              <a:solidFill>
                <a:schemeClr val="dk2"/>
              </a:solidFill>
              <a:latin typeface="Open Sans"/>
              <a:ea typeface="Open Sans"/>
              <a:cs typeface="Open Sans"/>
              <a:sym typeface="Open Sans"/>
            </a:endParaRPr>
          </a:p>
        </p:txBody>
      </p:sp>
      <p:cxnSp>
        <p:nvCxnSpPr>
          <p:cNvPr id="356" name="Google Shape;356;p34"/>
          <p:cNvCxnSpPr/>
          <p:nvPr/>
        </p:nvCxnSpPr>
        <p:spPr>
          <a:xfrm>
            <a:off x="4951275" y="4625600"/>
            <a:ext cx="3774000" cy="0"/>
          </a:xfrm>
          <a:prstGeom prst="straightConnector1">
            <a:avLst/>
          </a:prstGeom>
          <a:noFill/>
          <a:ln cap="flat" cmpd="sng" w="9525">
            <a:solidFill>
              <a:schemeClr val="dk2"/>
            </a:solidFill>
            <a:prstDash val="solid"/>
            <a:round/>
            <a:headEnd len="med" w="med" type="none"/>
            <a:tailEnd len="med" w="med" type="none"/>
          </a:ln>
        </p:spPr>
      </p:cxnSp>
      <p:sp>
        <p:nvSpPr>
          <p:cNvPr id="357" name="Google Shape;357;p34"/>
          <p:cNvSpPr txBox="1"/>
          <p:nvPr/>
        </p:nvSpPr>
        <p:spPr>
          <a:xfrm>
            <a:off x="5841049" y="4591984"/>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u="sng">
                <a:solidFill>
                  <a:schemeClr val="dk2"/>
                </a:solidFill>
                <a:latin typeface="Open Sans"/>
                <a:ea typeface="Open Sans"/>
                <a:cs typeface="Open Sans"/>
                <a:sym typeface="Open Sans"/>
              </a:rPr>
              <a:t>Marketing Strategy</a:t>
            </a:r>
            <a:endParaRPr/>
          </a:p>
        </p:txBody>
      </p:sp>
      <p:sp>
        <p:nvSpPr>
          <p:cNvPr id="358" name="Google Shape;358;p34"/>
          <p:cNvSpPr txBox="1"/>
          <p:nvPr>
            <p:ph idx="1" type="body"/>
          </p:nvPr>
        </p:nvSpPr>
        <p:spPr>
          <a:xfrm>
            <a:off x="229900" y="1468825"/>
            <a:ext cx="4423500" cy="30999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Held pricing constant to isolate marketing strategy impact on NPV</a:t>
            </a:r>
            <a:endParaRPr sz="1300">
              <a:solidFill>
                <a:srgbClr val="D71600"/>
              </a:solidFill>
              <a:latin typeface="Roboto"/>
              <a:ea typeface="Roboto"/>
              <a:cs typeface="Roboto"/>
              <a:sym typeface="Roboto"/>
            </a:endParaRPr>
          </a:p>
          <a:p>
            <a:pPr indent="-311150" lvl="0" marL="457200" rtl="0" algn="l">
              <a:spcBef>
                <a:spcPts val="100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As marketing quality increases (Bronze to Gold)... NPV </a:t>
            </a:r>
            <a:r>
              <a:rPr lang="en" sz="1300">
                <a:solidFill>
                  <a:srgbClr val="D71600"/>
                </a:solidFill>
                <a:latin typeface="Roboto"/>
                <a:ea typeface="Roboto"/>
                <a:cs typeface="Roboto"/>
                <a:sym typeface="Roboto"/>
              </a:rPr>
              <a:t>increases, Gold standard marketing being the highest</a:t>
            </a:r>
            <a:endParaRPr sz="1300">
              <a:solidFill>
                <a:srgbClr val="D71600"/>
              </a:solidFill>
              <a:latin typeface="Roboto"/>
              <a:ea typeface="Roboto"/>
              <a:cs typeface="Roboto"/>
              <a:sym typeface="Roboto"/>
            </a:endParaRPr>
          </a:p>
          <a:p>
            <a:pPr indent="-311150" lvl="0" marL="457200" rtl="0" algn="l">
              <a:spcBef>
                <a:spcPts val="100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Spiral sutures are newer to the market: </a:t>
            </a:r>
            <a:endParaRPr sz="1300">
              <a:solidFill>
                <a:srgbClr val="D71600"/>
              </a:solidFill>
              <a:latin typeface="Roboto"/>
              <a:ea typeface="Roboto"/>
              <a:cs typeface="Roboto"/>
              <a:sym typeface="Roboto"/>
            </a:endParaRPr>
          </a:p>
          <a:p>
            <a:pPr indent="-311150" lvl="1" marL="914400" rtl="0" algn="l">
              <a:spcBef>
                <a:spcPts val="100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Surgeons need in person demonstrations &amp; research to trust product </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Builds awareness &amp; education </a:t>
            </a:r>
            <a:endParaRPr sz="1300">
              <a:solidFill>
                <a:srgbClr val="D71600"/>
              </a:solidFill>
              <a:latin typeface="Roboto"/>
              <a:ea typeface="Roboto"/>
              <a:cs typeface="Roboto"/>
              <a:sym typeface="Roboto"/>
            </a:endParaRPr>
          </a:p>
          <a:p>
            <a:pPr indent="-311150" lvl="0" marL="4572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Gold-level Marketing: </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Maximizes adoption </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Contributes to the highest NPV</a:t>
            </a:r>
            <a:endParaRPr sz="1300">
              <a:solidFill>
                <a:srgbClr val="D71600"/>
              </a:solidFill>
              <a:latin typeface="Roboto"/>
              <a:ea typeface="Roboto"/>
              <a:cs typeface="Roboto"/>
              <a:sym typeface="Roboto"/>
            </a:endParaRPr>
          </a:p>
        </p:txBody>
      </p:sp>
      <p:pic>
        <p:nvPicPr>
          <p:cNvPr id="359" name="Google Shape;359;p34"/>
          <p:cNvPicPr preferRelativeResize="0"/>
          <p:nvPr/>
        </p:nvPicPr>
        <p:blipFill>
          <a:blip r:embed="rId3">
            <a:alphaModFix/>
          </a:blip>
          <a:stretch>
            <a:fillRect/>
          </a:stretch>
        </p:blipFill>
        <p:spPr>
          <a:xfrm>
            <a:off x="4882300" y="623400"/>
            <a:ext cx="3896701" cy="3864354"/>
          </a:xfrm>
          <a:prstGeom prst="rect">
            <a:avLst/>
          </a:prstGeom>
          <a:noFill/>
          <a:ln>
            <a:noFill/>
          </a:ln>
        </p:spPr>
      </p:pic>
      <p:pic>
        <p:nvPicPr>
          <p:cNvPr id="360" name="Google Shape;360;p34"/>
          <p:cNvPicPr preferRelativeResize="0"/>
          <p:nvPr/>
        </p:nvPicPr>
        <p:blipFill>
          <a:blip r:embed="rId4">
            <a:alphaModFix/>
          </a:blip>
          <a:stretch>
            <a:fillRect/>
          </a:stretch>
        </p:blipFill>
        <p:spPr>
          <a:xfrm>
            <a:off x="0" y="4649400"/>
            <a:ext cx="790563" cy="494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5"/>
          <p:cNvSpPr txBox="1"/>
          <p:nvPr>
            <p:ph type="title"/>
          </p:nvPr>
        </p:nvSpPr>
        <p:spPr>
          <a:xfrm>
            <a:off x="311700" y="372500"/>
            <a:ext cx="41388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Pricing Sensivity </a:t>
            </a:r>
            <a:endParaRPr b="1">
              <a:solidFill>
                <a:srgbClr val="D71600"/>
              </a:solidFill>
              <a:latin typeface="Roboto"/>
              <a:ea typeface="Roboto"/>
              <a:cs typeface="Roboto"/>
              <a:sym typeface="Roboto"/>
            </a:endParaRPr>
          </a:p>
        </p:txBody>
      </p:sp>
      <p:pic>
        <p:nvPicPr>
          <p:cNvPr id="366" name="Google Shape;366;p35"/>
          <p:cNvPicPr preferRelativeResize="0"/>
          <p:nvPr/>
        </p:nvPicPr>
        <p:blipFill>
          <a:blip r:embed="rId3">
            <a:alphaModFix/>
          </a:blip>
          <a:stretch>
            <a:fillRect/>
          </a:stretch>
        </p:blipFill>
        <p:spPr>
          <a:xfrm>
            <a:off x="4903396" y="556175"/>
            <a:ext cx="4078947" cy="4021685"/>
          </a:xfrm>
          <a:prstGeom prst="rect">
            <a:avLst/>
          </a:prstGeom>
          <a:noFill/>
          <a:ln>
            <a:noFill/>
          </a:ln>
        </p:spPr>
      </p:pic>
      <p:cxnSp>
        <p:nvCxnSpPr>
          <p:cNvPr id="367" name="Google Shape;367;p35"/>
          <p:cNvCxnSpPr/>
          <p:nvPr/>
        </p:nvCxnSpPr>
        <p:spPr>
          <a:xfrm>
            <a:off x="5156812" y="4407920"/>
            <a:ext cx="3572400" cy="0"/>
          </a:xfrm>
          <a:prstGeom prst="straightConnector1">
            <a:avLst/>
          </a:prstGeom>
          <a:noFill/>
          <a:ln cap="flat" cmpd="sng" w="9025">
            <a:solidFill>
              <a:schemeClr val="dk2"/>
            </a:solidFill>
            <a:prstDash val="solid"/>
            <a:round/>
            <a:headEnd len="med" w="med" type="none"/>
            <a:tailEnd len="med" w="med" type="none"/>
          </a:ln>
        </p:spPr>
      </p:cxnSp>
      <p:sp>
        <p:nvSpPr>
          <p:cNvPr id="368" name="Google Shape;368;p35"/>
          <p:cNvSpPr txBox="1"/>
          <p:nvPr/>
        </p:nvSpPr>
        <p:spPr>
          <a:xfrm>
            <a:off x="6208836" y="4407921"/>
            <a:ext cx="2839500" cy="378600"/>
          </a:xfrm>
          <a:prstGeom prst="rect">
            <a:avLst/>
          </a:prstGeom>
          <a:noFill/>
          <a:ln>
            <a:noFill/>
          </a:ln>
        </p:spPr>
        <p:txBody>
          <a:bodyPr anchorCtr="0" anchor="t" bIns="86525" lIns="86525" spcFirstLastPara="1" rIns="86525" wrap="square" tIns="86525">
            <a:spAutoFit/>
          </a:bodyPr>
          <a:lstStyle/>
          <a:p>
            <a:pPr indent="0" lvl="0" marL="0" rtl="0" algn="l">
              <a:spcBef>
                <a:spcPts val="0"/>
              </a:spcBef>
              <a:spcAft>
                <a:spcPts val="0"/>
              </a:spcAft>
              <a:buNone/>
            </a:pPr>
            <a:r>
              <a:rPr b="1" lang="en" sz="1325" u="sng">
                <a:solidFill>
                  <a:schemeClr val="dk2"/>
                </a:solidFill>
                <a:latin typeface="Open Sans"/>
                <a:ea typeface="Open Sans"/>
                <a:cs typeface="Open Sans"/>
                <a:sym typeface="Open Sans"/>
              </a:rPr>
              <a:t>Pricing Strategy</a:t>
            </a:r>
            <a:endParaRPr sz="1325"/>
          </a:p>
        </p:txBody>
      </p:sp>
      <p:sp>
        <p:nvSpPr>
          <p:cNvPr id="369" name="Google Shape;369;p35"/>
          <p:cNvSpPr txBox="1"/>
          <p:nvPr>
            <p:ph idx="1" type="body"/>
          </p:nvPr>
        </p:nvSpPr>
        <p:spPr>
          <a:xfrm>
            <a:off x="337422" y="1359700"/>
            <a:ext cx="4478700" cy="34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Held marketing constant at Gold level to isolate pricing strategy effects </a:t>
            </a:r>
            <a:endParaRPr sz="1300">
              <a:solidFill>
                <a:srgbClr val="D71600"/>
              </a:solidFill>
              <a:latin typeface="Roboto"/>
              <a:ea typeface="Roboto"/>
              <a:cs typeface="Roboto"/>
              <a:sym typeface="Roboto"/>
            </a:endParaRPr>
          </a:p>
          <a:p>
            <a:pPr indent="-311150" lvl="0" marL="457200" rtl="0" algn="l">
              <a:spcBef>
                <a:spcPts val="100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As pricing increases: </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NPV rises from $22.6 million to $24.7 million</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Contributes to the highest NPV</a:t>
            </a:r>
            <a:endParaRPr sz="1300">
              <a:solidFill>
                <a:srgbClr val="D71600"/>
              </a:solidFill>
              <a:latin typeface="Roboto"/>
              <a:ea typeface="Roboto"/>
              <a:cs typeface="Roboto"/>
              <a:sym typeface="Roboto"/>
            </a:endParaRPr>
          </a:p>
          <a:p>
            <a:pPr indent="-311150" lvl="0" marL="4572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Higher pricing means: </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Higher perceived quality and credibility </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Get a better ROI for the development of spiral sutures</a:t>
            </a:r>
            <a:endParaRPr sz="1300">
              <a:solidFill>
                <a:srgbClr val="D71600"/>
              </a:solidFill>
              <a:latin typeface="Roboto"/>
              <a:ea typeface="Roboto"/>
              <a:cs typeface="Roboto"/>
              <a:sym typeface="Roboto"/>
            </a:endParaRPr>
          </a:p>
          <a:p>
            <a:pPr indent="-311150" lvl="0" marL="4572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Decision - </a:t>
            </a:r>
            <a:r>
              <a:rPr b="1" lang="en" sz="1300" u="sng">
                <a:solidFill>
                  <a:srgbClr val="D71600"/>
                </a:solidFill>
                <a:latin typeface="Roboto"/>
                <a:ea typeface="Roboto"/>
                <a:cs typeface="Roboto"/>
                <a:sym typeface="Roboto"/>
              </a:rPr>
              <a:t>Medium Pricing</a:t>
            </a:r>
            <a:r>
              <a:rPr lang="en" sz="1300">
                <a:solidFill>
                  <a:srgbClr val="D71600"/>
                </a:solidFill>
                <a:latin typeface="Roboto"/>
                <a:ea typeface="Roboto"/>
                <a:cs typeface="Roboto"/>
                <a:sym typeface="Roboto"/>
              </a:rPr>
              <a:t>:</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High pricing = higher profit, but lower accessibility to target consumer</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Affordability increases adoption rate</a:t>
            </a:r>
            <a:endParaRPr sz="1300">
              <a:solidFill>
                <a:srgbClr val="D71600"/>
              </a:solidFill>
              <a:latin typeface="Roboto"/>
              <a:ea typeface="Roboto"/>
              <a:cs typeface="Roboto"/>
              <a:sym typeface="Roboto"/>
            </a:endParaRPr>
          </a:p>
        </p:txBody>
      </p:sp>
      <p:sp>
        <p:nvSpPr>
          <p:cNvPr id="370" name="Google Shape;370;p35"/>
          <p:cNvSpPr txBox="1"/>
          <p:nvPr/>
        </p:nvSpPr>
        <p:spPr>
          <a:xfrm rot="-5400000">
            <a:off x="3967174" y="1879989"/>
            <a:ext cx="2158200" cy="726900"/>
          </a:xfrm>
          <a:prstGeom prst="rect">
            <a:avLst/>
          </a:prstGeom>
          <a:noFill/>
          <a:ln>
            <a:noFill/>
          </a:ln>
        </p:spPr>
        <p:txBody>
          <a:bodyPr anchorCtr="0" anchor="t" bIns="86525" lIns="86525" spcFirstLastPara="1" rIns="86525" wrap="square" tIns="86525">
            <a:noAutofit/>
          </a:bodyPr>
          <a:lstStyle/>
          <a:p>
            <a:pPr indent="0" lvl="0" marL="0" rtl="0" algn="l">
              <a:spcBef>
                <a:spcPts val="0"/>
              </a:spcBef>
              <a:spcAft>
                <a:spcPts val="0"/>
              </a:spcAft>
              <a:buNone/>
            </a:pPr>
            <a:r>
              <a:rPr b="1" lang="en" sz="1325" u="sng">
                <a:solidFill>
                  <a:schemeClr val="dk2"/>
                </a:solidFill>
                <a:latin typeface="Open Sans"/>
                <a:ea typeface="Open Sans"/>
                <a:cs typeface="Open Sans"/>
                <a:sym typeface="Open Sans"/>
              </a:rPr>
              <a:t>NPV (In  Millions)</a:t>
            </a:r>
            <a:endParaRPr b="1" sz="1325" u="sng">
              <a:solidFill>
                <a:schemeClr val="dk2"/>
              </a:solidFill>
              <a:latin typeface="Open Sans"/>
              <a:ea typeface="Open Sans"/>
              <a:cs typeface="Open Sans"/>
              <a:sym typeface="Open Sans"/>
            </a:endParaRPr>
          </a:p>
        </p:txBody>
      </p:sp>
      <p:pic>
        <p:nvPicPr>
          <p:cNvPr id="371" name="Google Shape;371;p35"/>
          <p:cNvPicPr preferRelativeResize="0"/>
          <p:nvPr/>
        </p:nvPicPr>
        <p:blipFill>
          <a:blip r:embed="rId4">
            <a:alphaModFix/>
          </a:blip>
          <a:stretch>
            <a:fillRect/>
          </a:stretch>
        </p:blipFill>
        <p:spPr>
          <a:xfrm>
            <a:off x="0" y="4649400"/>
            <a:ext cx="790563" cy="4941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Market Share Sensitivity</a:t>
            </a:r>
            <a:endParaRPr b="1">
              <a:solidFill>
                <a:srgbClr val="D71600"/>
              </a:solidFill>
              <a:latin typeface="Roboto"/>
              <a:ea typeface="Roboto"/>
              <a:cs typeface="Roboto"/>
              <a:sym typeface="Roboto"/>
            </a:endParaRPr>
          </a:p>
        </p:txBody>
      </p:sp>
      <p:sp>
        <p:nvSpPr>
          <p:cNvPr id="377" name="Google Shape;377;p36"/>
          <p:cNvSpPr txBox="1"/>
          <p:nvPr/>
        </p:nvSpPr>
        <p:spPr>
          <a:xfrm rot="-5400000">
            <a:off x="3514217" y="2201671"/>
            <a:ext cx="2884800" cy="7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chemeClr val="dk2"/>
                </a:solidFill>
                <a:latin typeface="Open Sans"/>
                <a:ea typeface="Open Sans"/>
                <a:cs typeface="Open Sans"/>
                <a:sym typeface="Open Sans"/>
              </a:rPr>
              <a:t>Market Share Percentage </a:t>
            </a:r>
            <a:endParaRPr b="1" u="sng">
              <a:solidFill>
                <a:schemeClr val="dk2"/>
              </a:solidFill>
              <a:latin typeface="Open Sans"/>
              <a:ea typeface="Open Sans"/>
              <a:cs typeface="Open Sans"/>
              <a:sym typeface="Open Sans"/>
            </a:endParaRPr>
          </a:p>
        </p:txBody>
      </p:sp>
      <p:cxnSp>
        <p:nvCxnSpPr>
          <p:cNvPr id="378" name="Google Shape;378;p36"/>
          <p:cNvCxnSpPr/>
          <p:nvPr/>
        </p:nvCxnSpPr>
        <p:spPr>
          <a:xfrm>
            <a:off x="5139092" y="4639015"/>
            <a:ext cx="3774000" cy="0"/>
          </a:xfrm>
          <a:prstGeom prst="straightConnector1">
            <a:avLst/>
          </a:prstGeom>
          <a:noFill/>
          <a:ln cap="flat" cmpd="sng" w="9525">
            <a:solidFill>
              <a:schemeClr val="dk2"/>
            </a:solidFill>
            <a:prstDash val="solid"/>
            <a:round/>
            <a:headEnd len="med" w="med" type="none"/>
            <a:tailEnd len="med" w="med" type="none"/>
          </a:ln>
        </p:spPr>
      </p:cxnSp>
      <p:sp>
        <p:nvSpPr>
          <p:cNvPr id="379" name="Google Shape;379;p36"/>
          <p:cNvSpPr txBox="1"/>
          <p:nvPr/>
        </p:nvSpPr>
        <p:spPr>
          <a:xfrm>
            <a:off x="6028866" y="4639017"/>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u="sng">
                <a:solidFill>
                  <a:schemeClr val="dk2"/>
                </a:solidFill>
                <a:latin typeface="Open Sans"/>
                <a:ea typeface="Open Sans"/>
                <a:cs typeface="Open Sans"/>
                <a:sym typeface="Open Sans"/>
              </a:rPr>
              <a:t>Marketing Strategy</a:t>
            </a:r>
            <a:endParaRPr/>
          </a:p>
        </p:txBody>
      </p:sp>
      <p:pic>
        <p:nvPicPr>
          <p:cNvPr id="380" name="Google Shape;380;p36"/>
          <p:cNvPicPr preferRelativeResize="0"/>
          <p:nvPr/>
        </p:nvPicPr>
        <p:blipFill>
          <a:blip r:embed="rId3">
            <a:alphaModFix/>
          </a:blip>
          <a:stretch>
            <a:fillRect/>
          </a:stretch>
        </p:blipFill>
        <p:spPr>
          <a:xfrm>
            <a:off x="4972842" y="698765"/>
            <a:ext cx="3940250" cy="3940250"/>
          </a:xfrm>
          <a:prstGeom prst="rect">
            <a:avLst/>
          </a:prstGeom>
          <a:noFill/>
          <a:ln>
            <a:noFill/>
          </a:ln>
        </p:spPr>
      </p:pic>
      <p:sp>
        <p:nvSpPr>
          <p:cNvPr id="381" name="Google Shape;381;p36"/>
          <p:cNvSpPr txBox="1"/>
          <p:nvPr>
            <p:ph idx="1" type="body"/>
          </p:nvPr>
        </p:nvSpPr>
        <p:spPr>
          <a:xfrm>
            <a:off x="376700" y="1380449"/>
            <a:ext cx="4282200" cy="34995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Market share = product of Gold standard marketing + different pricing strategies</a:t>
            </a:r>
            <a:endParaRPr sz="1300">
              <a:solidFill>
                <a:srgbClr val="D71600"/>
              </a:solidFill>
              <a:latin typeface="Roboto"/>
              <a:ea typeface="Roboto"/>
              <a:cs typeface="Roboto"/>
              <a:sym typeface="Roboto"/>
            </a:endParaRPr>
          </a:p>
          <a:p>
            <a:pPr indent="-311150" lvl="0" marL="4572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As pricing increases: </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Market share rises from 84.3% to 89.7%</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Reflecs adoption of both symmetrical and spiral sutures</a:t>
            </a:r>
            <a:endParaRPr sz="1300">
              <a:solidFill>
                <a:srgbClr val="D71600"/>
              </a:solidFill>
              <a:latin typeface="Roboto"/>
              <a:ea typeface="Roboto"/>
              <a:cs typeface="Roboto"/>
              <a:sym typeface="Roboto"/>
            </a:endParaRPr>
          </a:p>
          <a:p>
            <a:pPr indent="-311150" lvl="0" marL="4572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Going from High - Medium pricing  means </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Losing 3.9% market share </a:t>
            </a:r>
            <a:endParaRPr sz="1300">
              <a:solidFill>
                <a:srgbClr val="D71600"/>
              </a:solidFill>
              <a:latin typeface="Roboto"/>
              <a:ea typeface="Roboto"/>
              <a:cs typeface="Roboto"/>
              <a:sym typeface="Roboto"/>
            </a:endParaRPr>
          </a:p>
          <a:p>
            <a:pPr indent="-311150" lvl="0" marL="4572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Medium pricing Implies: </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Improving accessibility - faster market penetration</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Reducing risk of competitors undercutting price </a:t>
            </a:r>
            <a:endParaRPr sz="1300">
              <a:solidFill>
                <a:srgbClr val="D71600"/>
              </a:solidFill>
              <a:latin typeface="Roboto"/>
              <a:ea typeface="Roboto"/>
              <a:cs typeface="Roboto"/>
              <a:sym typeface="Roboto"/>
            </a:endParaRPr>
          </a:p>
          <a:p>
            <a:pPr indent="-311150" lvl="1" marL="914400" rtl="0" algn="l">
              <a:spcBef>
                <a:spcPts val="0"/>
              </a:spcBef>
              <a:spcAft>
                <a:spcPts val="0"/>
              </a:spcAft>
              <a:buClr>
                <a:srgbClr val="D71600"/>
              </a:buClr>
              <a:buSzPts val="1300"/>
              <a:buFont typeface="Roboto"/>
              <a:buChar char="○"/>
            </a:pPr>
            <a:r>
              <a:rPr lang="en" sz="1300">
                <a:solidFill>
                  <a:srgbClr val="D71600"/>
                </a:solidFill>
                <a:latin typeface="Roboto"/>
                <a:ea typeface="Roboto"/>
                <a:cs typeface="Roboto"/>
                <a:sym typeface="Roboto"/>
              </a:rPr>
              <a:t>Broader customer base for long term growth</a:t>
            </a:r>
            <a:endParaRPr sz="1300">
              <a:solidFill>
                <a:srgbClr val="D71600"/>
              </a:solidFill>
              <a:latin typeface="Roboto"/>
              <a:ea typeface="Roboto"/>
              <a:cs typeface="Roboto"/>
              <a:sym typeface="Roboto"/>
            </a:endParaRPr>
          </a:p>
          <a:p>
            <a:pPr indent="0" lvl="0" marL="457200" rtl="0" algn="l">
              <a:spcBef>
                <a:spcPts val="1200"/>
              </a:spcBef>
              <a:spcAft>
                <a:spcPts val="1200"/>
              </a:spcAft>
              <a:buNone/>
            </a:pPr>
            <a:r>
              <a:t/>
            </a:r>
            <a:endParaRPr sz="1300">
              <a:solidFill>
                <a:srgbClr val="D71600"/>
              </a:solidFill>
              <a:latin typeface="Roboto"/>
              <a:ea typeface="Roboto"/>
              <a:cs typeface="Roboto"/>
              <a:sym typeface="Roboto"/>
            </a:endParaRPr>
          </a:p>
        </p:txBody>
      </p:sp>
      <p:pic>
        <p:nvPicPr>
          <p:cNvPr id="382" name="Google Shape;382;p36"/>
          <p:cNvPicPr preferRelativeResize="0"/>
          <p:nvPr/>
        </p:nvPicPr>
        <p:blipFill>
          <a:blip r:embed="rId4">
            <a:alphaModFix/>
          </a:blip>
          <a:stretch>
            <a:fillRect/>
          </a:stretch>
        </p:blipFill>
        <p:spPr>
          <a:xfrm>
            <a:off x="0" y="4649400"/>
            <a:ext cx="790563" cy="4941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7"/>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latin typeface="Roboto"/>
                <a:ea typeface="Roboto"/>
                <a:cs typeface="Roboto"/>
                <a:sym typeface="Roboto"/>
              </a:rPr>
              <a:t>Finances</a:t>
            </a:r>
            <a:endParaRPr b="1">
              <a:latin typeface="Roboto"/>
              <a:ea typeface="Roboto"/>
              <a:cs typeface="Roboto"/>
              <a:sym typeface="Roboto"/>
            </a:endParaRPr>
          </a:p>
        </p:txBody>
      </p:sp>
      <p:pic>
        <p:nvPicPr>
          <p:cNvPr id="388" name="Google Shape;388;p37"/>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38"/>
          <p:cNvPicPr preferRelativeResize="0"/>
          <p:nvPr/>
        </p:nvPicPr>
        <p:blipFill>
          <a:blip r:embed="rId3">
            <a:alphaModFix/>
          </a:blip>
          <a:stretch>
            <a:fillRect/>
          </a:stretch>
        </p:blipFill>
        <p:spPr>
          <a:xfrm>
            <a:off x="0" y="4649400"/>
            <a:ext cx="790563" cy="494100"/>
          </a:xfrm>
          <a:prstGeom prst="rect">
            <a:avLst/>
          </a:prstGeom>
          <a:noFill/>
          <a:ln>
            <a:noFill/>
          </a:ln>
        </p:spPr>
      </p:pic>
      <p:graphicFrame>
        <p:nvGraphicFramePr>
          <p:cNvPr id="394" name="Google Shape;394;p38"/>
          <p:cNvGraphicFramePr/>
          <p:nvPr/>
        </p:nvGraphicFramePr>
        <p:xfrm>
          <a:off x="1332575" y="974650"/>
          <a:ext cx="3000000" cy="3000000"/>
        </p:xfrm>
        <a:graphic>
          <a:graphicData uri="http://schemas.openxmlformats.org/drawingml/2006/table">
            <a:tbl>
              <a:tblPr>
                <a:noFill/>
                <a:tableStyleId>{8647FC1A-E3AF-48AA-BB5C-ED35490BC3F3}</a:tableStyleId>
              </a:tblPr>
              <a:tblGrid>
                <a:gridCol w="3619500"/>
                <a:gridCol w="3619500"/>
              </a:tblGrid>
              <a:tr h="100000">
                <a:tc>
                  <a:txBody>
                    <a:bodyPr/>
                    <a:lstStyle/>
                    <a:p>
                      <a:pPr indent="0" lvl="0" marL="0" rtl="0" algn="ctr">
                        <a:spcBef>
                          <a:spcPts val="0"/>
                        </a:spcBef>
                        <a:spcAft>
                          <a:spcPts val="0"/>
                        </a:spcAft>
                        <a:buNone/>
                      </a:pPr>
                      <a:r>
                        <a:rPr b="1" lang="en" sz="2000">
                          <a:solidFill>
                            <a:srgbClr val="D71600"/>
                          </a:solidFill>
                          <a:latin typeface="Roboto"/>
                          <a:ea typeface="Roboto"/>
                          <a:cs typeface="Roboto"/>
                          <a:sym typeface="Roboto"/>
                        </a:rPr>
                        <a:t>High Price</a:t>
                      </a:r>
                      <a:endParaRPr b="1" sz="20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c>
                  <a:txBody>
                    <a:bodyPr/>
                    <a:lstStyle/>
                    <a:p>
                      <a:pPr indent="0" lvl="0" marL="0" rtl="0" algn="ctr">
                        <a:spcBef>
                          <a:spcPts val="0"/>
                        </a:spcBef>
                        <a:spcAft>
                          <a:spcPts val="0"/>
                        </a:spcAft>
                        <a:buNone/>
                      </a:pPr>
                      <a:r>
                        <a:rPr b="1" lang="en" sz="2000">
                          <a:solidFill>
                            <a:srgbClr val="D71600"/>
                          </a:solidFill>
                          <a:latin typeface="Roboto"/>
                          <a:ea typeface="Roboto"/>
                          <a:cs typeface="Roboto"/>
                          <a:sym typeface="Roboto"/>
                        </a:rPr>
                        <a:t>Medium Price</a:t>
                      </a:r>
                      <a:endParaRPr b="1" sz="20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r>
              <a:tr h="3328000">
                <a:tc>
                  <a:txBody>
                    <a:bodyPr/>
                    <a:lstStyle/>
                    <a:p>
                      <a:pPr indent="0" lvl="0" marL="0" rtl="0" algn="l">
                        <a:lnSpc>
                          <a:spcPct val="115000"/>
                        </a:lnSpc>
                        <a:spcBef>
                          <a:spcPts val="0"/>
                        </a:spcBef>
                        <a:spcAft>
                          <a:spcPts val="0"/>
                        </a:spcAft>
                        <a:buNone/>
                      </a:pPr>
                      <a:r>
                        <a:rPr lang="en" sz="1500">
                          <a:solidFill>
                            <a:srgbClr val="D71600"/>
                          </a:solidFill>
                          <a:latin typeface="Roboto"/>
                          <a:ea typeface="Roboto"/>
                          <a:cs typeface="Roboto"/>
                          <a:sym typeface="Roboto"/>
                        </a:rPr>
                        <a:t>Market Growth: 7.5%</a:t>
                      </a:r>
                      <a:endParaRPr sz="1500">
                        <a:solidFill>
                          <a:srgbClr val="D71600"/>
                        </a:solidFill>
                        <a:latin typeface="Roboto"/>
                        <a:ea typeface="Roboto"/>
                        <a:cs typeface="Roboto"/>
                        <a:sym typeface="Roboto"/>
                      </a:endParaRPr>
                    </a:p>
                    <a:p>
                      <a:pPr indent="-323850" lvl="0" marL="457200" rtl="0" algn="l">
                        <a:lnSpc>
                          <a:spcPct val="115000"/>
                        </a:lnSpc>
                        <a:spcBef>
                          <a:spcPts val="120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Beginning Share: 56.4%</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Peak Share: 89.7%</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End Share: 89.7%</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Trade Sales: $119,174,552</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Gross Profit: $91,397,691</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Present Value: $24,688,613</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b="1" lang="en" sz="1500">
                          <a:solidFill>
                            <a:srgbClr val="D71600"/>
                          </a:solidFill>
                          <a:latin typeface="Roboto"/>
                          <a:ea typeface="Roboto"/>
                          <a:cs typeface="Roboto"/>
                          <a:sym typeface="Roboto"/>
                        </a:rPr>
                        <a:t>Internal Rate of Return: 0%</a:t>
                      </a:r>
                      <a:endParaRPr b="1" sz="1500">
                        <a:solidFill>
                          <a:srgbClr val="D71600"/>
                        </a:solidFill>
                        <a:latin typeface="Roboto"/>
                        <a:ea typeface="Roboto"/>
                        <a:cs typeface="Roboto"/>
                        <a:sym typeface="Roboto"/>
                      </a:endParaRPr>
                    </a:p>
                    <a:p>
                      <a:pPr indent="0" lvl="0" marL="0" rtl="0" algn="l">
                        <a:lnSpc>
                          <a:spcPct val="115000"/>
                        </a:lnSpc>
                        <a:spcBef>
                          <a:spcPts val="1200"/>
                        </a:spcBef>
                        <a:spcAft>
                          <a:spcPts val="1200"/>
                        </a:spcAft>
                        <a:buNone/>
                      </a:pPr>
                      <a:r>
                        <a:rPr lang="en" sz="1500">
                          <a:solidFill>
                            <a:srgbClr val="D71600"/>
                          </a:solidFill>
                          <a:latin typeface="Roboto"/>
                          <a:ea typeface="Roboto"/>
                          <a:cs typeface="Roboto"/>
                          <a:sym typeface="Roboto"/>
                        </a:rPr>
                        <a:t>Payback Period: 0.1051</a:t>
                      </a:r>
                      <a:endParaRPr sz="15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c>
                  <a:txBody>
                    <a:bodyPr/>
                    <a:lstStyle/>
                    <a:p>
                      <a:pPr indent="0" lvl="0" marL="0" rtl="0" algn="l">
                        <a:spcBef>
                          <a:spcPts val="0"/>
                        </a:spcBef>
                        <a:spcAft>
                          <a:spcPts val="0"/>
                        </a:spcAft>
                        <a:buNone/>
                      </a:pPr>
                      <a:r>
                        <a:rPr lang="en" sz="1500">
                          <a:solidFill>
                            <a:srgbClr val="D71600"/>
                          </a:solidFill>
                          <a:latin typeface="Roboto"/>
                          <a:ea typeface="Roboto"/>
                          <a:cs typeface="Roboto"/>
                          <a:sym typeface="Roboto"/>
                        </a:rPr>
                        <a:t>Market Growth: 7.5%</a:t>
                      </a:r>
                      <a:endParaRPr sz="1500">
                        <a:solidFill>
                          <a:srgbClr val="D71600"/>
                        </a:solidFill>
                        <a:latin typeface="Roboto"/>
                        <a:ea typeface="Roboto"/>
                        <a:cs typeface="Roboto"/>
                        <a:sym typeface="Roboto"/>
                      </a:endParaRPr>
                    </a:p>
                    <a:p>
                      <a:pPr indent="-323850" lvl="0" marL="457200" rtl="0" algn="l">
                        <a:spcBef>
                          <a:spcPts val="120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Beginning Share: 56.4%</a:t>
                      </a:r>
                      <a:endParaRPr sz="1500">
                        <a:solidFill>
                          <a:srgbClr val="D71600"/>
                        </a:solidFill>
                        <a:latin typeface="Roboto"/>
                        <a:ea typeface="Roboto"/>
                        <a:cs typeface="Roboto"/>
                        <a:sym typeface="Roboto"/>
                      </a:endParaRPr>
                    </a:p>
                    <a:p>
                      <a:pPr indent="-323850" lvl="0" marL="457200" rtl="0" algn="l">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Peak Share: 85.8%</a:t>
                      </a:r>
                      <a:endParaRPr sz="1500">
                        <a:solidFill>
                          <a:srgbClr val="D71600"/>
                        </a:solidFill>
                        <a:latin typeface="Roboto"/>
                        <a:ea typeface="Roboto"/>
                        <a:cs typeface="Roboto"/>
                        <a:sym typeface="Roboto"/>
                      </a:endParaRPr>
                    </a:p>
                    <a:p>
                      <a:pPr indent="-323850" lvl="0" marL="457200" rtl="0" algn="l">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End Share: 85.8%</a:t>
                      </a:r>
                      <a:endParaRPr sz="1500">
                        <a:solidFill>
                          <a:srgbClr val="D71600"/>
                        </a:solidFill>
                        <a:latin typeface="Roboto"/>
                        <a:ea typeface="Roboto"/>
                        <a:cs typeface="Roboto"/>
                        <a:sym typeface="Roboto"/>
                      </a:endParaRPr>
                    </a:p>
                    <a:p>
                      <a:pPr indent="0" lvl="0" marL="0" rtl="0" algn="l">
                        <a:spcBef>
                          <a:spcPts val="1200"/>
                        </a:spcBef>
                        <a:spcAft>
                          <a:spcPts val="0"/>
                        </a:spcAft>
                        <a:buNone/>
                      </a:pPr>
                      <a:r>
                        <a:rPr lang="en" sz="1500">
                          <a:solidFill>
                            <a:srgbClr val="D71600"/>
                          </a:solidFill>
                          <a:latin typeface="Roboto"/>
                          <a:ea typeface="Roboto"/>
                          <a:cs typeface="Roboto"/>
                          <a:sym typeface="Roboto"/>
                        </a:rPr>
                        <a:t>Net Trade Sales: $115,955,944</a:t>
                      </a:r>
                      <a:endParaRPr sz="1500">
                        <a:solidFill>
                          <a:srgbClr val="D71600"/>
                        </a:solidFill>
                        <a:latin typeface="Roboto"/>
                        <a:ea typeface="Roboto"/>
                        <a:cs typeface="Roboto"/>
                        <a:sym typeface="Roboto"/>
                      </a:endParaRPr>
                    </a:p>
                    <a:p>
                      <a:pPr indent="0" lvl="0" marL="0" rtl="0" algn="l">
                        <a:spcBef>
                          <a:spcPts val="1200"/>
                        </a:spcBef>
                        <a:spcAft>
                          <a:spcPts val="0"/>
                        </a:spcAft>
                        <a:buNone/>
                      </a:pPr>
                      <a:r>
                        <a:rPr lang="en" sz="1500">
                          <a:solidFill>
                            <a:srgbClr val="D71600"/>
                          </a:solidFill>
                          <a:latin typeface="Roboto"/>
                          <a:ea typeface="Roboto"/>
                          <a:cs typeface="Roboto"/>
                          <a:sym typeface="Roboto"/>
                        </a:rPr>
                        <a:t>Gross Profit: $88,179,083</a:t>
                      </a:r>
                      <a:endParaRPr sz="1500">
                        <a:solidFill>
                          <a:srgbClr val="D71600"/>
                        </a:solidFill>
                        <a:latin typeface="Roboto"/>
                        <a:ea typeface="Roboto"/>
                        <a:cs typeface="Roboto"/>
                        <a:sym typeface="Roboto"/>
                      </a:endParaRPr>
                    </a:p>
                    <a:p>
                      <a:pPr indent="0" lvl="0" marL="0" rtl="0" algn="l">
                        <a:spcBef>
                          <a:spcPts val="1200"/>
                        </a:spcBef>
                        <a:spcAft>
                          <a:spcPts val="0"/>
                        </a:spcAft>
                        <a:buNone/>
                      </a:pPr>
                      <a:r>
                        <a:rPr lang="en" sz="1500">
                          <a:solidFill>
                            <a:srgbClr val="D71600"/>
                          </a:solidFill>
                          <a:latin typeface="Roboto"/>
                          <a:ea typeface="Roboto"/>
                          <a:cs typeface="Roboto"/>
                          <a:sym typeface="Roboto"/>
                        </a:rPr>
                        <a:t>Net Present Value: $23,183,273</a:t>
                      </a:r>
                      <a:endParaRPr sz="1500">
                        <a:solidFill>
                          <a:srgbClr val="D71600"/>
                        </a:solidFill>
                        <a:latin typeface="Roboto"/>
                        <a:ea typeface="Roboto"/>
                        <a:cs typeface="Roboto"/>
                        <a:sym typeface="Roboto"/>
                      </a:endParaRPr>
                    </a:p>
                    <a:p>
                      <a:pPr indent="0" lvl="0" marL="0" rtl="0" algn="l">
                        <a:spcBef>
                          <a:spcPts val="1200"/>
                        </a:spcBef>
                        <a:spcAft>
                          <a:spcPts val="0"/>
                        </a:spcAft>
                        <a:buNone/>
                      </a:pPr>
                      <a:r>
                        <a:rPr b="1" lang="en" sz="1500">
                          <a:solidFill>
                            <a:srgbClr val="D71600"/>
                          </a:solidFill>
                          <a:latin typeface="Roboto"/>
                          <a:ea typeface="Roboto"/>
                          <a:cs typeface="Roboto"/>
                          <a:sym typeface="Roboto"/>
                        </a:rPr>
                        <a:t>Internal Rate of Return: 1%</a:t>
                      </a:r>
                      <a:endParaRPr b="1" sz="1500">
                        <a:solidFill>
                          <a:srgbClr val="D71600"/>
                        </a:solidFill>
                        <a:latin typeface="Roboto"/>
                        <a:ea typeface="Roboto"/>
                        <a:cs typeface="Roboto"/>
                        <a:sym typeface="Roboto"/>
                      </a:endParaRPr>
                    </a:p>
                    <a:p>
                      <a:pPr indent="0" lvl="0" marL="0" rtl="0" algn="l">
                        <a:spcBef>
                          <a:spcPts val="1200"/>
                        </a:spcBef>
                        <a:spcAft>
                          <a:spcPts val="1200"/>
                        </a:spcAft>
                        <a:buNone/>
                      </a:pPr>
                      <a:r>
                        <a:rPr lang="en" sz="1500">
                          <a:solidFill>
                            <a:srgbClr val="D71600"/>
                          </a:solidFill>
                          <a:latin typeface="Roboto"/>
                          <a:ea typeface="Roboto"/>
                          <a:cs typeface="Roboto"/>
                          <a:sym typeface="Roboto"/>
                        </a:rPr>
                        <a:t>Payback Period: 0.1132</a:t>
                      </a:r>
                      <a:endParaRPr sz="15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r>
            </a:tbl>
          </a:graphicData>
        </a:graphic>
      </p:graphicFrame>
      <p:sp>
        <p:nvSpPr>
          <p:cNvPr id="395" name="Google Shape;395;p38"/>
          <p:cNvSpPr txBox="1"/>
          <p:nvPr>
            <p:ph type="title"/>
          </p:nvPr>
        </p:nvSpPr>
        <p:spPr>
          <a:xfrm>
            <a:off x="311700" y="2411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High vs. Medium Price Comparison</a:t>
            </a:r>
            <a:endParaRPr b="1">
              <a:solidFill>
                <a:srgbClr val="D71600"/>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9"/>
          <p:cNvSpPr txBox="1"/>
          <p:nvPr>
            <p:ph type="title"/>
          </p:nvPr>
        </p:nvSpPr>
        <p:spPr>
          <a:xfrm>
            <a:off x="311700" y="1508963"/>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     </a:t>
            </a:r>
            <a:r>
              <a:rPr b="1" lang="en">
                <a:solidFill>
                  <a:srgbClr val="D71600"/>
                </a:solidFill>
                <a:latin typeface="Roboto"/>
                <a:ea typeface="Roboto"/>
                <a:cs typeface="Roboto"/>
                <a:sym typeface="Roboto"/>
              </a:rPr>
              <a:t>High Price				vs 		   Medium Price</a:t>
            </a:r>
            <a:endParaRPr b="1">
              <a:solidFill>
                <a:srgbClr val="D71600"/>
              </a:solidFill>
              <a:latin typeface="Roboto"/>
              <a:ea typeface="Roboto"/>
              <a:cs typeface="Roboto"/>
              <a:sym typeface="Roboto"/>
            </a:endParaRPr>
          </a:p>
        </p:txBody>
      </p:sp>
      <p:sp>
        <p:nvSpPr>
          <p:cNvPr id="401" name="Google Shape;401;p39"/>
          <p:cNvSpPr txBox="1"/>
          <p:nvPr/>
        </p:nvSpPr>
        <p:spPr>
          <a:xfrm>
            <a:off x="311700" y="2291013"/>
            <a:ext cx="3420000" cy="9234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rgbClr val="D71600"/>
                </a:solidFill>
                <a:highlight>
                  <a:srgbClr val="FFFFFF"/>
                </a:highlight>
                <a:latin typeface="Roboto"/>
                <a:ea typeface="Roboto"/>
                <a:cs typeface="Roboto"/>
                <a:sym typeface="Roboto"/>
              </a:rPr>
              <a:t>Affordable to only 65% of Target Market</a:t>
            </a:r>
            <a:endParaRPr sz="2400">
              <a:solidFill>
                <a:srgbClr val="D71600"/>
              </a:solidFill>
              <a:highlight>
                <a:srgbClr val="FFFFFF"/>
              </a:highlight>
              <a:latin typeface="Roboto"/>
              <a:ea typeface="Roboto"/>
              <a:cs typeface="Roboto"/>
              <a:sym typeface="Roboto"/>
            </a:endParaRPr>
          </a:p>
        </p:txBody>
      </p:sp>
      <p:sp>
        <p:nvSpPr>
          <p:cNvPr id="402" name="Google Shape;402;p39"/>
          <p:cNvSpPr txBox="1"/>
          <p:nvPr/>
        </p:nvSpPr>
        <p:spPr>
          <a:xfrm>
            <a:off x="5218700" y="2291025"/>
            <a:ext cx="3420000" cy="9234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rgbClr val="D71600"/>
                </a:solidFill>
                <a:highlight>
                  <a:srgbClr val="FFFFFF"/>
                </a:highlight>
                <a:latin typeface="Roboto"/>
                <a:ea typeface="Roboto"/>
                <a:cs typeface="Roboto"/>
                <a:sym typeface="Roboto"/>
              </a:rPr>
              <a:t>Affordable to 80% of Target Market</a:t>
            </a:r>
            <a:endParaRPr sz="2400">
              <a:solidFill>
                <a:srgbClr val="D71600"/>
              </a:solidFill>
              <a:highlight>
                <a:srgbClr val="FFFFFF"/>
              </a:highlight>
              <a:latin typeface="Roboto"/>
              <a:ea typeface="Roboto"/>
              <a:cs typeface="Roboto"/>
              <a:sym typeface="Roboto"/>
            </a:endParaRPr>
          </a:p>
        </p:txBody>
      </p:sp>
      <p:sp>
        <p:nvSpPr>
          <p:cNvPr id="403" name="Google Shape;403;p39"/>
          <p:cNvSpPr/>
          <p:nvPr/>
        </p:nvSpPr>
        <p:spPr>
          <a:xfrm>
            <a:off x="593900" y="3463000"/>
            <a:ext cx="7956300" cy="1029900"/>
          </a:xfrm>
          <a:prstGeom prst="rect">
            <a:avLst/>
          </a:prstGeom>
          <a:solidFill>
            <a:srgbClr val="FFD8D8">
              <a:alpha val="459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A&amp;A Credo: “We believe our first responsibility is to the patients, doctors and nurses, to mothers and fathers and all others who use our products and services. In meeting their needs everything we do must be of high quality. We must </a:t>
            </a:r>
            <a:r>
              <a:rPr lang="en">
                <a:latin typeface="Roboto"/>
                <a:ea typeface="Roboto"/>
                <a:cs typeface="Roboto"/>
                <a:sym typeface="Roboto"/>
              </a:rPr>
              <a:t>constantly</a:t>
            </a:r>
            <a:r>
              <a:rPr lang="en">
                <a:latin typeface="Roboto"/>
                <a:ea typeface="Roboto"/>
                <a:cs typeface="Roboto"/>
                <a:sym typeface="Roboto"/>
              </a:rPr>
              <a:t> strive to provide </a:t>
            </a:r>
            <a:r>
              <a:rPr lang="en">
                <a:latin typeface="Roboto"/>
                <a:ea typeface="Roboto"/>
                <a:cs typeface="Roboto"/>
                <a:sym typeface="Roboto"/>
              </a:rPr>
              <a:t>value</a:t>
            </a:r>
            <a:r>
              <a:rPr lang="en">
                <a:latin typeface="Roboto"/>
                <a:ea typeface="Roboto"/>
                <a:cs typeface="Roboto"/>
                <a:sym typeface="Roboto"/>
              </a:rPr>
              <a:t>, </a:t>
            </a:r>
            <a:r>
              <a:rPr b="1" lang="en">
                <a:latin typeface="Roboto"/>
                <a:ea typeface="Roboto"/>
                <a:cs typeface="Roboto"/>
                <a:sym typeface="Roboto"/>
              </a:rPr>
              <a:t>reduce our costs</a:t>
            </a:r>
            <a:r>
              <a:rPr lang="en">
                <a:latin typeface="Roboto"/>
                <a:ea typeface="Roboto"/>
                <a:cs typeface="Roboto"/>
                <a:sym typeface="Roboto"/>
              </a:rPr>
              <a:t> </a:t>
            </a:r>
            <a:r>
              <a:rPr b="1" lang="en">
                <a:latin typeface="Roboto"/>
                <a:ea typeface="Roboto"/>
                <a:cs typeface="Roboto"/>
                <a:sym typeface="Roboto"/>
              </a:rPr>
              <a:t>and maintain reasonable prices.</a:t>
            </a:r>
            <a:endParaRPr>
              <a:latin typeface="Roboto"/>
              <a:ea typeface="Roboto"/>
              <a:cs typeface="Roboto"/>
              <a:sym typeface="Roboto"/>
            </a:endParaRPr>
          </a:p>
        </p:txBody>
      </p:sp>
      <p:pic>
        <p:nvPicPr>
          <p:cNvPr id="404" name="Google Shape;404;p39"/>
          <p:cNvPicPr preferRelativeResize="0"/>
          <p:nvPr/>
        </p:nvPicPr>
        <p:blipFill>
          <a:blip r:embed="rId3">
            <a:alphaModFix/>
          </a:blip>
          <a:stretch>
            <a:fillRect/>
          </a:stretch>
        </p:blipFill>
        <p:spPr>
          <a:xfrm>
            <a:off x="0" y="4649400"/>
            <a:ext cx="790563" cy="494100"/>
          </a:xfrm>
          <a:prstGeom prst="rect">
            <a:avLst/>
          </a:prstGeom>
          <a:noFill/>
          <a:ln>
            <a:noFill/>
          </a:ln>
        </p:spPr>
      </p:pic>
      <p:sp>
        <p:nvSpPr>
          <p:cNvPr id="405" name="Google Shape;405;p39"/>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Alignment with Credo</a:t>
            </a:r>
            <a:endParaRPr b="1">
              <a:solidFill>
                <a:srgbClr val="D71600"/>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p40"/>
          <p:cNvPicPr preferRelativeResize="0"/>
          <p:nvPr/>
        </p:nvPicPr>
        <p:blipFill>
          <a:blip r:embed="rId3">
            <a:alphaModFix/>
          </a:blip>
          <a:stretch>
            <a:fillRect/>
          </a:stretch>
        </p:blipFill>
        <p:spPr>
          <a:xfrm>
            <a:off x="0" y="4649400"/>
            <a:ext cx="790563" cy="494100"/>
          </a:xfrm>
          <a:prstGeom prst="rect">
            <a:avLst/>
          </a:prstGeom>
          <a:noFill/>
          <a:ln>
            <a:noFill/>
          </a:ln>
        </p:spPr>
      </p:pic>
      <p:graphicFrame>
        <p:nvGraphicFramePr>
          <p:cNvPr id="411" name="Google Shape;411;p40"/>
          <p:cNvGraphicFramePr/>
          <p:nvPr/>
        </p:nvGraphicFramePr>
        <p:xfrm>
          <a:off x="1332575" y="974650"/>
          <a:ext cx="3000000" cy="3000000"/>
        </p:xfrm>
        <a:graphic>
          <a:graphicData uri="http://schemas.openxmlformats.org/drawingml/2006/table">
            <a:tbl>
              <a:tblPr>
                <a:noFill/>
                <a:tableStyleId>{8647FC1A-E3AF-48AA-BB5C-ED35490BC3F3}</a:tableStyleId>
              </a:tblPr>
              <a:tblGrid>
                <a:gridCol w="3619500"/>
                <a:gridCol w="3619500"/>
              </a:tblGrid>
              <a:tr h="100000">
                <a:tc>
                  <a:txBody>
                    <a:bodyPr/>
                    <a:lstStyle/>
                    <a:p>
                      <a:pPr indent="0" lvl="0" marL="0" rtl="0" algn="ctr">
                        <a:spcBef>
                          <a:spcPts val="0"/>
                        </a:spcBef>
                        <a:spcAft>
                          <a:spcPts val="0"/>
                        </a:spcAft>
                        <a:buNone/>
                      </a:pPr>
                      <a:r>
                        <a:rPr b="1" lang="en" sz="2000">
                          <a:solidFill>
                            <a:srgbClr val="D71600"/>
                          </a:solidFill>
                          <a:latin typeface="Roboto"/>
                          <a:ea typeface="Roboto"/>
                          <a:cs typeface="Roboto"/>
                          <a:sym typeface="Roboto"/>
                        </a:rPr>
                        <a:t>Low</a:t>
                      </a:r>
                      <a:r>
                        <a:rPr b="1" lang="en" sz="2000">
                          <a:solidFill>
                            <a:srgbClr val="D71600"/>
                          </a:solidFill>
                          <a:latin typeface="Roboto"/>
                          <a:ea typeface="Roboto"/>
                          <a:cs typeface="Roboto"/>
                          <a:sym typeface="Roboto"/>
                        </a:rPr>
                        <a:t> Price</a:t>
                      </a:r>
                      <a:endParaRPr b="1" sz="20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c>
                  <a:txBody>
                    <a:bodyPr/>
                    <a:lstStyle/>
                    <a:p>
                      <a:pPr indent="0" lvl="0" marL="0" rtl="0" algn="ctr">
                        <a:spcBef>
                          <a:spcPts val="0"/>
                        </a:spcBef>
                        <a:spcAft>
                          <a:spcPts val="0"/>
                        </a:spcAft>
                        <a:buNone/>
                      </a:pPr>
                      <a:r>
                        <a:rPr b="1" lang="en" sz="2000">
                          <a:solidFill>
                            <a:srgbClr val="D71600"/>
                          </a:solidFill>
                          <a:latin typeface="Roboto"/>
                          <a:ea typeface="Roboto"/>
                          <a:cs typeface="Roboto"/>
                          <a:sym typeface="Roboto"/>
                        </a:rPr>
                        <a:t>Medium Price</a:t>
                      </a:r>
                      <a:endParaRPr b="1" sz="20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r>
              <a:tr h="3328000">
                <a:tc>
                  <a:txBody>
                    <a:bodyPr/>
                    <a:lstStyle/>
                    <a:p>
                      <a:pPr indent="0" lvl="0" marL="0" rtl="0" algn="l">
                        <a:lnSpc>
                          <a:spcPct val="115000"/>
                        </a:lnSpc>
                        <a:spcBef>
                          <a:spcPts val="0"/>
                        </a:spcBef>
                        <a:spcAft>
                          <a:spcPts val="0"/>
                        </a:spcAft>
                        <a:buNone/>
                      </a:pPr>
                      <a:r>
                        <a:rPr lang="en" sz="1500">
                          <a:solidFill>
                            <a:srgbClr val="D71600"/>
                          </a:solidFill>
                          <a:latin typeface="Roboto"/>
                          <a:ea typeface="Roboto"/>
                          <a:cs typeface="Roboto"/>
                          <a:sym typeface="Roboto"/>
                        </a:rPr>
                        <a:t>Market Growth: 7.5%</a:t>
                      </a:r>
                      <a:endParaRPr sz="1500">
                        <a:solidFill>
                          <a:srgbClr val="D71600"/>
                        </a:solidFill>
                        <a:latin typeface="Roboto"/>
                        <a:ea typeface="Roboto"/>
                        <a:cs typeface="Roboto"/>
                        <a:sym typeface="Roboto"/>
                      </a:endParaRPr>
                    </a:p>
                    <a:p>
                      <a:pPr indent="-323850" lvl="0" marL="457200" rtl="0" algn="l">
                        <a:lnSpc>
                          <a:spcPct val="115000"/>
                        </a:lnSpc>
                        <a:spcBef>
                          <a:spcPts val="120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Beginning Share: 56.4%</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b="1" lang="en" sz="1500">
                          <a:solidFill>
                            <a:srgbClr val="D71600"/>
                          </a:solidFill>
                          <a:latin typeface="Roboto"/>
                          <a:ea typeface="Roboto"/>
                          <a:cs typeface="Roboto"/>
                          <a:sym typeface="Roboto"/>
                        </a:rPr>
                        <a:t>Peak Share: 84.3%</a:t>
                      </a:r>
                      <a:endParaRPr b="1"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b="1" lang="en" sz="1500">
                          <a:solidFill>
                            <a:srgbClr val="D71600"/>
                          </a:solidFill>
                          <a:latin typeface="Roboto"/>
                          <a:ea typeface="Roboto"/>
                          <a:cs typeface="Roboto"/>
                          <a:sym typeface="Roboto"/>
                        </a:rPr>
                        <a:t>End Share: 84.3%</a:t>
                      </a:r>
                      <a:endParaRPr b="1"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Trade Sales: $114,694,926 </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Gross Profit: $86,918,066</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b="1" lang="en" sz="1500">
                          <a:solidFill>
                            <a:srgbClr val="D71600"/>
                          </a:solidFill>
                          <a:latin typeface="Roboto"/>
                          <a:ea typeface="Roboto"/>
                          <a:cs typeface="Roboto"/>
                          <a:sym typeface="Roboto"/>
                        </a:rPr>
                        <a:t>Net Present Value: $22,593,082</a:t>
                      </a:r>
                      <a:endParaRPr b="1"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b="1" lang="en" sz="1500">
                          <a:solidFill>
                            <a:srgbClr val="D71600"/>
                          </a:solidFill>
                          <a:latin typeface="Roboto"/>
                          <a:ea typeface="Roboto"/>
                          <a:cs typeface="Roboto"/>
                          <a:sym typeface="Roboto"/>
                        </a:rPr>
                        <a:t>Internal Rate of Return: 3%</a:t>
                      </a:r>
                      <a:endParaRPr b="1" sz="1500">
                        <a:solidFill>
                          <a:srgbClr val="D71600"/>
                        </a:solidFill>
                        <a:latin typeface="Roboto"/>
                        <a:ea typeface="Roboto"/>
                        <a:cs typeface="Roboto"/>
                        <a:sym typeface="Roboto"/>
                      </a:endParaRPr>
                    </a:p>
                    <a:p>
                      <a:pPr indent="0" lvl="0" marL="0" rtl="0" algn="l">
                        <a:lnSpc>
                          <a:spcPct val="115000"/>
                        </a:lnSpc>
                        <a:spcBef>
                          <a:spcPts val="1200"/>
                        </a:spcBef>
                        <a:spcAft>
                          <a:spcPts val="1200"/>
                        </a:spcAft>
                        <a:buNone/>
                      </a:pPr>
                      <a:r>
                        <a:rPr lang="en" sz="1500">
                          <a:solidFill>
                            <a:srgbClr val="D71600"/>
                          </a:solidFill>
                          <a:latin typeface="Roboto"/>
                          <a:ea typeface="Roboto"/>
                          <a:cs typeface="Roboto"/>
                          <a:sym typeface="Roboto"/>
                        </a:rPr>
                        <a:t>Payback Period: 0</a:t>
                      </a:r>
                      <a:endParaRPr sz="15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c>
                  <a:txBody>
                    <a:bodyPr/>
                    <a:lstStyle/>
                    <a:p>
                      <a:pPr indent="0" lvl="0" marL="0" rtl="0" algn="l">
                        <a:spcBef>
                          <a:spcPts val="0"/>
                        </a:spcBef>
                        <a:spcAft>
                          <a:spcPts val="0"/>
                        </a:spcAft>
                        <a:buNone/>
                      </a:pPr>
                      <a:r>
                        <a:rPr lang="en" sz="1500">
                          <a:solidFill>
                            <a:srgbClr val="D71600"/>
                          </a:solidFill>
                          <a:latin typeface="Roboto"/>
                          <a:ea typeface="Roboto"/>
                          <a:cs typeface="Roboto"/>
                          <a:sym typeface="Roboto"/>
                        </a:rPr>
                        <a:t>Market Growth: 7.5%</a:t>
                      </a:r>
                      <a:endParaRPr sz="1500">
                        <a:solidFill>
                          <a:srgbClr val="D71600"/>
                        </a:solidFill>
                        <a:latin typeface="Roboto"/>
                        <a:ea typeface="Roboto"/>
                        <a:cs typeface="Roboto"/>
                        <a:sym typeface="Roboto"/>
                      </a:endParaRPr>
                    </a:p>
                    <a:p>
                      <a:pPr indent="-323850" lvl="0" marL="457200" rtl="0" algn="l">
                        <a:spcBef>
                          <a:spcPts val="120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Beginning Share:56.4%</a:t>
                      </a:r>
                      <a:endParaRPr sz="1500">
                        <a:solidFill>
                          <a:srgbClr val="D71600"/>
                        </a:solidFill>
                        <a:latin typeface="Roboto"/>
                        <a:ea typeface="Roboto"/>
                        <a:cs typeface="Roboto"/>
                        <a:sym typeface="Roboto"/>
                      </a:endParaRPr>
                    </a:p>
                    <a:p>
                      <a:pPr indent="-323850" lvl="0" marL="457200" rtl="0" algn="l">
                        <a:spcBef>
                          <a:spcPts val="0"/>
                        </a:spcBef>
                        <a:spcAft>
                          <a:spcPts val="0"/>
                        </a:spcAft>
                        <a:buClr>
                          <a:srgbClr val="D71600"/>
                        </a:buClr>
                        <a:buSzPts val="1500"/>
                        <a:buFont typeface="Roboto"/>
                        <a:buChar char="●"/>
                      </a:pPr>
                      <a:r>
                        <a:rPr b="1" lang="en" sz="1500">
                          <a:solidFill>
                            <a:srgbClr val="D71600"/>
                          </a:solidFill>
                          <a:latin typeface="Roboto"/>
                          <a:ea typeface="Roboto"/>
                          <a:cs typeface="Roboto"/>
                          <a:sym typeface="Roboto"/>
                        </a:rPr>
                        <a:t>Peak Share: 85.8%</a:t>
                      </a:r>
                      <a:endParaRPr b="1" sz="1500">
                        <a:solidFill>
                          <a:srgbClr val="D71600"/>
                        </a:solidFill>
                        <a:latin typeface="Roboto"/>
                        <a:ea typeface="Roboto"/>
                        <a:cs typeface="Roboto"/>
                        <a:sym typeface="Roboto"/>
                      </a:endParaRPr>
                    </a:p>
                    <a:p>
                      <a:pPr indent="-323850" lvl="0" marL="457200" rtl="0" algn="l">
                        <a:spcBef>
                          <a:spcPts val="0"/>
                        </a:spcBef>
                        <a:spcAft>
                          <a:spcPts val="0"/>
                        </a:spcAft>
                        <a:buClr>
                          <a:srgbClr val="D71600"/>
                        </a:buClr>
                        <a:buSzPts val="1500"/>
                        <a:buFont typeface="Roboto"/>
                        <a:buChar char="●"/>
                      </a:pPr>
                      <a:r>
                        <a:rPr b="1" lang="en" sz="1500">
                          <a:solidFill>
                            <a:srgbClr val="D71600"/>
                          </a:solidFill>
                          <a:latin typeface="Roboto"/>
                          <a:ea typeface="Roboto"/>
                          <a:cs typeface="Roboto"/>
                          <a:sym typeface="Roboto"/>
                        </a:rPr>
                        <a:t>End Share: 85.8%</a:t>
                      </a:r>
                      <a:endParaRPr b="1" sz="1500">
                        <a:solidFill>
                          <a:srgbClr val="D71600"/>
                        </a:solidFill>
                        <a:latin typeface="Roboto"/>
                        <a:ea typeface="Roboto"/>
                        <a:cs typeface="Roboto"/>
                        <a:sym typeface="Roboto"/>
                      </a:endParaRPr>
                    </a:p>
                    <a:p>
                      <a:pPr indent="0" lvl="0" marL="0" rtl="0" algn="l">
                        <a:spcBef>
                          <a:spcPts val="1200"/>
                        </a:spcBef>
                        <a:spcAft>
                          <a:spcPts val="0"/>
                        </a:spcAft>
                        <a:buNone/>
                      </a:pPr>
                      <a:r>
                        <a:rPr lang="en" sz="1500">
                          <a:solidFill>
                            <a:srgbClr val="D71600"/>
                          </a:solidFill>
                          <a:latin typeface="Roboto"/>
                          <a:ea typeface="Roboto"/>
                          <a:cs typeface="Roboto"/>
                          <a:sym typeface="Roboto"/>
                        </a:rPr>
                        <a:t>Net Trade Sales: $115,955,944</a:t>
                      </a:r>
                      <a:endParaRPr sz="1500">
                        <a:solidFill>
                          <a:srgbClr val="D71600"/>
                        </a:solidFill>
                        <a:latin typeface="Roboto"/>
                        <a:ea typeface="Roboto"/>
                        <a:cs typeface="Roboto"/>
                        <a:sym typeface="Roboto"/>
                      </a:endParaRPr>
                    </a:p>
                    <a:p>
                      <a:pPr indent="0" lvl="0" marL="0" rtl="0" algn="l">
                        <a:spcBef>
                          <a:spcPts val="1200"/>
                        </a:spcBef>
                        <a:spcAft>
                          <a:spcPts val="0"/>
                        </a:spcAft>
                        <a:buNone/>
                      </a:pPr>
                      <a:r>
                        <a:rPr lang="en" sz="1500">
                          <a:solidFill>
                            <a:srgbClr val="D71600"/>
                          </a:solidFill>
                          <a:latin typeface="Roboto"/>
                          <a:ea typeface="Roboto"/>
                          <a:cs typeface="Roboto"/>
                          <a:sym typeface="Roboto"/>
                        </a:rPr>
                        <a:t>Gross Profit: $88,179,083</a:t>
                      </a:r>
                      <a:endParaRPr sz="1500">
                        <a:solidFill>
                          <a:srgbClr val="D71600"/>
                        </a:solidFill>
                        <a:latin typeface="Roboto"/>
                        <a:ea typeface="Roboto"/>
                        <a:cs typeface="Roboto"/>
                        <a:sym typeface="Roboto"/>
                      </a:endParaRPr>
                    </a:p>
                    <a:p>
                      <a:pPr indent="0" lvl="0" marL="0" rtl="0" algn="l">
                        <a:spcBef>
                          <a:spcPts val="1200"/>
                        </a:spcBef>
                        <a:spcAft>
                          <a:spcPts val="0"/>
                        </a:spcAft>
                        <a:buNone/>
                      </a:pPr>
                      <a:r>
                        <a:rPr b="1" lang="en" sz="1500">
                          <a:solidFill>
                            <a:srgbClr val="D71600"/>
                          </a:solidFill>
                          <a:latin typeface="Roboto"/>
                          <a:ea typeface="Roboto"/>
                          <a:cs typeface="Roboto"/>
                          <a:sym typeface="Roboto"/>
                        </a:rPr>
                        <a:t>Net Present Value: $23,183,273</a:t>
                      </a:r>
                      <a:endParaRPr b="1" sz="1500">
                        <a:solidFill>
                          <a:srgbClr val="D71600"/>
                        </a:solidFill>
                        <a:latin typeface="Roboto"/>
                        <a:ea typeface="Roboto"/>
                        <a:cs typeface="Roboto"/>
                        <a:sym typeface="Roboto"/>
                      </a:endParaRPr>
                    </a:p>
                    <a:p>
                      <a:pPr indent="0" lvl="0" marL="0" rtl="0" algn="l">
                        <a:spcBef>
                          <a:spcPts val="1200"/>
                        </a:spcBef>
                        <a:spcAft>
                          <a:spcPts val="0"/>
                        </a:spcAft>
                        <a:buNone/>
                      </a:pPr>
                      <a:r>
                        <a:rPr b="1" lang="en" sz="1500">
                          <a:solidFill>
                            <a:srgbClr val="D71600"/>
                          </a:solidFill>
                          <a:latin typeface="Roboto"/>
                          <a:ea typeface="Roboto"/>
                          <a:cs typeface="Roboto"/>
                          <a:sym typeface="Roboto"/>
                        </a:rPr>
                        <a:t>Internal Rate of Return: 1%</a:t>
                      </a:r>
                      <a:endParaRPr b="1" sz="1500">
                        <a:solidFill>
                          <a:srgbClr val="D71600"/>
                        </a:solidFill>
                        <a:latin typeface="Roboto"/>
                        <a:ea typeface="Roboto"/>
                        <a:cs typeface="Roboto"/>
                        <a:sym typeface="Roboto"/>
                      </a:endParaRPr>
                    </a:p>
                    <a:p>
                      <a:pPr indent="0" lvl="0" marL="0" rtl="0" algn="l">
                        <a:spcBef>
                          <a:spcPts val="1200"/>
                        </a:spcBef>
                        <a:spcAft>
                          <a:spcPts val="1200"/>
                        </a:spcAft>
                        <a:buNone/>
                      </a:pPr>
                      <a:r>
                        <a:rPr lang="en" sz="1500">
                          <a:solidFill>
                            <a:srgbClr val="D71600"/>
                          </a:solidFill>
                          <a:latin typeface="Roboto"/>
                          <a:ea typeface="Roboto"/>
                          <a:cs typeface="Roboto"/>
                          <a:sym typeface="Roboto"/>
                        </a:rPr>
                        <a:t>Payback Period: 0.1132</a:t>
                      </a:r>
                      <a:endParaRPr sz="15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r>
            </a:tbl>
          </a:graphicData>
        </a:graphic>
      </p:graphicFrame>
      <p:sp>
        <p:nvSpPr>
          <p:cNvPr id="412" name="Google Shape;412;p40"/>
          <p:cNvSpPr txBox="1"/>
          <p:nvPr>
            <p:ph type="title"/>
          </p:nvPr>
        </p:nvSpPr>
        <p:spPr>
          <a:xfrm>
            <a:off x="311700" y="2411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Low</a:t>
            </a:r>
            <a:r>
              <a:rPr b="1" lang="en">
                <a:solidFill>
                  <a:srgbClr val="D71600"/>
                </a:solidFill>
                <a:latin typeface="Roboto"/>
                <a:ea typeface="Roboto"/>
                <a:cs typeface="Roboto"/>
                <a:sym typeface="Roboto"/>
              </a:rPr>
              <a:t> vs. Medium Price Comparison</a:t>
            </a:r>
            <a:endParaRPr b="1">
              <a:solidFill>
                <a:srgbClr val="D71600"/>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41"/>
          <p:cNvPicPr preferRelativeResize="0"/>
          <p:nvPr/>
        </p:nvPicPr>
        <p:blipFill rotWithShape="1">
          <a:blip r:embed="rId3">
            <a:alphaModFix/>
          </a:blip>
          <a:srcRect b="15676" l="0" r="0" t="0"/>
          <a:stretch/>
        </p:blipFill>
        <p:spPr>
          <a:xfrm>
            <a:off x="0" y="0"/>
            <a:ext cx="9144001" cy="4703643"/>
          </a:xfrm>
          <a:prstGeom prst="rect">
            <a:avLst/>
          </a:prstGeom>
          <a:noFill/>
          <a:ln>
            <a:noFill/>
          </a:ln>
        </p:spPr>
      </p:pic>
      <p:pic>
        <p:nvPicPr>
          <p:cNvPr id="418" name="Google Shape;418;p41"/>
          <p:cNvPicPr preferRelativeResize="0"/>
          <p:nvPr/>
        </p:nvPicPr>
        <p:blipFill>
          <a:blip r:embed="rId4">
            <a:alphaModFix/>
          </a:blip>
          <a:stretch>
            <a:fillRect/>
          </a:stretch>
        </p:blipFill>
        <p:spPr>
          <a:xfrm>
            <a:off x="0" y="4649400"/>
            <a:ext cx="790563" cy="4941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pic>
        <p:nvPicPr>
          <p:cNvPr id="423" name="Google Shape;423;p42"/>
          <p:cNvPicPr preferRelativeResize="0"/>
          <p:nvPr/>
        </p:nvPicPr>
        <p:blipFill>
          <a:blip r:embed="rId3">
            <a:alphaModFix/>
          </a:blip>
          <a:stretch>
            <a:fillRect/>
          </a:stretch>
        </p:blipFill>
        <p:spPr>
          <a:xfrm>
            <a:off x="0" y="4649400"/>
            <a:ext cx="790563" cy="494100"/>
          </a:xfrm>
          <a:prstGeom prst="rect">
            <a:avLst/>
          </a:prstGeom>
          <a:noFill/>
          <a:ln>
            <a:noFill/>
          </a:ln>
        </p:spPr>
      </p:pic>
      <p:graphicFrame>
        <p:nvGraphicFramePr>
          <p:cNvPr id="424" name="Google Shape;424;p42"/>
          <p:cNvGraphicFramePr/>
          <p:nvPr/>
        </p:nvGraphicFramePr>
        <p:xfrm>
          <a:off x="1332575" y="974650"/>
          <a:ext cx="3000000" cy="3000000"/>
        </p:xfrm>
        <a:graphic>
          <a:graphicData uri="http://schemas.openxmlformats.org/drawingml/2006/table">
            <a:tbl>
              <a:tblPr>
                <a:noFill/>
                <a:tableStyleId>{8647FC1A-E3AF-48AA-BB5C-ED35490BC3F3}</a:tableStyleId>
              </a:tblPr>
              <a:tblGrid>
                <a:gridCol w="3619500"/>
                <a:gridCol w="3619500"/>
              </a:tblGrid>
              <a:tr h="100000">
                <a:tc>
                  <a:txBody>
                    <a:bodyPr/>
                    <a:lstStyle/>
                    <a:p>
                      <a:pPr indent="0" lvl="0" marL="0" rtl="0" algn="ctr">
                        <a:spcBef>
                          <a:spcPts val="0"/>
                        </a:spcBef>
                        <a:spcAft>
                          <a:spcPts val="0"/>
                        </a:spcAft>
                        <a:buNone/>
                      </a:pPr>
                      <a:r>
                        <a:rPr b="1" lang="en" sz="2000">
                          <a:solidFill>
                            <a:srgbClr val="D71600"/>
                          </a:solidFill>
                          <a:latin typeface="Roboto"/>
                          <a:ea typeface="Roboto"/>
                          <a:cs typeface="Roboto"/>
                          <a:sym typeface="Roboto"/>
                        </a:rPr>
                        <a:t>Bronze</a:t>
                      </a:r>
                      <a:endParaRPr b="1" sz="20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c>
                  <a:txBody>
                    <a:bodyPr/>
                    <a:lstStyle/>
                    <a:p>
                      <a:pPr indent="0" lvl="0" marL="0" rtl="0" algn="ctr">
                        <a:spcBef>
                          <a:spcPts val="0"/>
                        </a:spcBef>
                        <a:spcAft>
                          <a:spcPts val="0"/>
                        </a:spcAft>
                        <a:buNone/>
                      </a:pPr>
                      <a:r>
                        <a:rPr b="1" lang="en" sz="2000">
                          <a:solidFill>
                            <a:srgbClr val="D71600"/>
                          </a:solidFill>
                          <a:latin typeface="Roboto"/>
                          <a:ea typeface="Roboto"/>
                          <a:cs typeface="Roboto"/>
                          <a:sym typeface="Roboto"/>
                        </a:rPr>
                        <a:t>Silver</a:t>
                      </a:r>
                      <a:endParaRPr b="1" sz="20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r>
              <a:tr h="3328000">
                <a:tc>
                  <a:txBody>
                    <a:bodyPr/>
                    <a:lstStyle/>
                    <a:p>
                      <a:pPr indent="0" lvl="0" marL="0" rtl="0" algn="l">
                        <a:lnSpc>
                          <a:spcPct val="115000"/>
                        </a:lnSpc>
                        <a:spcBef>
                          <a:spcPts val="0"/>
                        </a:spcBef>
                        <a:spcAft>
                          <a:spcPts val="0"/>
                        </a:spcAft>
                        <a:buNone/>
                      </a:pPr>
                      <a:r>
                        <a:rPr lang="en" sz="1500">
                          <a:solidFill>
                            <a:srgbClr val="D71600"/>
                          </a:solidFill>
                          <a:latin typeface="Roboto"/>
                          <a:ea typeface="Roboto"/>
                          <a:cs typeface="Roboto"/>
                          <a:sym typeface="Roboto"/>
                        </a:rPr>
                        <a:t>Market Growth: 7.5%</a:t>
                      </a:r>
                      <a:endParaRPr sz="1500">
                        <a:solidFill>
                          <a:srgbClr val="D71600"/>
                        </a:solidFill>
                        <a:latin typeface="Roboto"/>
                        <a:ea typeface="Roboto"/>
                        <a:cs typeface="Roboto"/>
                        <a:sym typeface="Roboto"/>
                      </a:endParaRPr>
                    </a:p>
                    <a:p>
                      <a:pPr indent="-323850" lvl="0" marL="457200" rtl="0" algn="l">
                        <a:lnSpc>
                          <a:spcPct val="115000"/>
                        </a:lnSpc>
                        <a:spcBef>
                          <a:spcPts val="120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Beginning Share: 56.4%</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Peak Share: 81.1%</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End Share: 81.1%</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Trade Sales: $112,064,343</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Gross Profit: $84,287,482</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Present Value: $22,564,613</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Internal Rate of Return: 1%</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1200"/>
                        </a:spcAft>
                        <a:buNone/>
                      </a:pPr>
                      <a:r>
                        <a:rPr lang="en" sz="1500">
                          <a:solidFill>
                            <a:srgbClr val="D71600"/>
                          </a:solidFill>
                          <a:latin typeface="Roboto"/>
                          <a:ea typeface="Roboto"/>
                          <a:cs typeface="Roboto"/>
                          <a:sym typeface="Roboto"/>
                        </a:rPr>
                        <a:t>Payback Period: 0</a:t>
                      </a:r>
                      <a:endParaRPr sz="15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rgbClr val="D71600"/>
                          </a:solidFill>
                          <a:latin typeface="Roboto"/>
                          <a:ea typeface="Roboto"/>
                          <a:cs typeface="Roboto"/>
                          <a:sym typeface="Roboto"/>
                        </a:rPr>
                        <a:t>Market Growth: 7.5%</a:t>
                      </a:r>
                      <a:endParaRPr sz="1500">
                        <a:solidFill>
                          <a:srgbClr val="D71600"/>
                        </a:solidFill>
                        <a:latin typeface="Roboto"/>
                        <a:ea typeface="Roboto"/>
                        <a:cs typeface="Roboto"/>
                        <a:sym typeface="Roboto"/>
                      </a:endParaRPr>
                    </a:p>
                    <a:p>
                      <a:pPr indent="-323850" lvl="0" marL="457200" rtl="0" algn="l">
                        <a:lnSpc>
                          <a:spcPct val="115000"/>
                        </a:lnSpc>
                        <a:spcBef>
                          <a:spcPts val="120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Beginning Share: 56.4%</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Peak Share: 84.5%</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End Share: 84.5%</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Trade Sales: $114,851,738</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Gross Profit: $87,074,878</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Present Value: $23,088,766</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Internal Rate of Return: 1%</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1200"/>
                        </a:spcAft>
                        <a:buNone/>
                      </a:pPr>
                      <a:r>
                        <a:rPr lang="en" sz="1500">
                          <a:solidFill>
                            <a:srgbClr val="D71600"/>
                          </a:solidFill>
                          <a:latin typeface="Roboto"/>
                          <a:ea typeface="Roboto"/>
                          <a:cs typeface="Roboto"/>
                          <a:sym typeface="Roboto"/>
                        </a:rPr>
                        <a:t>Payback Period: 0</a:t>
                      </a:r>
                      <a:endParaRPr sz="15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r>
            </a:tbl>
          </a:graphicData>
        </a:graphic>
      </p:graphicFrame>
      <p:sp>
        <p:nvSpPr>
          <p:cNvPr id="425" name="Google Shape;425;p42"/>
          <p:cNvSpPr txBox="1"/>
          <p:nvPr>
            <p:ph type="title"/>
          </p:nvPr>
        </p:nvSpPr>
        <p:spPr>
          <a:xfrm>
            <a:off x="311700" y="2411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Bronze vs. Silver Marketing</a:t>
            </a:r>
            <a:endParaRPr b="1">
              <a:solidFill>
                <a:srgbClr val="D71600"/>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id="430" name="Google Shape;430;p43"/>
          <p:cNvPicPr preferRelativeResize="0"/>
          <p:nvPr/>
        </p:nvPicPr>
        <p:blipFill>
          <a:blip r:embed="rId3">
            <a:alphaModFix/>
          </a:blip>
          <a:stretch>
            <a:fillRect/>
          </a:stretch>
        </p:blipFill>
        <p:spPr>
          <a:xfrm>
            <a:off x="0" y="4649400"/>
            <a:ext cx="790563" cy="494100"/>
          </a:xfrm>
          <a:prstGeom prst="rect">
            <a:avLst/>
          </a:prstGeom>
          <a:noFill/>
          <a:ln>
            <a:noFill/>
          </a:ln>
        </p:spPr>
      </p:pic>
      <p:graphicFrame>
        <p:nvGraphicFramePr>
          <p:cNvPr id="431" name="Google Shape;431;p43"/>
          <p:cNvGraphicFramePr/>
          <p:nvPr/>
        </p:nvGraphicFramePr>
        <p:xfrm>
          <a:off x="1332575" y="974650"/>
          <a:ext cx="3000000" cy="3000000"/>
        </p:xfrm>
        <a:graphic>
          <a:graphicData uri="http://schemas.openxmlformats.org/drawingml/2006/table">
            <a:tbl>
              <a:tblPr>
                <a:noFill/>
                <a:tableStyleId>{8647FC1A-E3AF-48AA-BB5C-ED35490BC3F3}</a:tableStyleId>
              </a:tblPr>
              <a:tblGrid>
                <a:gridCol w="3619500"/>
                <a:gridCol w="3619500"/>
              </a:tblGrid>
              <a:tr h="100000">
                <a:tc>
                  <a:txBody>
                    <a:bodyPr/>
                    <a:lstStyle/>
                    <a:p>
                      <a:pPr indent="0" lvl="0" marL="0" rtl="0" algn="ctr">
                        <a:spcBef>
                          <a:spcPts val="0"/>
                        </a:spcBef>
                        <a:spcAft>
                          <a:spcPts val="0"/>
                        </a:spcAft>
                        <a:buNone/>
                      </a:pPr>
                      <a:r>
                        <a:rPr b="1" lang="en" sz="2000">
                          <a:solidFill>
                            <a:srgbClr val="D71600"/>
                          </a:solidFill>
                          <a:latin typeface="Roboto"/>
                          <a:ea typeface="Roboto"/>
                          <a:cs typeface="Roboto"/>
                          <a:sym typeface="Roboto"/>
                        </a:rPr>
                        <a:t>Bronze</a:t>
                      </a:r>
                      <a:endParaRPr b="1" sz="20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c>
                  <a:txBody>
                    <a:bodyPr/>
                    <a:lstStyle/>
                    <a:p>
                      <a:pPr indent="0" lvl="0" marL="0" rtl="0" algn="ctr">
                        <a:spcBef>
                          <a:spcPts val="0"/>
                        </a:spcBef>
                        <a:spcAft>
                          <a:spcPts val="0"/>
                        </a:spcAft>
                        <a:buNone/>
                      </a:pPr>
                      <a:r>
                        <a:rPr b="1" lang="en" sz="2000">
                          <a:solidFill>
                            <a:srgbClr val="D71600"/>
                          </a:solidFill>
                          <a:latin typeface="Roboto"/>
                          <a:ea typeface="Roboto"/>
                          <a:cs typeface="Roboto"/>
                          <a:sym typeface="Roboto"/>
                        </a:rPr>
                        <a:t>Gold</a:t>
                      </a:r>
                      <a:endParaRPr b="1" sz="20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r>
              <a:tr h="3328000">
                <a:tc>
                  <a:txBody>
                    <a:bodyPr/>
                    <a:lstStyle/>
                    <a:p>
                      <a:pPr indent="0" lvl="0" marL="0" rtl="0" algn="l">
                        <a:lnSpc>
                          <a:spcPct val="115000"/>
                        </a:lnSpc>
                        <a:spcBef>
                          <a:spcPts val="0"/>
                        </a:spcBef>
                        <a:spcAft>
                          <a:spcPts val="0"/>
                        </a:spcAft>
                        <a:buNone/>
                      </a:pPr>
                      <a:r>
                        <a:rPr lang="en" sz="1500">
                          <a:solidFill>
                            <a:srgbClr val="D71600"/>
                          </a:solidFill>
                          <a:latin typeface="Roboto"/>
                          <a:ea typeface="Roboto"/>
                          <a:cs typeface="Roboto"/>
                          <a:sym typeface="Roboto"/>
                        </a:rPr>
                        <a:t>Market Growth: 7.5%</a:t>
                      </a:r>
                      <a:endParaRPr sz="1500">
                        <a:solidFill>
                          <a:srgbClr val="D71600"/>
                        </a:solidFill>
                        <a:latin typeface="Roboto"/>
                        <a:ea typeface="Roboto"/>
                        <a:cs typeface="Roboto"/>
                        <a:sym typeface="Roboto"/>
                      </a:endParaRPr>
                    </a:p>
                    <a:p>
                      <a:pPr indent="-323850" lvl="0" marL="457200" rtl="0" algn="l">
                        <a:lnSpc>
                          <a:spcPct val="115000"/>
                        </a:lnSpc>
                        <a:spcBef>
                          <a:spcPts val="120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Beginning Share: 56.4%</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Peak Share: 81.1%</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End Share: 81.1%</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Trade Sales: $112,064,343</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Gross Profit: $84,287,482</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Present Value: $22,564,613</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Internal Rate of Return: 1%</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1200"/>
                        </a:spcAft>
                        <a:buNone/>
                      </a:pPr>
                      <a:r>
                        <a:rPr lang="en" sz="1500">
                          <a:solidFill>
                            <a:srgbClr val="D71600"/>
                          </a:solidFill>
                          <a:latin typeface="Roboto"/>
                          <a:ea typeface="Roboto"/>
                          <a:cs typeface="Roboto"/>
                          <a:sym typeface="Roboto"/>
                        </a:rPr>
                        <a:t>Payback Period: 0</a:t>
                      </a:r>
                      <a:endParaRPr sz="15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rgbClr val="D71600"/>
                          </a:solidFill>
                          <a:latin typeface="Roboto"/>
                          <a:ea typeface="Roboto"/>
                          <a:cs typeface="Roboto"/>
                          <a:sym typeface="Roboto"/>
                        </a:rPr>
                        <a:t>Market Growth: 7.5%</a:t>
                      </a:r>
                      <a:endParaRPr sz="1500">
                        <a:solidFill>
                          <a:srgbClr val="D71600"/>
                        </a:solidFill>
                        <a:latin typeface="Roboto"/>
                        <a:ea typeface="Roboto"/>
                        <a:cs typeface="Roboto"/>
                        <a:sym typeface="Roboto"/>
                      </a:endParaRPr>
                    </a:p>
                    <a:p>
                      <a:pPr indent="-323850" lvl="0" marL="457200" rtl="0" algn="l">
                        <a:lnSpc>
                          <a:spcPct val="115000"/>
                        </a:lnSpc>
                        <a:spcBef>
                          <a:spcPts val="120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Beginning Share: 56.4%</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Peak Share: 85.8%</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End Share: 85.8%</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Trade Sales: $115,955,944</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Gross Profit: $88,179,083</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Present Value: $23,183,273</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Internal Rate of Return: 1%</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1200"/>
                        </a:spcAft>
                        <a:buNone/>
                      </a:pPr>
                      <a:r>
                        <a:rPr lang="en" sz="1500">
                          <a:solidFill>
                            <a:srgbClr val="D71600"/>
                          </a:solidFill>
                          <a:latin typeface="Roboto"/>
                          <a:ea typeface="Roboto"/>
                          <a:cs typeface="Roboto"/>
                          <a:sym typeface="Roboto"/>
                        </a:rPr>
                        <a:t>Payback Period: 0</a:t>
                      </a:r>
                      <a:endParaRPr sz="15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r>
            </a:tbl>
          </a:graphicData>
        </a:graphic>
      </p:graphicFrame>
      <p:sp>
        <p:nvSpPr>
          <p:cNvPr id="432" name="Google Shape;432;p43"/>
          <p:cNvSpPr txBox="1"/>
          <p:nvPr>
            <p:ph type="title"/>
          </p:nvPr>
        </p:nvSpPr>
        <p:spPr>
          <a:xfrm>
            <a:off x="311700" y="2411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Bronze vs. Gold Marketing</a:t>
            </a:r>
            <a:endParaRPr b="1">
              <a:solidFill>
                <a:srgbClr val="D71600"/>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id="437" name="Google Shape;437;p44"/>
          <p:cNvPicPr preferRelativeResize="0"/>
          <p:nvPr/>
        </p:nvPicPr>
        <p:blipFill>
          <a:blip r:embed="rId3">
            <a:alphaModFix/>
          </a:blip>
          <a:stretch>
            <a:fillRect/>
          </a:stretch>
        </p:blipFill>
        <p:spPr>
          <a:xfrm>
            <a:off x="0" y="4649400"/>
            <a:ext cx="790563" cy="494100"/>
          </a:xfrm>
          <a:prstGeom prst="rect">
            <a:avLst/>
          </a:prstGeom>
          <a:noFill/>
          <a:ln>
            <a:noFill/>
          </a:ln>
        </p:spPr>
      </p:pic>
      <p:graphicFrame>
        <p:nvGraphicFramePr>
          <p:cNvPr id="438" name="Google Shape;438;p44"/>
          <p:cNvGraphicFramePr/>
          <p:nvPr/>
        </p:nvGraphicFramePr>
        <p:xfrm>
          <a:off x="1332575" y="974650"/>
          <a:ext cx="3000000" cy="3000000"/>
        </p:xfrm>
        <a:graphic>
          <a:graphicData uri="http://schemas.openxmlformats.org/drawingml/2006/table">
            <a:tbl>
              <a:tblPr>
                <a:noFill/>
                <a:tableStyleId>{8647FC1A-E3AF-48AA-BB5C-ED35490BC3F3}</a:tableStyleId>
              </a:tblPr>
              <a:tblGrid>
                <a:gridCol w="3619500"/>
                <a:gridCol w="3619500"/>
              </a:tblGrid>
              <a:tr h="100000">
                <a:tc>
                  <a:txBody>
                    <a:bodyPr/>
                    <a:lstStyle/>
                    <a:p>
                      <a:pPr indent="0" lvl="0" marL="0" rtl="0" algn="ctr">
                        <a:spcBef>
                          <a:spcPts val="0"/>
                        </a:spcBef>
                        <a:spcAft>
                          <a:spcPts val="0"/>
                        </a:spcAft>
                        <a:buNone/>
                      </a:pPr>
                      <a:r>
                        <a:rPr b="1" lang="en" sz="2000">
                          <a:solidFill>
                            <a:srgbClr val="D71600"/>
                          </a:solidFill>
                          <a:latin typeface="Roboto"/>
                          <a:ea typeface="Roboto"/>
                          <a:cs typeface="Roboto"/>
                          <a:sym typeface="Roboto"/>
                        </a:rPr>
                        <a:t>Silver</a:t>
                      </a:r>
                      <a:endParaRPr b="1" sz="20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c>
                  <a:txBody>
                    <a:bodyPr/>
                    <a:lstStyle/>
                    <a:p>
                      <a:pPr indent="0" lvl="0" marL="0" rtl="0" algn="ctr">
                        <a:spcBef>
                          <a:spcPts val="0"/>
                        </a:spcBef>
                        <a:spcAft>
                          <a:spcPts val="0"/>
                        </a:spcAft>
                        <a:buNone/>
                      </a:pPr>
                      <a:r>
                        <a:rPr b="1" lang="en" sz="2000">
                          <a:solidFill>
                            <a:srgbClr val="D71600"/>
                          </a:solidFill>
                          <a:latin typeface="Roboto"/>
                          <a:ea typeface="Roboto"/>
                          <a:cs typeface="Roboto"/>
                          <a:sym typeface="Roboto"/>
                        </a:rPr>
                        <a:t>Gold</a:t>
                      </a:r>
                      <a:endParaRPr b="1" sz="20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r>
              <a:tr h="3328000">
                <a:tc>
                  <a:txBody>
                    <a:bodyPr/>
                    <a:lstStyle/>
                    <a:p>
                      <a:pPr indent="0" lvl="0" marL="0" rtl="0" algn="l">
                        <a:lnSpc>
                          <a:spcPct val="115000"/>
                        </a:lnSpc>
                        <a:spcBef>
                          <a:spcPts val="0"/>
                        </a:spcBef>
                        <a:spcAft>
                          <a:spcPts val="0"/>
                        </a:spcAft>
                        <a:buNone/>
                      </a:pPr>
                      <a:r>
                        <a:rPr lang="en" sz="1500">
                          <a:solidFill>
                            <a:srgbClr val="D71600"/>
                          </a:solidFill>
                          <a:latin typeface="Roboto"/>
                          <a:ea typeface="Roboto"/>
                          <a:cs typeface="Roboto"/>
                          <a:sym typeface="Roboto"/>
                        </a:rPr>
                        <a:t>Market Growth: 7.5%</a:t>
                      </a:r>
                      <a:endParaRPr sz="1500">
                        <a:solidFill>
                          <a:srgbClr val="D71600"/>
                        </a:solidFill>
                        <a:latin typeface="Roboto"/>
                        <a:ea typeface="Roboto"/>
                        <a:cs typeface="Roboto"/>
                        <a:sym typeface="Roboto"/>
                      </a:endParaRPr>
                    </a:p>
                    <a:p>
                      <a:pPr indent="-323850" lvl="0" marL="457200" rtl="0" algn="l">
                        <a:lnSpc>
                          <a:spcPct val="115000"/>
                        </a:lnSpc>
                        <a:spcBef>
                          <a:spcPts val="120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Beginning Share: 56.4%</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Peak Share: 84.5%</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End Share: 84.5%</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Trade Sales: $114,851,738</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Gross Profit: $87,074,878</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Present Value: $23,088,766</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Internal Rate of Return: 1%</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1200"/>
                        </a:spcAft>
                        <a:buNone/>
                      </a:pPr>
                      <a:r>
                        <a:rPr lang="en" sz="1500">
                          <a:solidFill>
                            <a:srgbClr val="D71600"/>
                          </a:solidFill>
                          <a:latin typeface="Roboto"/>
                          <a:ea typeface="Roboto"/>
                          <a:cs typeface="Roboto"/>
                          <a:sym typeface="Roboto"/>
                        </a:rPr>
                        <a:t>Payback Period: 0</a:t>
                      </a:r>
                      <a:endParaRPr sz="15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500">
                          <a:solidFill>
                            <a:srgbClr val="D71600"/>
                          </a:solidFill>
                          <a:latin typeface="Roboto"/>
                          <a:ea typeface="Roboto"/>
                          <a:cs typeface="Roboto"/>
                          <a:sym typeface="Roboto"/>
                        </a:rPr>
                        <a:t>Market Growth: 7.5%</a:t>
                      </a:r>
                      <a:endParaRPr sz="1500">
                        <a:solidFill>
                          <a:srgbClr val="D71600"/>
                        </a:solidFill>
                        <a:latin typeface="Roboto"/>
                        <a:ea typeface="Roboto"/>
                        <a:cs typeface="Roboto"/>
                        <a:sym typeface="Roboto"/>
                      </a:endParaRPr>
                    </a:p>
                    <a:p>
                      <a:pPr indent="-323850" lvl="0" marL="457200" rtl="0" algn="l">
                        <a:lnSpc>
                          <a:spcPct val="115000"/>
                        </a:lnSpc>
                        <a:spcBef>
                          <a:spcPts val="120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Beginning Share: 56.4%</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Peak Share: 85.8%</a:t>
                      </a:r>
                      <a:endParaRPr sz="1500">
                        <a:solidFill>
                          <a:srgbClr val="D71600"/>
                        </a:solidFill>
                        <a:latin typeface="Roboto"/>
                        <a:ea typeface="Roboto"/>
                        <a:cs typeface="Roboto"/>
                        <a:sym typeface="Roboto"/>
                      </a:endParaRPr>
                    </a:p>
                    <a:p>
                      <a:pPr indent="-323850" lvl="0" marL="457200" rtl="0" algn="l">
                        <a:lnSpc>
                          <a:spcPct val="115000"/>
                        </a:lnSpc>
                        <a:spcBef>
                          <a:spcPts val="0"/>
                        </a:spcBef>
                        <a:spcAft>
                          <a:spcPts val="0"/>
                        </a:spcAft>
                        <a:buClr>
                          <a:srgbClr val="D71600"/>
                        </a:buClr>
                        <a:buSzPts val="1500"/>
                        <a:buFont typeface="Roboto"/>
                        <a:buChar char="●"/>
                      </a:pPr>
                      <a:r>
                        <a:rPr lang="en" sz="1500">
                          <a:solidFill>
                            <a:srgbClr val="D71600"/>
                          </a:solidFill>
                          <a:latin typeface="Roboto"/>
                          <a:ea typeface="Roboto"/>
                          <a:cs typeface="Roboto"/>
                          <a:sym typeface="Roboto"/>
                        </a:rPr>
                        <a:t>End Share: 85.8%</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Trade Sales: $115,955,944</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Gross Profit: $88,179,083</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Net Present Value: $23,183,273</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0"/>
                        </a:spcAft>
                        <a:buNone/>
                      </a:pPr>
                      <a:r>
                        <a:rPr lang="en" sz="1500">
                          <a:solidFill>
                            <a:srgbClr val="D71600"/>
                          </a:solidFill>
                          <a:latin typeface="Roboto"/>
                          <a:ea typeface="Roboto"/>
                          <a:cs typeface="Roboto"/>
                          <a:sym typeface="Roboto"/>
                        </a:rPr>
                        <a:t>Internal Rate of Return: 1%</a:t>
                      </a:r>
                      <a:endParaRPr sz="1500">
                        <a:solidFill>
                          <a:srgbClr val="D71600"/>
                        </a:solidFill>
                        <a:latin typeface="Roboto"/>
                        <a:ea typeface="Roboto"/>
                        <a:cs typeface="Roboto"/>
                        <a:sym typeface="Roboto"/>
                      </a:endParaRPr>
                    </a:p>
                    <a:p>
                      <a:pPr indent="0" lvl="0" marL="0" rtl="0" algn="l">
                        <a:lnSpc>
                          <a:spcPct val="115000"/>
                        </a:lnSpc>
                        <a:spcBef>
                          <a:spcPts val="1200"/>
                        </a:spcBef>
                        <a:spcAft>
                          <a:spcPts val="1200"/>
                        </a:spcAft>
                        <a:buNone/>
                      </a:pPr>
                      <a:r>
                        <a:rPr lang="en" sz="1500">
                          <a:solidFill>
                            <a:srgbClr val="D71600"/>
                          </a:solidFill>
                          <a:latin typeface="Roboto"/>
                          <a:ea typeface="Roboto"/>
                          <a:cs typeface="Roboto"/>
                          <a:sym typeface="Roboto"/>
                        </a:rPr>
                        <a:t>Payback Period: 0</a:t>
                      </a:r>
                      <a:endParaRPr sz="1500">
                        <a:solidFill>
                          <a:srgbClr val="D71600"/>
                        </a:solidFill>
                        <a:latin typeface="Roboto"/>
                        <a:ea typeface="Roboto"/>
                        <a:cs typeface="Roboto"/>
                        <a:sym typeface="Roboto"/>
                      </a:endParaRPr>
                    </a:p>
                  </a:txBody>
                  <a:tcPr marT="91425" marB="91425" marR="91425" marL="91425">
                    <a:lnL cap="flat" cmpd="sng" w="9525">
                      <a:solidFill>
                        <a:srgbClr val="FFD8D8"/>
                      </a:solidFill>
                      <a:prstDash val="solid"/>
                      <a:round/>
                      <a:headEnd len="sm" w="sm" type="none"/>
                      <a:tailEnd len="sm" w="sm" type="none"/>
                    </a:lnL>
                    <a:lnR cap="flat" cmpd="sng" w="9525">
                      <a:solidFill>
                        <a:srgbClr val="FFD8D8"/>
                      </a:solidFill>
                      <a:prstDash val="solid"/>
                      <a:round/>
                      <a:headEnd len="sm" w="sm" type="none"/>
                      <a:tailEnd len="sm" w="sm" type="none"/>
                    </a:lnR>
                    <a:lnT cap="flat" cmpd="sng" w="9525">
                      <a:solidFill>
                        <a:srgbClr val="FFD8D8"/>
                      </a:solidFill>
                      <a:prstDash val="solid"/>
                      <a:round/>
                      <a:headEnd len="sm" w="sm" type="none"/>
                      <a:tailEnd len="sm" w="sm" type="none"/>
                    </a:lnT>
                    <a:lnB cap="flat" cmpd="sng" w="9525">
                      <a:solidFill>
                        <a:srgbClr val="FFD8D8"/>
                      </a:solidFill>
                      <a:prstDash val="solid"/>
                      <a:round/>
                      <a:headEnd len="sm" w="sm" type="none"/>
                      <a:tailEnd len="sm" w="sm" type="none"/>
                    </a:lnB>
                  </a:tcPr>
                </a:tc>
              </a:tr>
            </a:tbl>
          </a:graphicData>
        </a:graphic>
      </p:graphicFrame>
      <p:sp>
        <p:nvSpPr>
          <p:cNvPr id="439" name="Google Shape;439;p44"/>
          <p:cNvSpPr txBox="1"/>
          <p:nvPr>
            <p:ph type="title"/>
          </p:nvPr>
        </p:nvSpPr>
        <p:spPr>
          <a:xfrm>
            <a:off x="311700" y="2411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Silver</a:t>
            </a:r>
            <a:r>
              <a:rPr b="1" lang="en">
                <a:solidFill>
                  <a:srgbClr val="D71600"/>
                </a:solidFill>
                <a:latin typeface="Roboto"/>
                <a:ea typeface="Roboto"/>
                <a:cs typeface="Roboto"/>
                <a:sym typeface="Roboto"/>
              </a:rPr>
              <a:t> vs. Gold Marketing</a:t>
            </a:r>
            <a:endParaRPr b="1">
              <a:solidFill>
                <a:srgbClr val="D71600"/>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
                <a:solidFill>
                  <a:srgbClr val="D71600"/>
                </a:solidFill>
                <a:latin typeface="Roboto"/>
                <a:ea typeface="Roboto"/>
                <a:cs typeface="Roboto"/>
                <a:sym typeface="Roboto"/>
              </a:rPr>
              <a:t>So Why Gold?</a:t>
            </a:r>
            <a:endParaRPr b="1">
              <a:solidFill>
                <a:srgbClr val="D71600"/>
              </a:solidFill>
              <a:latin typeface="Roboto"/>
              <a:ea typeface="Roboto"/>
              <a:cs typeface="Roboto"/>
              <a:sym typeface="Roboto"/>
            </a:endParaRPr>
          </a:p>
        </p:txBody>
      </p:sp>
      <p:sp>
        <p:nvSpPr>
          <p:cNvPr id="445" name="Google Shape;445;p45"/>
          <p:cNvSpPr txBox="1"/>
          <p:nvPr>
            <p:ph idx="1" type="body"/>
          </p:nvPr>
        </p:nvSpPr>
        <p:spPr>
          <a:xfrm>
            <a:off x="311700" y="1371600"/>
            <a:ext cx="8399700" cy="3197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71600"/>
              </a:buClr>
              <a:buSzPts val="1800"/>
              <a:buFont typeface="Roboto"/>
              <a:buChar char="●"/>
            </a:pPr>
            <a:r>
              <a:rPr lang="en" sz="1800">
                <a:solidFill>
                  <a:srgbClr val="D71600"/>
                </a:solidFill>
                <a:latin typeface="Roboto"/>
                <a:ea typeface="Roboto"/>
                <a:cs typeface="Roboto"/>
                <a:sym typeface="Roboto"/>
              </a:rPr>
              <a:t>Patients First → reaches more &amp; with high quality of care</a:t>
            </a:r>
            <a:endParaRPr sz="1800">
              <a:solidFill>
                <a:srgbClr val="D71600"/>
              </a:solidFill>
              <a:latin typeface="Roboto"/>
              <a:ea typeface="Roboto"/>
              <a:cs typeface="Roboto"/>
              <a:sym typeface="Roboto"/>
            </a:endParaRPr>
          </a:p>
          <a:p>
            <a:pPr indent="-342900" lvl="0" marL="457200" rtl="0" algn="l">
              <a:spcBef>
                <a:spcPts val="1000"/>
              </a:spcBef>
              <a:spcAft>
                <a:spcPts val="0"/>
              </a:spcAft>
              <a:buClr>
                <a:srgbClr val="D71600"/>
              </a:buClr>
              <a:buSzPts val="1800"/>
              <a:buFont typeface="Roboto"/>
              <a:buChar char="●"/>
            </a:pPr>
            <a:r>
              <a:rPr lang="en" sz="1800">
                <a:solidFill>
                  <a:srgbClr val="D71600"/>
                </a:solidFill>
                <a:latin typeface="Roboto"/>
                <a:ea typeface="Roboto"/>
                <a:cs typeface="Roboto"/>
                <a:sym typeface="Roboto"/>
              </a:rPr>
              <a:t>Value → encourages investment while keeping prices justifiable</a:t>
            </a:r>
            <a:endParaRPr sz="1800">
              <a:solidFill>
                <a:srgbClr val="D71600"/>
              </a:solidFill>
              <a:latin typeface="Roboto"/>
              <a:ea typeface="Roboto"/>
              <a:cs typeface="Roboto"/>
              <a:sym typeface="Roboto"/>
            </a:endParaRPr>
          </a:p>
          <a:p>
            <a:pPr indent="-342900" lvl="0" marL="457200" rtl="0" algn="l">
              <a:spcBef>
                <a:spcPts val="1000"/>
              </a:spcBef>
              <a:spcAft>
                <a:spcPts val="0"/>
              </a:spcAft>
              <a:buClr>
                <a:srgbClr val="D71600"/>
              </a:buClr>
              <a:buSzPts val="1800"/>
              <a:buFont typeface="Roboto"/>
              <a:buChar char="●"/>
            </a:pPr>
            <a:r>
              <a:rPr lang="en" sz="1800">
                <a:solidFill>
                  <a:srgbClr val="D71600"/>
                </a:solidFill>
                <a:latin typeface="Roboto"/>
                <a:ea typeface="Roboto"/>
                <a:cs typeface="Roboto"/>
                <a:sym typeface="Roboto"/>
              </a:rPr>
              <a:t>Partners → a realistic model that allows partners to thrive with us</a:t>
            </a:r>
            <a:endParaRPr sz="1800">
              <a:solidFill>
                <a:srgbClr val="D71600"/>
              </a:solidFill>
              <a:latin typeface="Roboto"/>
              <a:ea typeface="Roboto"/>
              <a:cs typeface="Roboto"/>
              <a:sym typeface="Roboto"/>
            </a:endParaRPr>
          </a:p>
          <a:p>
            <a:pPr indent="-342900" lvl="0" marL="457200" rtl="0" algn="l">
              <a:spcBef>
                <a:spcPts val="1000"/>
              </a:spcBef>
              <a:spcAft>
                <a:spcPts val="0"/>
              </a:spcAft>
              <a:buClr>
                <a:srgbClr val="D71600"/>
              </a:buClr>
              <a:buSzPts val="1800"/>
              <a:buFont typeface="Roboto"/>
              <a:buChar char="●"/>
            </a:pPr>
            <a:r>
              <a:rPr lang="en" sz="1800">
                <a:solidFill>
                  <a:srgbClr val="D71600"/>
                </a:solidFill>
                <a:latin typeface="Roboto"/>
                <a:ea typeface="Roboto"/>
                <a:cs typeface="Roboto"/>
                <a:sym typeface="Roboto"/>
              </a:rPr>
              <a:t>Employees → room to invest in talent, development, &amp; strong environment</a:t>
            </a:r>
            <a:endParaRPr sz="1800">
              <a:solidFill>
                <a:srgbClr val="D71600"/>
              </a:solidFill>
              <a:latin typeface="Roboto"/>
              <a:ea typeface="Roboto"/>
              <a:cs typeface="Roboto"/>
              <a:sym typeface="Roboto"/>
            </a:endParaRPr>
          </a:p>
          <a:p>
            <a:pPr indent="-342900" lvl="0" marL="457200" rtl="0" algn="l">
              <a:spcBef>
                <a:spcPts val="1000"/>
              </a:spcBef>
              <a:spcAft>
                <a:spcPts val="0"/>
              </a:spcAft>
              <a:buClr>
                <a:srgbClr val="D71600"/>
              </a:buClr>
              <a:buSzPts val="1800"/>
              <a:buFont typeface="Roboto"/>
              <a:buChar char="●"/>
            </a:pPr>
            <a:r>
              <a:rPr lang="en" sz="1800">
                <a:solidFill>
                  <a:srgbClr val="D71600"/>
                </a:solidFill>
                <a:latin typeface="Roboto"/>
                <a:ea typeface="Roboto"/>
                <a:cs typeface="Roboto"/>
                <a:sym typeface="Roboto"/>
              </a:rPr>
              <a:t>Communities → expands access to care</a:t>
            </a:r>
            <a:endParaRPr sz="1800">
              <a:solidFill>
                <a:srgbClr val="D71600"/>
              </a:solidFill>
              <a:latin typeface="Roboto"/>
              <a:ea typeface="Roboto"/>
              <a:cs typeface="Roboto"/>
              <a:sym typeface="Roboto"/>
            </a:endParaRPr>
          </a:p>
          <a:p>
            <a:pPr indent="-342900" lvl="0" marL="457200" rtl="0" algn="l">
              <a:spcBef>
                <a:spcPts val="1000"/>
              </a:spcBef>
              <a:spcAft>
                <a:spcPts val="1000"/>
              </a:spcAft>
              <a:buClr>
                <a:srgbClr val="D71600"/>
              </a:buClr>
              <a:buSzPts val="1800"/>
              <a:buFont typeface="Roboto"/>
              <a:buChar char="●"/>
            </a:pPr>
            <a:r>
              <a:rPr lang="en" sz="1800">
                <a:solidFill>
                  <a:srgbClr val="D71600"/>
                </a:solidFill>
                <a:latin typeface="Roboto"/>
                <a:ea typeface="Roboto"/>
                <a:cs typeface="Roboto"/>
                <a:sym typeface="Roboto"/>
              </a:rPr>
              <a:t>Shareholders Last → once all </a:t>
            </a:r>
            <a:r>
              <a:rPr lang="en" sz="1800">
                <a:solidFill>
                  <a:srgbClr val="D71600"/>
                </a:solidFill>
                <a:latin typeface="Roboto"/>
                <a:ea typeface="Roboto"/>
                <a:cs typeface="Roboto"/>
                <a:sym typeface="Roboto"/>
              </a:rPr>
              <a:t>responsibilities</a:t>
            </a:r>
            <a:r>
              <a:rPr lang="en" sz="1800">
                <a:solidFill>
                  <a:srgbClr val="D71600"/>
                </a:solidFill>
                <a:latin typeface="Roboto"/>
                <a:ea typeface="Roboto"/>
                <a:cs typeface="Roboto"/>
                <a:sym typeface="Roboto"/>
              </a:rPr>
              <a:t> met, long-term success</a:t>
            </a:r>
            <a:endParaRPr sz="1800">
              <a:solidFill>
                <a:srgbClr val="D71600"/>
              </a:solidFill>
              <a:latin typeface="Roboto"/>
              <a:ea typeface="Roboto"/>
              <a:cs typeface="Roboto"/>
              <a:sym typeface="Roboto"/>
            </a:endParaRPr>
          </a:p>
        </p:txBody>
      </p:sp>
      <p:pic>
        <p:nvPicPr>
          <p:cNvPr id="446" name="Google Shape;446;p45"/>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6"/>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latin typeface="Roboto"/>
                <a:ea typeface="Roboto"/>
                <a:cs typeface="Roboto"/>
                <a:sym typeface="Roboto"/>
              </a:rPr>
              <a:t>Thank You!</a:t>
            </a:r>
            <a:endParaRPr b="1">
              <a:latin typeface="Roboto"/>
              <a:ea typeface="Roboto"/>
              <a:cs typeface="Roboto"/>
              <a:sym typeface="Roboto"/>
            </a:endParaRPr>
          </a:p>
        </p:txBody>
      </p:sp>
      <p:pic>
        <p:nvPicPr>
          <p:cNvPr id="452" name="Google Shape;452;p46"/>
          <p:cNvPicPr preferRelativeResize="0"/>
          <p:nvPr/>
        </p:nvPicPr>
        <p:blipFill>
          <a:blip r:embed="rId3">
            <a:alphaModFix/>
          </a:blip>
          <a:stretch>
            <a:fillRect/>
          </a:stretch>
        </p:blipFill>
        <p:spPr>
          <a:xfrm>
            <a:off x="0" y="4649400"/>
            <a:ext cx="790563" cy="494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7"/>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Sources</a:t>
            </a:r>
            <a:endParaRPr/>
          </a:p>
        </p:txBody>
      </p:sp>
      <p:sp>
        <p:nvSpPr>
          <p:cNvPr id="458" name="Google Shape;458;p47"/>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000000"/>
              </a:buClr>
              <a:buSzPts val="1200"/>
              <a:buFont typeface="Times New Roman"/>
              <a:buChar char="●"/>
            </a:pPr>
            <a:r>
              <a:rPr lang="en" sz="1200" u="sng">
                <a:solidFill>
                  <a:srgbClr val="1155CC"/>
                </a:solidFill>
                <a:latin typeface="Times New Roman"/>
                <a:ea typeface="Times New Roman"/>
                <a:cs typeface="Times New Roman"/>
                <a:sym typeface="Times New Roman"/>
                <a:hlinkClick r:id="rId3">
                  <a:extLst>
                    <a:ext uri="{A12FA001-AC4F-418D-AE19-62706E023703}">
                      <ahyp:hlinkClr val="tx"/>
                    </a:ext>
                  </a:extLst>
                </a:hlinkClick>
              </a:rPr>
              <a:t>Surgical Suture Market Report: Trends, Forecast and Competitive Analysis to 2031</a:t>
            </a:r>
            <a:endParaRPr sz="1200">
              <a:latin typeface="Times New Roman"/>
              <a:ea typeface="Times New Roman"/>
              <a:cs typeface="Times New Roman"/>
              <a:sym typeface="Times New Roman"/>
            </a:endParaRPr>
          </a:p>
          <a:p>
            <a:pPr indent="-304800" lvl="0" marL="457200" rtl="0" algn="l">
              <a:spcBef>
                <a:spcPts val="0"/>
              </a:spcBef>
              <a:spcAft>
                <a:spcPts val="0"/>
              </a:spcAft>
              <a:buSzPts val="1200"/>
              <a:buFont typeface="Times New Roman"/>
              <a:buChar char="●"/>
            </a:pPr>
            <a:r>
              <a:rPr lang="en" sz="1200" u="sng">
                <a:solidFill>
                  <a:srgbClr val="1155CC"/>
                </a:solidFill>
                <a:latin typeface="Times New Roman"/>
                <a:ea typeface="Times New Roman"/>
                <a:cs typeface="Times New Roman"/>
                <a:sym typeface="Times New Roman"/>
                <a:hlinkClick r:id="rId4">
                  <a:extLst>
                    <a:ext uri="{A12FA001-AC4F-418D-AE19-62706E023703}">
                      <ahyp:hlinkClr val="tx"/>
                    </a:ext>
                  </a:extLst>
                </a:hlinkClick>
              </a:rPr>
              <a:t>First Mover Advantage - Benefits and Drawbacks of Being First</a:t>
            </a:r>
            <a:r>
              <a:rPr lang="en"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Surgical Sutures Market Size &amp; Growth to 2035</a:t>
            </a:r>
            <a:r>
              <a:rPr lang="en"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u="sng">
                <a:solidFill>
                  <a:srgbClr val="1155CC"/>
                </a:solidFill>
                <a:latin typeface="Times New Roman"/>
                <a:ea typeface="Times New Roman"/>
                <a:cs typeface="Times New Roman"/>
                <a:sym typeface="Times New Roman"/>
                <a:hlinkClick r:id="rId6">
                  <a:extLst>
                    <a:ext uri="{A12FA001-AC4F-418D-AE19-62706E023703}">
                      <ahyp:hlinkClr val="tx"/>
                    </a:ext>
                  </a:extLst>
                </a:hlinkClick>
              </a:rPr>
              <a:t>Surgical Sutures Market Size &amp; Growth Forecast to 2030</a:t>
            </a:r>
            <a:r>
              <a:rPr lang="en"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u="sng">
                <a:solidFill>
                  <a:srgbClr val="1155CC"/>
                </a:solidFill>
                <a:latin typeface="Times New Roman"/>
                <a:ea typeface="Times New Roman"/>
                <a:cs typeface="Times New Roman"/>
                <a:sym typeface="Times New Roman"/>
                <a:hlinkClick r:id="rId7">
                  <a:extLst>
                    <a:ext uri="{A12FA001-AC4F-418D-AE19-62706E023703}">
                      <ahyp:hlinkClr val="tx"/>
                    </a:ext>
                  </a:extLst>
                </a:hlinkClick>
              </a:rPr>
              <a:t>Negative Pressure Wound Therapy</a:t>
            </a:r>
            <a:r>
              <a:rPr lang="en"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u="sng">
                <a:solidFill>
                  <a:srgbClr val="1155CC"/>
                </a:solidFill>
                <a:latin typeface="Times New Roman"/>
                <a:ea typeface="Times New Roman"/>
                <a:cs typeface="Times New Roman"/>
                <a:sym typeface="Times New Roman"/>
                <a:hlinkClick r:id="rId8">
                  <a:extLst>
                    <a:ext uri="{A12FA001-AC4F-418D-AE19-62706E023703}">
                      <ahyp:hlinkClr val="tx"/>
                    </a:ext>
                  </a:extLst>
                </a:hlinkClick>
              </a:rPr>
              <a:t>Global Surgical Sutures Market Size, Trends, Share 2030</a:t>
            </a:r>
            <a:endParaRPr sz="12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u="sng">
                <a:solidFill>
                  <a:srgbClr val="1155CC"/>
                </a:solidFill>
                <a:latin typeface="Times New Roman"/>
                <a:ea typeface="Times New Roman"/>
                <a:cs typeface="Times New Roman"/>
                <a:sym typeface="Times New Roman"/>
                <a:hlinkClick r:id="rId9">
                  <a:extLst>
                    <a:ext uri="{A12FA001-AC4F-418D-AE19-62706E023703}">
                      <ahyp:hlinkClr val="tx"/>
                    </a:ext>
                  </a:extLst>
                </a:hlinkClick>
              </a:rPr>
              <a:t>Wound Closure Devices Market Size | Industry Report, 2030</a:t>
            </a:r>
            <a:r>
              <a:rPr lang="en"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u="sng">
                <a:solidFill>
                  <a:srgbClr val="1155CC"/>
                </a:solidFill>
                <a:latin typeface="Times New Roman"/>
                <a:ea typeface="Times New Roman"/>
                <a:cs typeface="Times New Roman"/>
                <a:sym typeface="Times New Roman"/>
                <a:hlinkClick r:id="rId10">
                  <a:extLst>
                    <a:ext uri="{A12FA001-AC4F-418D-AE19-62706E023703}">
                      <ahyp:hlinkClr val="tx"/>
                    </a:ext>
                  </a:extLst>
                </a:hlinkClick>
              </a:rPr>
              <a:t>Quality Control (QC): What It Is, How It Works, and QC Careers</a:t>
            </a:r>
            <a:r>
              <a:rPr lang="en"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u="sng">
                <a:solidFill>
                  <a:srgbClr val="1155CC"/>
                </a:solidFill>
                <a:latin typeface="Times New Roman"/>
                <a:ea typeface="Times New Roman"/>
                <a:cs typeface="Times New Roman"/>
                <a:sym typeface="Times New Roman"/>
                <a:hlinkClick r:id="rId11">
                  <a:extLst>
                    <a:ext uri="{A12FA001-AC4F-418D-AE19-62706E023703}">
                      <ahyp:hlinkClr val="tx"/>
                    </a:ext>
                  </a:extLst>
                </a:hlinkClick>
              </a:rPr>
              <a:t>Global Surgical Sutures Market Size, Trends, Share 2030</a:t>
            </a:r>
            <a:r>
              <a:rPr lang="en"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u="sng">
                <a:solidFill>
                  <a:srgbClr val="1155CC"/>
                </a:solidFill>
                <a:latin typeface="Times New Roman"/>
                <a:ea typeface="Times New Roman"/>
                <a:cs typeface="Times New Roman"/>
                <a:sym typeface="Times New Roman"/>
                <a:hlinkClick r:id="rId12">
                  <a:extLst>
                    <a:ext uri="{A12FA001-AC4F-418D-AE19-62706E023703}">
                      <ahyp:hlinkClr val="tx"/>
                    </a:ext>
                  </a:extLst>
                </a:hlinkClick>
              </a:rPr>
              <a:t>Profit Margin: Definition, Types, Uses in Business and Investing</a:t>
            </a:r>
            <a:r>
              <a:rPr lang="en"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u="sng">
                <a:solidFill>
                  <a:srgbClr val="1155CC"/>
                </a:solidFill>
                <a:latin typeface="Times New Roman"/>
                <a:ea typeface="Times New Roman"/>
                <a:cs typeface="Times New Roman"/>
                <a:sym typeface="Times New Roman"/>
                <a:hlinkClick r:id="rId13">
                  <a:extLst>
                    <a:ext uri="{A12FA001-AC4F-418D-AE19-62706E023703}">
                      <ahyp:hlinkClr val="tx"/>
                    </a:ext>
                  </a:extLst>
                </a:hlinkClick>
              </a:rPr>
              <a:t>Wound Closure Devices Market Size | Industry Report, 2030</a:t>
            </a:r>
            <a:r>
              <a:rPr lang="en" sz="1200">
                <a:solidFill>
                  <a:srgbClr val="000000"/>
                </a:solidFill>
                <a:latin typeface="Times New Roman"/>
                <a:ea typeface="Times New Roman"/>
                <a:cs typeface="Times New Roman"/>
                <a:sym typeface="Times New Roman"/>
              </a:rPr>
              <a:t> </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